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Calibri (MS) Bold" charset="1" panose="020F0702030404030204"/>
      <p:regular r:id="rId22"/>
    </p:embeddedFont>
    <p:embeddedFont>
      <p:font typeface="Georgia Bold" charset="1" panose="02040802050405020203"/>
      <p:regular r:id="rId23"/>
    </p:embeddedFont>
    <p:embeddedFont>
      <p:font typeface="Calibri (MS)" charset="1" panose="020F0502020204030204"/>
      <p:regular r:id="rId24"/>
    </p:embeddedFont>
    <p:embeddedFont>
      <p:font typeface="Calibri (MS) Italics" charset="1" panose="020F05020202040A0204"/>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notesMasters/notesMaster1.xml" Type="http://schemas.openxmlformats.org/officeDocument/2006/relationships/notesMaster"/><Relationship Id="rId2" Target="presProps.xml" Type="http://schemas.openxmlformats.org/officeDocument/2006/relationships/presProps"/><Relationship Id="rId20" Target="theme/theme2.xml" Type="http://schemas.openxmlformats.org/officeDocument/2006/relationships/theme"/><Relationship Id="rId21" Target="notesSlides/notesSlide1.xml" Type="http://schemas.openxmlformats.org/officeDocument/2006/relationships/note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notesSlides/notesSlide2.xml" Type="http://schemas.openxmlformats.org/officeDocument/2006/relationships/notesSlide"/><Relationship Id="rId26" Target="fonts/font26.fntdata" Type="http://schemas.openxmlformats.org/officeDocument/2006/relationships/font"/><Relationship Id="rId27" Target="notesSlides/notesSlide3.xml" Type="http://schemas.openxmlformats.org/officeDocument/2006/relationships/notesSlide"/><Relationship Id="rId28" Target="notesSlides/notesSlide4.xml" Type="http://schemas.openxmlformats.org/officeDocument/2006/relationships/notesSlide"/><Relationship Id="rId29" Target="notesSlides/notesSlide5.xml" Type="http://schemas.openxmlformats.org/officeDocument/2006/relationships/notesSlide"/><Relationship Id="rId3" Target="viewProps.xml" Type="http://schemas.openxmlformats.org/officeDocument/2006/relationships/viewProps"/><Relationship Id="rId30" Target="notesSlides/notesSlide6.xml" Type="http://schemas.openxmlformats.org/officeDocument/2006/relationships/notesSlide"/><Relationship Id="rId31" Target="notesSlides/notesSlide7.xml" Type="http://schemas.openxmlformats.org/officeDocument/2006/relationships/notesSlide"/><Relationship Id="rId32" Target="notesSlides/notesSlide8.xml" Type="http://schemas.openxmlformats.org/officeDocument/2006/relationships/notesSlide"/><Relationship Id="rId33" Target="notesSlides/notesSlide9.xml" Type="http://schemas.openxmlformats.org/officeDocument/2006/relationships/notesSlide"/><Relationship Id="rId34" Target="notesSlides/notesSlide10.xml" Type="http://schemas.openxmlformats.org/officeDocument/2006/relationships/notesSlide"/><Relationship Id="rId35" Target="notesSlides/notesSlide11.xml" Type="http://schemas.openxmlformats.org/officeDocument/2006/relationships/notesSlide"/><Relationship Id="rId36" Target="notesSlides/notesSlide12.xml" Type="http://schemas.openxmlformats.org/officeDocument/2006/relationships/notesSlide"/><Relationship Id="rId37" Target="notesSlides/notesSlide13.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embeddings/oleObject1.bin" Type="http://schemas.openxmlformats.org/officeDocument/2006/relationships/oleObject"/><Relationship Id="rId6" Target="../media/image3.png" Type="http://schemas.openxmlformats.org/officeDocument/2006/relationships/image"/><Relationship Id="rId7" Target="../embeddings/oleObject2.bin" Type="http://schemas.openxmlformats.org/officeDocument/2006/relationships/oleObjec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4.png" Type="http://schemas.openxmlformats.org/officeDocument/2006/relationships/image"/><Relationship Id="rId5" Target="../embeddings/oleObject3.bin" Type="http://schemas.openxmlformats.org/officeDocument/2006/relationships/oleObjec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 Id="rId4" Target="../media/image5.png" Type="http://schemas.openxmlformats.org/officeDocument/2006/relationships/image"/><Relationship Id="rId5" Target="../embeddings/oleObject4.bin" Type="http://schemas.openxmlformats.org/officeDocument/2006/relationships/oleObject"/><Relationship Id="rId6" Target="../media/image6.png" Type="http://schemas.openxmlformats.org/officeDocument/2006/relationships/image"/><Relationship Id="rId7" Target="../embeddings/oleObject5.bin" Type="http://schemas.openxmlformats.org/officeDocument/2006/relationships/oleObjec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media/image7.png" Type="http://schemas.openxmlformats.org/officeDocument/2006/relationships/image"/><Relationship Id="rId5" Target="../embeddings/oleObject6.bin" Type="http://schemas.openxmlformats.org/officeDocument/2006/relationships/oleObjec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 Id="rId4" Target="../media/image8.png" Type="http://schemas.openxmlformats.org/officeDocument/2006/relationships/image"/><Relationship Id="rId5" Target="../embeddings/oleObject7.bin" Type="http://schemas.openxmlformats.org/officeDocument/2006/relationships/oleObject"/><Relationship Id="rId6"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 Id="rId4" Target="../media/image10.png" Type="http://schemas.openxmlformats.org/officeDocument/2006/relationships/image"/><Relationship Id="rId5" Target="../embeddings/oleObject8.bin" Type="http://schemas.openxmlformats.org/officeDocument/2006/relationships/oleObject"/><Relationship Id="rId6" Target="../media/image11.png" Type="http://schemas.openxmlformats.org/officeDocument/2006/relationships/image"/><Relationship Id="rId7" Target="../embeddings/oleObject9.bin" Type="http://schemas.openxmlformats.org/officeDocument/2006/relationships/oleObjec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6213E"/>
        </a:solidFill>
      </p:bgPr>
    </p:bg>
    <p:spTree>
      <p:nvGrpSpPr>
        <p:cNvPr id="1" name=""/>
        <p:cNvGrpSpPr/>
        <p:nvPr/>
      </p:nvGrpSpPr>
      <p:grpSpPr>
        <a:xfrm>
          <a:off x="0" y="0"/>
          <a:ext cx="0" cy="0"/>
          <a:chOff x="0" y="0"/>
          <a:chExt cx="0" cy="0"/>
        </a:xfrm>
      </p:grpSpPr>
      <p:grpSp>
        <p:nvGrpSpPr>
          <p:cNvPr name="Group 2" id="2"/>
          <p:cNvGrpSpPr/>
          <p:nvPr/>
        </p:nvGrpSpPr>
        <p:grpSpPr>
          <a:xfrm rot="0">
            <a:off x="13167360" y="-3566160"/>
            <a:ext cx="9601200" cy="9601200"/>
            <a:chOff x="0" y="0"/>
            <a:chExt cx="12801600" cy="12801600"/>
          </a:xfrm>
        </p:grpSpPr>
        <p:sp>
          <p:nvSpPr>
            <p:cNvPr name="Freeform 3" id="3"/>
            <p:cNvSpPr/>
            <p:nvPr/>
          </p:nvSpPr>
          <p:spPr>
            <a:xfrm flipH="false" flipV="false" rot="0">
              <a:off x="0" y="0"/>
              <a:ext cx="12801600" cy="12801600"/>
            </a:xfrm>
            <a:custGeom>
              <a:avLst/>
              <a:gdLst/>
              <a:ahLst/>
              <a:cxnLst/>
              <a:rect r="r" b="b" t="t" l="l"/>
              <a:pathLst>
                <a:path h="12801600" w="12801600">
                  <a:moveTo>
                    <a:pt x="0" y="6400800"/>
                  </a:moveTo>
                  <a:cubicBezTo>
                    <a:pt x="0" y="2865755"/>
                    <a:pt x="2865755" y="0"/>
                    <a:pt x="6400800" y="0"/>
                  </a:cubicBezTo>
                  <a:cubicBezTo>
                    <a:pt x="9935845" y="0"/>
                    <a:pt x="12801600" y="2865755"/>
                    <a:pt x="12801600" y="6400800"/>
                  </a:cubicBezTo>
                  <a:cubicBezTo>
                    <a:pt x="12801600" y="9935845"/>
                    <a:pt x="9935845" y="12801600"/>
                    <a:pt x="6400800" y="12801600"/>
                  </a:cubicBezTo>
                  <a:cubicBezTo>
                    <a:pt x="2865755" y="12801600"/>
                    <a:pt x="0" y="9935845"/>
                    <a:pt x="0" y="6400800"/>
                  </a:cubicBezTo>
                  <a:close/>
                </a:path>
              </a:pathLst>
            </a:custGeom>
            <a:solidFill>
              <a:srgbClr val="0E1526"/>
            </a:solidFill>
          </p:spPr>
        </p:sp>
      </p:grpSp>
      <p:grpSp>
        <p:nvGrpSpPr>
          <p:cNvPr name="Group 4" id="4"/>
          <p:cNvGrpSpPr/>
          <p:nvPr/>
        </p:nvGrpSpPr>
        <p:grpSpPr>
          <a:xfrm rot="0">
            <a:off x="14938534" y="-1794986"/>
            <a:ext cx="5784532" cy="5784532"/>
            <a:chOff x="0" y="0"/>
            <a:chExt cx="7712710" cy="7712710"/>
          </a:xfrm>
        </p:grpSpPr>
        <p:sp>
          <p:nvSpPr>
            <p:cNvPr name="Freeform 5" id="5"/>
            <p:cNvSpPr/>
            <p:nvPr/>
          </p:nvSpPr>
          <p:spPr>
            <a:xfrm flipH="false" flipV="false" rot="0">
              <a:off x="0" y="0"/>
              <a:ext cx="7712710" cy="7712710"/>
            </a:xfrm>
            <a:custGeom>
              <a:avLst/>
              <a:gdLst/>
              <a:ahLst/>
              <a:cxnLst/>
              <a:rect r="r" b="b" t="t" l="l"/>
              <a:pathLst>
                <a:path h="7712710" w="7712710">
                  <a:moveTo>
                    <a:pt x="0" y="3856355"/>
                  </a:moveTo>
                  <a:cubicBezTo>
                    <a:pt x="0" y="1726565"/>
                    <a:pt x="1726565" y="0"/>
                    <a:pt x="3856355" y="0"/>
                  </a:cubicBezTo>
                  <a:cubicBezTo>
                    <a:pt x="5986145" y="0"/>
                    <a:pt x="7712710" y="1726565"/>
                    <a:pt x="7712710" y="3856355"/>
                  </a:cubicBezTo>
                  <a:cubicBezTo>
                    <a:pt x="7712710" y="5986145"/>
                    <a:pt x="5986145" y="7712710"/>
                    <a:pt x="3856355" y="7712710"/>
                  </a:cubicBezTo>
                  <a:cubicBezTo>
                    <a:pt x="1726565" y="7712710"/>
                    <a:pt x="0" y="5986145"/>
                    <a:pt x="0" y="3856355"/>
                  </a:cubicBezTo>
                  <a:close/>
                </a:path>
              </a:pathLst>
            </a:custGeom>
            <a:blipFill>
              <a:blip r:embed="rId3">
                <a:alphaModFix amt="0"/>
              </a:blip>
              <a:stretch>
                <a:fillRect l="-78303" t="0" r="-78303" b="0"/>
              </a:stretch>
            </a:blipFill>
            <a:ln w="23812" cap="sq">
              <a:solidFill>
                <a:srgbClr val="0F8B8D"/>
              </a:solidFill>
              <a:prstDash val="solid"/>
              <a:miter/>
            </a:ln>
          </p:spPr>
        </p:sp>
      </p:grpSp>
      <p:grpSp>
        <p:nvGrpSpPr>
          <p:cNvPr name="Group 6" id="6"/>
          <p:cNvGrpSpPr/>
          <p:nvPr/>
        </p:nvGrpSpPr>
        <p:grpSpPr>
          <a:xfrm rot="0">
            <a:off x="-2206466" y="7120414"/>
            <a:ext cx="4961572" cy="4961572"/>
            <a:chOff x="0" y="0"/>
            <a:chExt cx="6615430" cy="6615430"/>
          </a:xfrm>
        </p:grpSpPr>
        <p:sp>
          <p:nvSpPr>
            <p:cNvPr name="Freeform 7" id="7"/>
            <p:cNvSpPr/>
            <p:nvPr/>
          </p:nvSpPr>
          <p:spPr>
            <a:xfrm flipH="false" flipV="false" rot="0">
              <a:off x="0" y="0"/>
              <a:ext cx="6615430" cy="6615430"/>
            </a:xfrm>
            <a:custGeom>
              <a:avLst/>
              <a:gdLst/>
              <a:ahLst/>
              <a:cxnLst/>
              <a:rect r="r" b="b" t="t" l="l"/>
              <a:pathLst>
                <a:path h="6615430" w="6615430">
                  <a:moveTo>
                    <a:pt x="0" y="3307715"/>
                  </a:moveTo>
                  <a:cubicBezTo>
                    <a:pt x="0" y="1480947"/>
                    <a:pt x="1480947" y="0"/>
                    <a:pt x="3307715" y="0"/>
                  </a:cubicBezTo>
                  <a:cubicBezTo>
                    <a:pt x="5134483" y="0"/>
                    <a:pt x="6615430" y="1480947"/>
                    <a:pt x="6615430" y="3307715"/>
                  </a:cubicBezTo>
                  <a:cubicBezTo>
                    <a:pt x="6615430" y="5134483"/>
                    <a:pt x="5134483" y="6615430"/>
                    <a:pt x="3307715" y="6615430"/>
                  </a:cubicBezTo>
                  <a:cubicBezTo>
                    <a:pt x="1480947" y="6615430"/>
                    <a:pt x="0" y="5134483"/>
                    <a:pt x="0" y="3307715"/>
                  </a:cubicBezTo>
                  <a:close/>
                </a:path>
              </a:pathLst>
            </a:custGeom>
            <a:blipFill>
              <a:blip r:embed="rId3">
                <a:alphaModFix amt="0"/>
              </a:blip>
              <a:stretch>
                <a:fillRect l="-78303" t="0" r="-78303" b="0"/>
              </a:stretch>
            </a:blipFill>
            <a:ln w="23812" cap="sq">
              <a:solidFill>
                <a:srgbClr val="E8A33D"/>
              </a:solidFill>
              <a:prstDash val="solid"/>
              <a:miter/>
            </a:ln>
          </p:spPr>
        </p:sp>
      </p:grpSp>
      <p:grpSp>
        <p:nvGrpSpPr>
          <p:cNvPr name="Group 8" id="8"/>
          <p:cNvGrpSpPr/>
          <p:nvPr/>
        </p:nvGrpSpPr>
        <p:grpSpPr>
          <a:xfrm rot="0">
            <a:off x="1097280" y="2331720"/>
            <a:ext cx="12344400" cy="506713"/>
            <a:chOff x="0" y="0"/>
            <a:chExt cx="16459200" cy="675617"/>
          </a:xfrm>
        </p:grpSpPr>
        <p:sp>
          <p:nvSpPr>
            <p:cNvPr name="Freeform 9" id="9"/>
            <p:cNvSpPr/>
            <p:nvPr/>
          </p:nvSpPr>
          <p:spPr>
            <a:xfrm flipH="false" flipV="false" rot="0">
              <a:off x="0" y="0"/>
              <a:ext cx="16459200" cy="675617"/>
            </a:xfrm>
            <a:custGeom>
              <a:avLst/>
              <a:gdLst/>
              <a:ahLst/>
              <a:cxnLst/>
              <a:rect r="r" b="b" t="t" l="l"/>
              <a:pathLst>
                <a:path h="675617" w="16459200">
                  <a:moveTo>
                    <a:pt x="0" y="0"/>
                  </a:moveTo>
                  <a:lnTo>
                    <a:pt x="16459200" y="0"/>
                  </a:lnTo>
                  <a:lnTo>
                    <a:pt x="16459200" y="675617"/>
                  </a:lnTo>
                  <a:lnTo>
                    <a:pt x="0" y="675617"/>
                  </a:lnTo>
                  <a:close/>
                </a:path>
              </a:pathLst>
            </a:custGeom>
            <a:blipFill>
              <a:blip r:embed="rId3">
                <a:alphaModFix amt="0"/>
              </a:blip>
              <a:stretch>
                <a:fillRect l="0" t="-427319" r="0" b="-422059"/>
              </a:stretch>
            </a:blipFill>
          </p:spPr>
        </p:sp>
        <p:sp>
          <p:nvSpPr>
            <p:cNvPr name="TextBox 10" id="10"/>
            <p:cNvSpPr txBox="true"/>
            <p:nvPr/>
          </p:nvSpPr>
          <p:spPr>
            <a:xfrm>
              <a:off x="0" y="-47625"/>
              <a:ext cx="16459200" cy="723242"/>
            </a:xfrm>
            <a:prstGeom prst="rect">
              <a:avLst/>
            </a:prstGeom>
          </p:spPr>
          <p:txBody>
            <a:bodyPr anchor="ctr" rtlCol="false" tIns="0" lIns="0" bIns="0" rIns="0"/>
            <a:lstStyle/>
            <a:p>
              <a:pPr algn="l">
                <a:lnSpc>
                  <a:spcPts val="3059"/>
                </a:lnSpc>
              </a:pPr>
              <a:r>
                <a:rPr lang="en-US" b="true" sz="2549" spc="588">
                  <a:solidFill>
                    <a:srgbClr val="E8A33D"/>
                  </a:solidFill>
                  <a:latin typeface="Calibri (MS) Bold"/>
                  <a:ea typeface="Calibri (MS) Bold"/>
                  <a:cs typeface="Calibri (MS) Bold"/>
                  <a:sym typeface="Calibri (MS) Bold"/>
                </a:rPr>
                <a:t>CASE STUDY</a:t>
              </a:r>
            </a:p>
          </p:txBody>
        </p:sp>
      </p:grpSp>
      <p:grpSp>
        <p:nvGrpSpPr>
          <p:cNvPr name="Group 11" id="11"/>
          <p:cNvGrpSpPr/>
          <p:nvPr/>
        </p:nvGrpSpPr>
        <p:grpSpPr>
          <a:xfrm rot="0">
            <a:off x="1069848" y="2948940"/>
            <a:ext cx="14401800" cy="1577340"/>
            <a:chOff x="0" y="0"/>
            <a:chExt cx="19202400" cy="2103120"/>
          </a:xfrm>
        </p:grpSpPr>
        <p:sp>
          <p:nvSpPr>
            <p:cNvPr name="Freeform 12" id="12"/>
            <p:cNvSpPr/>
            <p:nvPr/>
          </p:nvSpPr>
          <p:spPr>
            <a:xfrm flipH="false" flipV="false" rot="0">
              <a:off x="0" y="0"/>
              <a:ext cx="19202400" cy="2103120"/>
            </a:xfrm>
            <a:custGeom>
              <a:avLst/>
              <a:gdLst/>
              <a:ahLst/>
              <a:cxnLst/>
              <a:rect r="r" b="b" t="t" l="l"/>
              <a:pathLst>
                <a:path h="2103120" w="19202400">
                  <a:moveTo>
                    <a:pt x="0" y="0"/>
                  </a:moveTo>
                  <a:lnTo>
                    <a:pt x="19202400" y="0"/>
                  </a:lnTo>
                  <a:lnTo>
                    <a:pt x="19202400" y="2103120"/>
                  </a:lnTo>
                  <a:lnTo>
                    <a:pt x="0" y="2103120"/>
                  </a:lnTo>
                  <a:close/>
                </a:path>
              </a:pathLst>
            </a:custGeom>
            <a:blipFill>
              <a:blip r:embed="rId3">
                <a:alphaModFix amt="0"/>
              </a:blip>
              <a:stretch>
                <a:fillRect l="0" t="-127906" r="0" b="-127906"/>
              </a:stretch>
            </a:blipFill>
          </p:spPr>
        </p:sp>
        <p:sp>
          <p:nvSpPr>
            <p:cNvPr name="TextBox 13" id="13"/>
            <p:cNvSpPr txBox="true"/>
            <p:nvPr/>
          </p:nvSpPr>
          <p:spPr>
            <a:xfrm>
              <a:off x="0" y="-9525"/>
              <a:ext cx="19202400" cy="2112645"/>
            </a:xfrm>
            <a:prstGeom prst="rect">
              <a:avLst/>
            </a:prstGeom>
          </p:spPr>
          <p:txBody>
            <a:bodyPr anchor="ctr" rtlCol="false" tIns="0" lIns="0" bIns="0" rIns="0"/>
            <a:lstStyle/>
            <a:p>
              <a:pPr algn="l">
                <a:lnSpc>
                  <a:spcPts val="9720"/>
                </a:lnSpc>
              </a:pPr>
              <a:r>
                <a:rPr lang="en-US" sz="8100" b="true">
                  <a:solidFill>
                    <a:srgbClr val="FFFFFF"/>
                  </a:solidFill>
                  <a:latin typeface="Georgia Bold"/>
                  <a:ea typeface="Georgia Bold"/>
                  <a:cs typeface="Georgia Bold"/>
                  <a:sym typeface="Georgia Bold"/>
                </a:rPr>
                <a:t>PrimeRx Flow</a:t>
              </a:r>
            </a:p>
          </p:txBody>
        </p:sp>
      </p:grpSp>
      <p:grpSp>
        <p:nvGrpSpPr>
          <p:cNvPr name="Group 14" id="14"/>
          <p:cNvGrpSpPr/>
          <p:nvPr/>
        </p:nvGrpSpPr>
        <p:grpSpPr>
          <a:xfrm rot="0">
            <a:off x="1073468" y="5668328"/>
            <a:ext cx="4436745" cy="47625"/>
            <a:chOff x="0" y="0"/>
            <a:chExt cx="5915660" cy="63500"/>
          </a:xfrm>
        </p:grpSpPr>
        <p:sp>
          <p:nvSpPr>
            <p:cNvPr name="Freeform 15" id="15"/>
            <p:cNvSpPr/>
            <p:nvPr/>
          </p:nvSpPr>
          <p:spPr>
            <a:xfrm flipH="false" flipV="false" rot="0">
              <a:off x="0" y="0"/>
              <a:ext cx="5915660" cy="63500"/>
            </a:xfrm>
            <a:custGeom>
              <a:avLst/>
              <a:gdLst/>
              <a:ahLst/>
              <a:cxnLst/>
              <a:rect r="r" b="b" t="t" l="l"/>
              <a:pathLst>
                <a:path h="63500" w="5915660">
                  <a:moveTo>
                    <a:pt x="0" y="0"/>
                  </a:moveTo>
                  <a:lnTo>
                    <a:pt x="5915660" y="63500"/>
                  </a:lnTo>
                </a:path>
              </a:pathLst>
            </a:custGeom>
            <a:blipFill>
              <a:blip r:embed="rId3">
                <a:alphaModFix amt="0"/>
              </a:blip>
              <a:stretch>
                <a:fillRect l="0" t="-1765226" r="0" b="-1765226"/>
              </a:stretch>
            </a:blipFill>
            <a:ln w="47625" cap="sq">
              <a:solidFill>
                <a:srgbClr val="0F8B8D"/>
              </a:solidFill>
              <a:prstDash val="solid"/>
              <a:miter/>
            </a:ln>
          </p:spPr>
        </p:sp>
      </p:grpSp>
      <p:grpSp>
        <p:nvGrpSpPr>
          <p:cNvPr name="Group 16" id="16"/>
          <p:cNvGrpSpPr/>
          <p:nvPr/>
        </p:nvGrpSpPr>
        <p:grpSpPr>
          <a:xfrm rot="0">
            <a:off x="1207400" y="4824730"/>
            <a:ext cx="8229600" cy="545147"/>
            <a:chOff x="0" y="0"/>
            <a:chExt cx="10972800" cy="726863"/>
          </a:xfrm>
        </p:grpSpPr>
        <p:sp>
          <p:nvSpPr>
            <p:cNvPr name="Freeform 17" id="17"/>
            <p:cNvSpPr/>
            <p:nvPr/>
          </p:nvSpPr>
          <p:spPr>
            <a:xfrm flipH="false" flipV="false" rot="0">
              <a:off x="0" y="0"/>
              <a:ext cx="10972800" cy="726863"/>
            </a:xfrm>
            <a:custGeom>
              <a:avLst/>
              <a:gdLst/>
              <a:ahLst/>
              <a:cxnLst/>
              <a:rect r="r" b="b" t="t" l="l"/>
              <a:pathLst>
                <a:path h="726863" w="10972800">
                  <a:moveTo>
                    <a:pt x="0" y="0"/>
                  </a:moveTo>
                  <a:lnTo>
                    <a:pt x="10972800" y="0"/>
                  </a:lnTo>
                  <a:lnTo>
                    <a:pt x="10972800" y="726863"/>
                  </a:lnTo>
                  <a:lnTo>
                    <a:pt x="0" y="726863"/>
                  </a:lnTo>
                  <a:close/>
                </a:path>
              </a:pathLst>
            </a:custGeom>
            <a:blipFill>
              <a:blip r:embed="rId3">
                <a:alphaModFix amt="0"/>
              </a:blip>
              <a:stretch>
                <a:fillRect l="0" t="-250117" r="0" b="-238178"/>
              </a:stretch>
            </a:blipFill>
          </p:spPr>
        </p:sp>
        <p:sp>
          <p:nvSpPr>
            <p:cNvPr name="TextBox 18" id="18"/>
            <p:cNvSpPr txBox="true"/>
            <p:nvPr/>
          </p:nvSpPr>
          <p:spPr>
            <a:xfrm>
              <a:off x="0" y="-57150"/>
              <a:ext cx="10972800" cy="784013"/>
            </a:xfrm>
            <a:prstGeom prst="rect">
              <a:avLst/>
            </a:prstGeom>
          </p:spPr>
          <p:txBody>
            <a:bodyPr anchor="ctr" rtlCol="false" tIns="0" lIns="0" bIns="0" rIns="0"/>
            <a:lstStyle/>
            <a:p>
              <a:pPr algn="l">
                <a:lnSpc>
                  <a:spcPts val="3299"/>
                </a:lnSpc>
              </a:pPr>
              <a:r>
                <a:rPr lang="en-US" sz="2749">
                  <a:solidFill>
                    <a:srgbClr val="9AA6BC"/>
                  </a:solidFill>
                  <a:latin typeface="Calibri (MS)"/>
                  <a:ea typeface="Calibri (MS)"/>
                  <a:cs typeface="Calibri (MS)"/>
                  <a:sym typeface="Calibri (MS)"/>
                </a:rPr>
                <a:t>Submitted by  </a:t>
              </a:r>
              <a:r>
                <a:rPr lang="en-US" sz="2749" b="true">
                  <a:solidFill>
                    <a:srgbClr val="FFFFFF"/>
                  </a:solidFill>
                  <a:latin typeface="Calibri (MS) Bold"/>
                  <a:ea typeface="Calibri (MS) Bold"/>
                  <a:cs typeface="Calibri (MS) Bold"/>
                  <a:sym typeface="Calibri (MS) Bold"/>
                </a:rPr>
                <a:t>Group 10</a:t>
              </a:r>
            </a:p>
          </p:txBody>
        </p:sp>
      </p:grpSp>
      <p:grpSp>
        <p:nvGrpSpPr>
          <p:cNvPr name="Group 19" id="19"/>
          <p:cNvGrpSpPr/>
          <p:nvPr/>
        </p:nvGrpSpPr>
        <p:grpSpPr>
          <a:xfrm rot="0">
            <a:off x="1028700" y="5849303"/>
            <a:ext cx="10972800" cy="1394104"/>
            <a:chOff x="0" y="0"/>
            <a:chExt cx="14630400" cy="1858806"/>
          </a:xfrm>
        </p:grpSpPr>
        <p:sp>
          <p:nvSpPr>
            <p:cNvPr name="Freeform 20" id="20"/>
            <p:cNvSpPr/>
            <p:nvPr/>
          </p:nvSpPr>
          <p:spPr>
            <a:xfrm flipH="false" flipV="false" rot="0">
              <a:off x="0" y="0"/>
              <a:ext cx="14630400" cy="1858806"/>
            </a:xfrm>
            <a:custGeom>
              <a:avLst/>
              <a:gdLst/>
              <a:ahLst/>
              <a:cxnLst/>
              <a:rect r="r" b="b" t="t" l="l"/>
              <a:pathLst>
                <a:path h="1858806" w="14630400">
                  <a:moveTo>
                    <a:pt x="0" y="0"/>
                  </a:moveTo>
                  <a:lnTo>
                    <a:pt x="14630400" y="0"/>
                  </a:lnTo>
                  <a:lnTo>
                    <a:pt x="14630400" y="1858806"/>
                  </a:lnTo>
                  <a:lnTo>
                    <a:pt x="0" y="1858806"/>
                  </a:lnTo>
                  <a:close/>
                </a:path>
              </a:pathLst>
            </a:custGeom>
            <a:solidFill>
              <a:srgbClr val="FFFFFF">
                <a:alpha val="0"/>
              </a:srgbClr>
            </a:solidFill>
          </p:spPr>
        </p:sp>
        <p:sp>
          <p:nvSpPr>
            <p:cNvPr name="TextBox 21" id="21"/>
            <p:cNvSpPr txBox="true"/>
            <p:nvPr/>
          </p:nvSpPr>
          <p:spPr>
            <a:xfrm>
              <a:off x="0" y="-66675"/>
              <a:ext cx="14630400" cy="1925481"/>
            </a:xfrm>
            <a:prstGeom prst="rect">
              <a:avLst/>
            </a:prstGeom>
          </p:spPr>
          <p:txBody>
            <a:bodyPr anchor="ctr" rtlCol="false" tIns="0" lIns="0" bIns="0" rIns="0"/>
            <a:lstStyle/>
            <a:p>
              <a:pPr algn="l">
                <a:lnSpc>
                  <a:spcPts val="3329"/>
                </a:lnSpc>
              </a:pPr>
            </a:p>
          </p:txBody>
        </p:sp>
      </p:grpSp>
      <p:sp>
        <p:nvSpPr>
          <p:cNvPr name="TextBox 22" id="22"/>
          <p:cNvSpPr txBox="true"/>
          <p:nvPr/>
        </p:nvSpPr>
        <p:spPr>
          <a:xfrm rot="0">
            <a:off x="-265252" y="5463097"/>
            <a:ext cx="9912916" cy="1657316"/>
          </a:xfrm>
          <a:prstGeom prst="rect">
            <a:avLst/>
          </a:prstGeom>
        </p:spPr>
        <p:txBody>
          <a:bodyPr anchor="t" rtlCol="false" tIns="0" lIns="0" bIns="0" rIns="0">
            <a:spAutoFit/>
          </a:bodyPr>
          <a:lstStyle/>
          <a:p>
            <a:pPr algn="ctr">
              <a:lnSpc>
                <a:spcPts val="4194"/>
              </a:lnSpc>
              <a:spcBef>
                <a:spcPct val="0"/>
              </a:spcBef>
            </a:pPr>
            <a:r>
              <a:rPr lang="en-US" b="true" sz="3495">
                <a:solidFill>
                  <a:srgbClr val="FFFFFF"/>
                </a:solidFill>
                <a:latin typeface="Calibri (MS) Bold"/>
                <a:ea typeface="Calibri (MS) Bold"/>
                <a:cs typeface="Calibri (MS) Bold"/>
                <a:sym typeface="Calibri (MS) Bold"/>
              </a:rPr>
              <a:t>Team members :             Manya Pahwa</a:t>
            </a:r>
          </a:p>
          <a:p>
            <a:pPr algn="ctr">
              <a:lnSpc>
                <a:spcPts val="4194"/>
              </a:lnSpc>
              <a:spcBef>
                <a:spcPct val="0"/>
              </a:spcBef>
            </a:pPr>
            <a:r>
              <a:rPr lang="en-US" b="true" sz="3495">
                <a:solidFill>
                  <a:srgbClr val="FFFFFF"/>
                </a:solidFill>
                <a:latin typeface="Calibri (MS) Bold"/>
                <a:ea typeface="Calibri (MS) Bold"/>
                <a:cs typeface="Calibri (MS) Bold"/>
                <a:sym typeface="Calibri (MS) Bold"/>
              </a:rPr>
              <a:t>                                     Aman Patil</a:t>
            </a:r>
          </a:p>
          <a:p>
            <a:pPr algn="ctr">
              <a:lnSpc>
                <a:spcPts val="4194"/>
              </a:lnSpc>
              <a:spcBef>
                <a:spcPct val="0"/>
              </a:spcBef>
            </a:pPr>
            <a:r>
              <a:rPr lang="en-US" b="true" sz="3495">
                <a:solidFill>
                  <a:srgbClr val="FFFFFF"/>
                </a:solidFill>
                <a:latin typeface="Calibri (MS) Bold"/>
                <a:ea typeface="Calibri (MS) Bold"/>
                <a:cs typeface="Calibri (MS) Bold"/>
                <a:sym typeface="Calibri (MS) Bold"/>
              </a:rPr>
              <a:t>                                     Shakir Lala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4380" y="850392"/>
            <a:ext cx="16733520" cy="1028700"/>
            <a:chOff x="0" y="0"/>
            <a:chExt cx="22311360" cy="1371600"/>
          </a:xfrm>
        </p:grpSpPr>
        <p:sp>
          <p:nvSpPr>
            <p:cNvPr name="Freeform 3" id="3"/>
            <p:cNvSpPr/>
            <p:nvPr/>
          </p:nvSpPr>
          <p:spPr>
            <a:xfrm flipH="false" flipV="false" rot="0">
              <a:off x="0" y="0"/>
              <a:ext cx="22311361" cy="1371600"/>
            </a:xfrm>
            <a:custGeom>
              <a:avLst/>
              <a:gdLst/>
              <a:ahLst/>
              <a:cxnLst/>
              <a:rect r="r" b="b" t="t" l="l"/>
              <a:pathLst>
                <a:path h="1371600" w="22311361">
                  <a:moveTo>
                    <a:pt x="0" y="0"/>
                  </a:moveTo>
                  <a:lnTo>
                    <a:pt x="22311361" y="0"/>
                  </a:lnTo>
                  <a:lnTo>
                    <a:pt x="22311361" y="1371600"/>
                  </a:lnTo>
                  <a:lnTo>
                    <a:pt x="0" y="1371600"/>
                  </a:lnTo>
                  <a:close/>
                </a:path>
              </a:pathLst>
            </a:custGeom>
            <a:blipFill>
              <a:blip r:embed="rId3">
                <a:alphaModFix amt="0"/>
              </a:blip>
              <a:stretch>
                <a:fillRect l="0" t="-266956" r="0" b="-266956"/>
              </a:stretch>
            </a:blipFill>
          </p:spPr>
        </p:sp>
        <p:sp>
          <p:nvSpPr>
            <p:cNvPr name="TextBox 4" id="4"/>
            <p:cNvSpPr txBox="true"/>
            <p:nvPr/>
          </p:nvSpPr>
          <p:spPr>
            <a:xfrm>
              <a:off x="0" y="-9525"/>
              <a:ext cx="22311360" cy="1381125"/>
            </a:xfrm>
            <a:prstGeom prst="rect">
              <a:avLst/>
            </a:prstGeom>
          </p:spPr>
          <p:txBody>
            <a:bodyPr anchor="ctr" rtlCol="false" tIns="0" lIns="0" bIns="0" rIns="0"/>
            <a:lstStyle/>
            <a:p>
              <a:pPr algn="l">
                <a:lnSpc>
                  <a:spcPts val="4680"/>
                </a:lnSpc>
              </a:pPr>
              <a:r>
                <a:rPr lang="en-US" sz="3900" b="true">
                  <a:solidFill>
                    <a:srgbClr val="16213E"/>
                  </a:solidFill>
                  <a:latin typeface="Georgia Bold"/>
                  <a:ea typeface="Georgia Bold"/>
                  <a:cs typeface="Georgia Bold"/>
                  <a:sym typeface="Georgia Bold"/>
                </a:rPr>
                <a:t>Business &amp; Case Study Overview</a:t>
              </a:r>
            </a:p>
          </p:txBody>
        </p:sp>
      </p:grpSp>
      <p:grpSp>
        <p:nvGrpSpPr>
          <p:cNvPr name="Group 5" id="5"/>
          <p:cNvGrpSpPr/>
          <p:nvPr/>
        </p:nvGrpSpPr>
        <p:grpSpPr>
          <a:xfrm rot="0">
            <a:off x="754380" y="2263140"/>
            <a:ext cx="8161020" cy="7063740"/>
            <a:chOff x="0" y="0"/>
            <a:chExt cx="10881360" cy="9418320"/>
          </a:xfrm>
        </p:grpSpPr>
        <p:sp>
          <p:nvSpPr>
            <p:cNvPr name="Freeform 6" id="6"/>
            <p:cNvSpPr/>
            <p:nvPr/>
          </p:nvSpPr>
          <p:spPr>
            <a:xfrm flipH="false" flipV="false" rot="0">
              <a:off x="0" y="0"/>
              <a:ext cx="10881361" cy="9418320"/>
            </a:xfrm>
            <a:custGeom>
              <a:avLst/>
              <a:gdLst/>
              <a:ahLst/>
              <a:cxnLst/>
              <a:rect r="r" b="b" t="t" l="l"/>
              <a:pathLst>
                <a:path h="9418320" w="10881361">
                  <a:moveTo>
                    <a:pt x="0" y="146304"/>
                  </a:moveTo>
                  <a:cubicBezTo>
                    <a:pt x="0" y="65532"/>
                    <a:pt x="65532" y="0"/>
                    <a:pt x="146304" y="0"/>
                  </a:cubicBezTo>
                  <a:lnTo>
                    <a:pt x="10735056" y="0"/>
                  </a:lnTo>
                  <a:cubicBezTo>
                    <a:pt x="10815828" y="0"/>
                    <a:pt x="10881361" y="65532"/>
                    <a:pt x="10881361" y="146304"/>
                  </a:cubicBezTo>
                  <a:lnTo>
                    <a:pt x="10881361" y="9272016"/>
                  </a:lnTo>
                  <a:cubicBezTo>
                    <a:pt x="10881361" y="9352788"/>
                    <a:pt x="10815828" y="9418320"/>
                    <a:pt x="10735056" y="9418320"/>
                  </a:cubicBezTo>
                  <a:lnTo>
                    <a:pt x="146304" y="9418320"/>
                  </a:lnTo>
                  <a:cubicBezTo>
                    <a:pt x="65532" y="9418320"/>
                    <a:pt x="0" y="9352788"/>
                    <a:pt x="0" y="9272016"/>
                  </a:cubicBezTo>
                  <a:close/>
                </a:path>
              </a:pathLst>
            </a:custGeom>
            <a:solidFill>
              <a:srgbClr val="F6F7FA"/>
            </a:solidFill>
          </p:spPr>
        </p:sp>
      </p:grpSp>
      <p:grpSp>
        <p:nvGrpSpPr>
          <p:cNvPr name="Group 7" id="7"/>
          <p:cNvGrpSpPr/>
          <p:nvPr/>
        </p:nvGrpSpPr>
        <p:grpSpPr>
          <a:xfrm rot="0">
            <a:off x="1234440" y="2674620"/>
            <a:ext cx="7269480" cy="411480"/>
            <a:chOff x="0" y="0"/>
            <a:chExt cx="9692640" cy="548640"/>
          </a:xfrm>
        </p:grpSpPr>
        <p:sp>
          <p:nvSpPr>
            <p:cNvPr name="Freeform 8" id="8"/>
            <p:cNvSpPr/>
            <p:nvPr/>
          </p:nvSpPr>
          <p:spPr>
            <a:xfrm flipH="false" flipV="false" rot="0">
              <a:off x="0" y="0"/>
              <a:ext cx="9692640" cy="548640"/>
            </a:xfrm>
            <a:custGeom>
              <a:avLst/>
              <a:gdLst/>
              <a:ahLst/>
              <a:cxnLst/>
              <a:rect r="r" b="b" t="t" l="l"/>
              <a:pathLst>
                <a:path h="548640" w="9692640">
                  <a:moveTo>
                    <a:pt x="0" y="0"/>
                  </a:moveTo>
                  <a:lnTo>
                    <a:pt x="9692640" y="0"/>
                  </a:lnTo>
                  <a:lnTo>
                    <a:pt x="9692640" y="548640"/>
                  </a:lnTo>
                  <a:lnTo>
                    <a:pt x="0" y="548640"/>
                  </a:lnTo>
                  <a:close/>
                </a:path>
              </a:pathLst>
            </a:custGeom>
            <a:blipFill>
              <a:blip r:embed="rId3">
                <a:alphaModFix amt="0"/>
              </a:blip>
              <a:stretch>
                <a:fillRect l="0" t="-294235" r="0" b="-294235"/>
              </a:stretch>
            </a:blipFill>
          </p:spPr>
        </p:sp>
        <p:sp>
          <p:nvSpPr>
            <p:cNvPr name="TextBox 9" id="9"/>
            <p:cNvSpPr txBox="true"/>
            <p:nvPr/>
          </p:nvSpPr>
          <p:spPr>
            <a:xfrm>
              <a:off x="0" y="-38100"/>
              <a:ext cx="9692640" cy="586740"/>
            </a:xfrm>
            <a:prstGeom prst="rect">
              <a:avLst/>
            </a:prstGeom>
          </p:spPr>
          <p:txBody>
            <a:bodyPr anchor="ctr" rtlCol="false" tIns="0" lIns="0" bIns="0" rIns="0"/>
            <a:lstStyle/>
            <a:p>
              <a:pPr algn="l">
                <a:lnSpc>
                  <a:spcPts val="2160"/>
                </a:lnSpc>
              </a:pPr>
              <a:r>
                <a:rPr lang="en-US" b="true" sz="1800" spc="225">
                  <a:solidFill>
                    <a:srgbClr val="0F8B8D"/>
                  </a:solidFill>
                  <a:latin typeface="Calibri (MS) Bold"/>
                  <a:ea typeface="Calibri (MS) Bold"/>
                  <a:cs typeface="Calibri (MS) Bold"/>
                  <a:sym typeface="Calibri (MS) Bold"/>
                </a:rPr>
                <a:t>BUSINESS OVERVIEW</a:t>
              </a:r>
            </a:p>
          </p:txBody>
        </p:sp>
      </p:grpSp>
      <p:grpSp>
        <p:nvGrpSpPr>
          <p:cNvPr name="Group 10" id="10"/>
          <p:cNvGrpSpPr/>
          <p:nvPr/>
        </p:nvGrpSpPr>
        <p:grpSpPr>
          <a:xfrm rot="0">
            <a:off x="1234440" y="3223260"/>
            <a:ext cx="7269480" cy="3154680"/>
            <a:chOff x="0" y="0"/>
            <a:chExt cx="9692640" cy="4206240"/>
          </a:xfrm>
        </p:grpSpPr>
        <p:sp>
          <p:nvSpPr>
            <p:cNvPr name="Freeform 11" id="11"/>
            <p:cNvSpPr/>
            <p:nvPr/>
          </p:nvSpPr>
          <p:spPr>
            <a:xfrm flipH="false" flipV="false" rot="0">
              <a:off x="0" y="0"/>
              <a:ext cx="9692640" cy="4206240"/>
            </a:xfrm>
            <a:custGeom>
              <a:avLst/>
              <a:gdLst/>
              <a:ahLst/>
              <a:cxnLst/>
              <a:rect r="r" b="b" t="t" l="l"/>
              <a:pathLst>
                <a:path h="4206240" w="9692640">
                  <a:moveTo>
                    <a:pt x="0" y="0"/>
                  </a:moveTo>
                  <a:lnTo>
                    <a:pt x="9692640" y="0"/>
                  </a:lnTo>
                  <a:lnTo>
                    <a:pt x="9692640" y="4206240"/>
                  </a:lnTo>
                  <a:lnTo>
                    <a:pt x="0" y="4206240"/>
                  </a:lnTo>
                  <a:close/>
                </a:path>
              </a:pathLst>
            </a:custGeom>
            <a:blipFill>
              <a:blip r:embed="rId3">
                <a:alphaModFix amt="0"/>
              </a:blip>
              <a:stretch>
                <a:fillRect l="-5678" t="0" r="-5678" b="0"/>
              </a:stretch>
            </a:blipFill>
          </p:spPr>
        </p:sp>
        <p:sp>
          <p:nvSpPr>
            <p:cNvPr name="TextBox 12" id="12"/>
            <p:cNvSpPr txBox="true"/>
            <p:nvPr/>
          </p:nvSpPr>
          <p:spPr>
            <a:xfrm>
              <a:off x="0" y="-95250"/>
              <a:ext cx="9692640" cy="4301490"/>
            </a:xfrm>
            <a:prstGeom prst="rect">
              <a:avLst/>
            </a:prstGeom>
          </p:spPr>
          <p:txBody>
            <a:bodyPr anchor="ctr" rtlCol="false" tIns="0" lIns="0" bIns="0" rIns="0"/>
            <a:lstStyle/>
            <a:p>
              <a:pPr algn="l">
                <a:lnSpc>
                  <a:spcPts val="2812"/>
                </a:lnSpc>
              </a:pPr>
              <a:r>
                <a:rPr lang="en-US" sz="1875">
                  <a:solidFill>
                    <a:srgbClr val="20262E"/>
                  </a:solidFill>
                  <a:latin typeface="Calibri (MS)"/>
                  <a:ea typeface="Calibri (MS)"/>
                  <a:cs typeface="Calibri (MS)"/>
                  <a:sym typeface="Calibri (MS)"/>
                </a:rPr>
                <a:t>PrimeRx is a pharmaceutical company operating across the U.S. healthcare landscape. Its flagship product, Nexavir (DRG001), addresses a high-need therapy area with broad prescriber adoption.</a:t>
              </a:r>
            </a:p>
            <a:p>
              <a:pPr algn="l">
                <a:lnSpc>
                  <a:spcPts val="2812"/>
                </a:lnSpc>
              </a:pPr>
            </a:p>
            <a:p>
              <a:pPr algn="l">
                <a:lnSpc>
                  <a:spcPts val="2812"/>
                </a:lnSpc>
              </a:pPr>
              <a:r>
                <a:rPr lang="en-US" sz="1875">
                  <a:solidFill>
                    <a:srgbClr val="20262E"/>
                  </a:solidFill>
                  <a:latin typeface="Calibri (MS)"/>
                  <a:ea typeface="Calibri (MS)"/>
                  <a:cs typeface="Calibri (MS)"/>
                  <a:sym typeface="Calibri (MS)"/>
                </a:rPr>
                <a:t>We have been asked to analyze PrimeRx's Rx flow, HCP, account, sales, and clinical alert data collected over the last 18 months, and to recommend where the sales team should focus to capture the most valuable commercial opportunities.</a:t>
              </a:r>
            </a:p>
          </p:txBody>
        </p:sp>
      </p:grpSp>
      <p:grpSp>
        <p:nvGrpSpPr>
          <p:cNvPr name="Group 13" id="13"/>
          <p:cNvGrpSpPr/>
          <p:nvPr/>
        </p:nvGrpSpPr>
        <p:grpSpPr>
          <a:xfrm rot="0">
            <a:off x="1224915" y="6642735"/>
            <a:ext cx="7219950" cy="19050"/>
            <a:chOff x="0" y="0"/>
            <a:chExt cx="9626600" cy="25400"/>
          </a:xfrm>
        </p:grpSpPr>
        <p:sp>
          <p:nvSpPr>
            <p:cNvPr name="Freeform 14" id="14"/>
            <p:cNvSpPr/>
            <p:nvPr/>
          </p:nvSpPr>
          <p:spPr>
            <a:xfrm flipH="false" flipV="false" rot="0">
              <a:off x="0" y="0"/>
              <a:ext cx="9626600" cy="25400"/>
            </a:xfrm>
            <a:custGeom>
              <a:avLst/>
              <a:gdLst/>
              <a:ahLst/>
              <a:cxnLst/>
              <a:rect r="r" b="b" t="t" l="l"/>
              <a:pathLst>
                <a:path h="25400" w="9626600">
                  <a:moveTo>
                    <a:pt x="0" y="0"/>
                  </a:moveTo>
                  <a:lnTo>
                    <a:pt x="9626600" y="25400"/>
                  </a:lnTo>
                </a:path>
              </a:pathLst>
            </a:custGeom>
            <a:blipFill>
              <a:blip r:embed="rId3">
                <a:alphaModFix amt="0"/>
              </a:blip>
              <a:stretch>
                <a:fillRect l="0" t="-7334829" r="0" b="-7334829"/>
              </a:stretch>
            </a:blipFill>
            <a:ln w="19050" cap="sq">
              <a:solidFill>
                <a:srgbClr val="E3E6EC"/>
              </a:solidFill>
              <a:prstDash val="solid"/>
              <a:miter/>
            </a:ln>
          </p:spPr>
        </p:sp>
      </p:grpSp>
      <p:grpSp>
        <p:nvGrpSpPr>
          <p:cNvPr name="Group 15" id="15"/>
          <p:cNvGrpSpPr/>
          <p:nvPr/>
        </p:nvGrpSpPr>
        <p:grpSpPr>
          <a:xfrm rot="0">
            <a:off x="1234440" y="6858000"/>
            <a:ext cx="7269480" cy="411480"/>
            <a:chOff x="0" y="0"/>
            <a:chExt cx="9692640" cy="548640"/>
          </a:xfrm>
        </p:grpSpPr>
        <p:sp>
          <p:nvSpPr>
            <p:cNvPr name="Freeform 16" id="16"/>
            <p:cNvSpPr/>
            <p:nvPr/>
          </p:nvSpPr>
          <p:spPr>
            <a:xfrm flipH="false" flipV="false" rot="0">
              <a:off x="0" y="0"/>
              <a:ext cx="9692640" cy="548640"/>
            </a:xfrm>
            <a:custGeom>
              <a:avLst/>
              <a:gdLst/>
              <a:ahLst/>
              <a:cxnLst/>
              <a:rect r="r" b="b" t="t" l="l"/>
              <a:pathLst>
                <a:path h="548640" w="9692640">
                  <a:moveTo>
                    <a:pt x="0" y="0"/>
                  </a:moveTo>
                  <a:lnTo>
                    <a:pt x="9692640" y="0"/>
                  </a:lnTo>
                  <a:lnTo>
                    <a:pt x="9692640" y="548640"/>
                  </a:lnTo>
                  <a:lnTo>
                    <a:pt x="0" y="548640"/>
                  </a:lnTo>
                  <a:close/>
                </a:path>
              </a:pathLst>
            </a:custGeom>
            <a:blipFill>
              <a:blip r:embed="rId3">
                <a:alphaModFix amt="0"/>
              </a:blip>
              <a:stretch>
                <a:fillRect l="0" t="-294235" r="0" b="-294235"/>
              </a:stretch>
            </a:blipFill>
          </p:spPr>
        </p:sp>
        <p:sp>
          <p:nvSpPr>
            <p:cNvPr name="TextBox 17" id="17"/>
            <p:cNvSpPr txBox="true"/>
            <p:nvPr/>
          </p:nvSpPr>
          <p:spPr>
            <a:xfrm>
              <a:off x="0" y="-38100"/>
              <a:ext cx="9692640" cy="586740"/>
            </a:xfrm>
            <a:prstGeom prst="rect">
              <a:avLst/>
            </a:prstGeom>
          </p:spPr>
          <p:txBody>
            <a:bodyPr anchor="ctr" rtlCol="false" tIns="0" lIns="0" bIns="0" rIns="0"/>
            <a:lstStyle/>
            <a:p>
              <a:pPr algn="l">
                <a:lnSpc>
                  <a:spcPts val="2160"/>
                </a:lnSpc>
              </a:pPr>
              <a:r>
                <a:rPr lang="en-US" b="true" sz="1800" spc="225">
                  <a:solidFill>
                    <a:srgbClr val="0F8B8D"/>
                  </a:solidFill>
                  <a:latin typeface="Calibri (MS) Bold"/>
                  <a:ea typeface="Calibri (MS) Bold"/>
                  <a:cs typeface="Calibri (MS) Bold"/>
                  <a:sym typeface="Calibri (MS) Bold"/>
                </a:rPr>
                <a:t>THE CORE PROBLEM</a:t>
              </a:r>
            </a:p>
          </p:txBody>
        </p:sp>
      </p:grpSp>
      <p:grpSp>
        <p:nvGrpSpPr>
          <p:cNvPr name="Group 18" id="18"/>
          <p:cNvGrpSpPr/>
          <p:nvPr/>
        </p:nvGrpSpPr>
        <p:grpSpPr>
          <a:xfrm rot="0">
            <a:off x="1234440" y="7338060"/>
            <a:ext cx="7269480" cy="1783080"/>
            <a:chOff x="0" y="0"/>
            <a:chExt cx="9692640" cy="2377440"/>
          </a:xfrm>
        </p:grpSpPr>
        <p:sp>
          <p:nvSpPr>
            <p:cNvPr name="Freeform 19" id="19"/>
            <p:cNvSpPr/>
            <p:nvPr/>
          </p:nvSpPr>
          <p:spPr>
            <a:xfrm flipH="false" flipV="false" rot="0">
              <a:off x="0" y="0"/>
              <a:ext cx="9692640" cy="2377440"/>
            </a:xfrm>
            <a:custGeom>
              <a:avLst/>
              <a:gdLst/>
              <a:ahLst/>
              <a:cxnLst/>
              <a:rect r="r" b="b" t="t" l="l"/>
              <a:pathLst>
                <a:path h="2377440" w="9692640">
                  <a:moveTo>
                    <a:pt x="0" y="0"/>
                  </a:moveTo>
                  <a:lnTo>
                    <a:pt x="9692640" y="0"/>
                  </a:lnTo>
                  <a:lnTo>
                    <a:pt x="9692640" y="2377440"/>
                  </a:lnTo>
                  <a:lnTo>
                    <a:pt x="0" y="2377440"/>
                  </a:lnTo>
                  <a:close/>
                </a:path>
              </a:pathLst>
            </a:custGeom>
            <a:blipFill>
              <a:blip r:embed="rId3">
                <a:alphaModFix amt="0"/>
              </a:blip>
              <a:stretch>
                <a:fillRect l="0" t="-29439" r="0" b="-29439"/>
              </a:stretch>
            </a:blipFill>
          </p:spPr>
        </p:sp>
        <p:sp>
          <p:nvSpPr>
            <p:cNvPr name="TextBox 20" id="20"/>
            <p:cNvSpPr txBox="true"/>
            <p:nvPr/>
          </p:nvSpPr>
          <p:spPr>
            <a:xfrm>
              <a:off x="0" y="-95250"/>
              <a:ext cx="9692640" cy="2472690"/>
            </a:xfrm>
            <a:prstGeom prst="rect">
              <a:avLst/>
            </a:prstGeom>
          </p:spPr>
          <p:txBody>
            <a:bodyPr anchor="ctr" rtlCol="false" tIns="0" lIns="0" bIns="0" rIns="0"/>
            <a:lstStyle/>
            <a:p>
              <a:pPr algn="l">
                <a:lnSpc>
                  <a:spcPts val="2812"/>
                </a:lnSpc>
              </a:pPr>
              <a:r>
                <a:rPr lang="en-US" sz="1875">
                  <a:solidFill>
                    <a:srgbClr val="20262E"/>
                  </a:solidFill>
                  <a:latin typeface="Calibri (MS)"/>
                  <a:ea typeface="Calibri (MS)"/>
                  <a:cs typeface="Calibri (MS)"/>
                  <a:sym typeface="Calibri (MS)"/>
                </a:rPr>
                <a:t>Doctors are diagnosing patients who may need treatment but not all of them are prescribing our drug. The gap between clinical signal and prescribing behavior is where the commercial opportunity lives.</a:t>
              </a:r>
            </a:p>
          </p:txBody>
        </p:sp>
      </p:grpSp>
      <p:grpSp>
        <p:nvGrpSpPr>
          <p:cNvPr name="Group 21" id="21"/>
          <p:cNvGrpSpPr/>
          <p:nvPr/>
        </p:nvGrpSpPr>
        <p:grpSpPr>
          <a:xfrm rot="0">
            <a:off x="9395460" y="2674620"/>
            <a:ext cx="8092440" cy="411480"/>
            <a:chOff x="0" y="0"/>
            <a:chExt cx="10789920" cy="548640"/>
          </a:xfrm>
        </p:grpSpPr>
        <p:sp>
          <p:nvSpPr>
            <p:cNvPr name="Freeform 22" id="22"/>
            <p:cNvSpPr/>
            <p:nvPr/>
          </p:nvSpPr>
          <p:spPr>
            <a:xfrm flipH="false" flipV="false" rot="0">
              <a:off x="0" y="0"/>
              <a:ext cx="10789920" cy="548640"/>
            </a:xfrm>
            <a:custGeom>
              <a:avLst/>
              <a:gdLst/>
              <a:ahLst/>
              <a:cxnLst/>
              <a:rect r="r" b="b" t="t" l="l"/>
              <a:pathLst>
                <a:path h="548640" w="10789920">
                  <a:moveTo>
                    <a:pt x="0" y="0"/>
                  </a:moveTo>
                  <a:lnTo>
                    <a:pt x="10789920" y="0"/>
                  </a:lnTo>
                  <a:lnTo>
                    <a:pt x="10789920" y="548640"/>
                  </a:lnTo>
                  <a:lnTo>
                    <a:pt x="0" y="548640"/>
                  </a:lnTo>
                  <a:close/>
                </a:path>
              </a:pathLst>
            </a:custGeom>
            <a:blipFill>
              <a:blip r:embed="rId3">
                <a:alphaModFix amt="0"/>
              </a:blip>
              <a:stretch>
                <a:fillRect l="0" t="-333205" r="0" b="-333205"/>
              </a:stretch>
            </a:blipFill>
          </p:spPr>
        </p:sp>
        <p:sp>
          <p:nvSpPr>
            <p:cNvPr name="TextBox 23" id="23"/>
            <p:cNvSpPr txBox="true"/>
            <p:nvPr/>
          </p:nvSpPr>
          <p:spPr>
            <a:xfrm>
              <a:off x="0" y="-38100"/>
              <a:ext cx="10789920" cy="586740"/>
            </a:xfrm>
            <a:prstGeom prst="rect">
              <a:avLst/>
            </a:prstGeom>
          </p:spPr>
          <p:txBody>
            <a:bodyPr anchor="ctr" rtlCol="false" tIns="0" lIns="0" bIns="0" rIns="0"/>
            <a:lstStyle/>
            <a:p>
              <a:pPr algn="l">
                <a:lnSpc>
                  <a:spcPts val="2160"/>
                </a:lnSpc>
              </a:pPr>
              <a:r>
                <a:rPr lang="en-US" b="true" sz="1800" spc="225">
                  <a:solidFill>
                    <a:srgbClr val="0F8B8D"/>
                  </a:solidFill>
                  <a:latin typeface="Calibri (MS) Bold"/>
                  <a:ea typeface="Calibri (MS) Bold"/>
                  <a:cs typeface="Calibri (MS) Bold"/>
                  <a:sym typeface="Calibri (MS) Bold"/>
                </a:rPr>
                <a:t>WHAT WE SET OUT TO IDENTIFY</a:t>
              </a:r>
            </a:p>
          </p:txBody>
        </p:sp>
      </p:grpSp>
      <p:grpSp>
        <p:nvGrpSpPr>
          <p:cNvPr name="Group 24" id="24"/>
          <p:cNvGrpSpPr/>
          <p:nvPr/>
        </p:nvGrpSpPr>
        <p:grpSpPr>
          <a:xfrm rot="0">
            <a:off x="9395460" y="3291840"/>
            <a:ext cx="576072" cy="576072"/>
            <a:chOff x="0" y="0"/>
            <a:chExt cx="768096" cy="768096"/>
          </a:xfrm>
        </p:grpSpPr>
        <p:sp>
          <p:nvSpPr>
            <p:cNvPr name="Freeform 25" id="25"/>
            <p:cNvSpPr/>
            <p:nvPr/>
          </p:nvSpPr>
          <p:spPr>
            <a:xfrm flipH="false" flipV="false" rot="0">
              <a:off x="0" y="0"/>
              <a:ext cx="768096" cy="768096"/>
            </a:xfrm>
            <a:custGeom>
              <a:avLst/>
              <a:gdLst/>
              <a:ahLst/>
              <a:cxnLst/>
              <a:rect r="r" b="b" t="t" l="l"/>
              <a:pathLst>
                <a:path h="768096" w="768096">
                  <a:moveTo>
                    <a:pt x="0" y="146304"/>
                  </a:moveTo>
                  <a:cubicBezTo>
                    <a:pt x="0" y="65532"/>
                    <a:pt x="65532" y="0"/>
                    <a:pt x="146304" y="0"/>
                  </a:cubicBezTo>
                  <a:lnTo>
                    <a:pt x="621792" y="0"/>
                  </a:lnTo>
                  <a:cubicBezTo>
                    <a:pt x="702564" y="0"/>
                    <a:pt x="768096" y="65532"/>
                    <a:pt x="768096" y="146304"/>
                  </a:cubicBezTo>
                  <a:lnTo>
                    <a:pt x="768096" y="621792"/>
                  </a:lnTo>
                  <a:cubicBezTo>
                    <a:pt x="768096" y="702564"/>
                    <a:pt x="702564" y="768096"/>
                    <a:pt x="621792" y="768096"/>
                  </a:cubicBezTo>
                  <a:lnTo>
                    <a:pt x="146304" y="768096"/>
                  </a:lnTo>
                  <a:cubicBezTo>
                    <a:pt x="65532" y="768096"/>
                    <a:pt x="0" y="702564"/>
                    <a:pt x="0" y="621792"/>
                  </a:cubicBezTo>
                  <a:close/>
                </a:path>
              </a:pathLst>
            </a:custGeom>
            <a:solidFill>
              <a:srgbClr val="16213E"/>
            </a:solidFill>
          </p:spPr>
        </p:sp>
      </p:grpSp>
      <p:grpSp>
        <p:nvGrpSpPr>
          <p:cNvPr name="Group 26" id="26"/>
          <p:cNvGrpSpPr/>
          <p:nvPr/>
        </p:nvGrpSpPr>
        <p:grpSpPr>
          <a:xfrm rot="0">
            <a:off x="9395460" y="3291840"/>
            <a:ext cx="576072" cy="576072"/>
            <a:chOff x="0" y="0"/>
            <a:chExt cx="768096" cy="768096"/>
          </a:xfrm>
        </p:grpSpPr>
        <p:sp>
          <p:nvSpPr>
            <p:cNvPr name="Freeform 27" id="27"/>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3">
                <a:alphaModFix amt="0"/>
              </a:blip>
              <a:stretch>
                <a:fillRect l="-78303" t="0" r="-78303" b="0"/>
              </a:stretch>
            </a:blipFill>
          </p:spPr>
        </p:sp>
        <p:sp>
          <p:nvSpPr>
            <p:cNvPr name="TextBox 28" id="28"/>
            <p:cNvSpPr txBox="true"/>
            <p:nvPr/>
          </p:nvSpPr>
          <p:spPr>
            <a:xfrm>
              <a:off x="0" y="-47625"/>
              <a:ext cx="768096" cy="815721"/>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1</a:t>
              </a:r>
            </a:p>
          </p:txBody>
        </p:sp>
      </p:grpSp>
      <p:grpSp>
        <p:nvGrpSpPr>
          <p:cNvPr name="Group 29" id="29"/>
          <p:cNvGrpSpPr/>
          <p:nvPr/>
        </p:nvGrpSpPr>
        <p:grpSpPr>
          <a:xfrm rot="0">
            <a:off x="10177272" y="3264408"/>
            <a:ext cx="7338060" cy="822960"/>
            <a:chOff x="0" y="0"/>
            <a:chExt cx="9784080" cy="1097280"/>
          </a:xfrm>
        </p:grpSpPr>
        <p:sp>
          <p:nvSpPr>
            <p:cNvPr name="Freeform 30" id="30"/>
            <p:cNvSpPr/>
            <p:nvPr/>
          </p:nvSpPr>
          <p:spPr>
            <a:xfrm flipH="false" flipV="false" rot="0">
              <a:off x="0" y="0"/>
              <a:ext cx="9784080" cy="1097280"/>
            </a:xfrm>
            <a:custGeom>
              <a:avLst/>
              <a:gdLst/>
              <a:ahLst/>
              <a:cxnLst/>
              <a:rect r="r" b="b" t="t" l="l"/>
              <a:pathLst>
                <a:path h="1097280" w="9784080">
                  <a:moveTo>
                    <a:pt x="0" y="0"/>
                  </a:moveTo>
                  <a:lnTo>
                    <a:pt x="9784080" y="0"/>
                  </a:lnTo>
                  <a:lnTo>
                    <a:pt x="9784080" y="1097280"/>
                  </a:lnTo>
                  <a:lnTo>
                    <a:pt x="0" y="1097280"/>
                  </a:lnTo>
                  <a:close/>
                </a:path>
              </a:pathLst>
            </a:custGeom>
            <a:blipFill>
              <a:blip r:embed="rId3">
                <a:alphaModFix amt="0"/>
              </a:blip>
              <a:stretch>
                <a:fillRect l="0" t="-123741" r="0" b="-123741"/>
              </a:stretch>
            </a:blipFill>
          </p:spPr>
        </p:sp>
        <p:sp>
          <p:nvSpPr>
            <p:cNvPr name="TextBox 31" id="31"/>
            <p:cNvSpPr txBox="true"/>
            <p:nvPr/>
          </p:nvSpPr>
          <p:spPr>
            <a:xfrm>
              <a:off x="0" y="-47625"/>
              <a:ext cx="9784080" cy="1144905"/>
            </a:xfrm>
            <a:prstGeom prst="rect">
              <a:avLst/>
            </a:prstGeom>
          </p:spPr>
          <p:txBody>
            <a:bodyPr anchor="ctr" rtlCol="false" tIns="0" lIns="0" bIns="0" rIns="0"/>
            <a:lstStyle/>
            <a:p>
              <a:pPr algn="l">
                <a:lnSpc>
                  <a:spcPts val="2340"/>
                </a:lnSpc>
              </a:pPr>
              <a:r>
                <a:rPr lang="en-US" sz="1950">
                  <a:solidFill>
                    <a:srgbClr val="20262E"/>
                  </a:solidFill>
                  <a:latin typeface="Calibri (MS)"/>
                  <a:ea typeface="Calibri (MS)"/>
                  <a:cs typeface="Calibri (MS)"/>
                  <a:sym typeface="Calibri (MS)"/>
                </a:rPr>
                <a:t>HCPs and accounts with high alert AND prescription activity</a:t>
              </a:r>
            </a:p>
          </p:txBody>
        </p:sp>
      </p:grpSp>
      <p:grpSp>
        <p:nvGrpSpPr>
          <p:cNvPr name="Group 32" id="32"/>
          <p:cNvGrpSpPr/>
          <p:nvPr/>
        </p:nvGrpSpPr>
        <p:grpSpPr>
          <a:xfrm rot="0">
            <a:off x="9395460" y="4361688"/>
            <a:ext cx="576072" cy="576072"/>
            <a:chOff x="0" y="0"/>
            <a:chExt cx="768096" cy="768096"/>
          </a:xfrm>
        </p:grpSpPr>
        <p:sp>
          <p:nvSpPr>
            <p:cNvPr name="Freeform 33" id="33"/>
            <p:cNvSpPr/>
            <p:nvPr/>
          </p:nvSpPr>
          <p:spPr>
            <a:xfrm flipH="false" flipV="false" rot="0">
              <a:off x="0" y="0"/>
              <a:ext cx="768096" cy="768096"/>
            </a:xfrm>
            <a:custGeom>
              <a:avLst/>
              <a:gdLst/>
              <a:ahLst/>
              <a:cxnLst/>
              <a:rect r="r" b="b" t="t" l="l"/>
              <a:pathLst>
                <a:path h="768096" w="768096">
                  <a:moveTo>
                    <a:pt x="0" y="146304"/>
                  </a:moveTo>
                  <a:cubicBezTo>
                    <a:pt x="0" y="65532"/>
                    <a:pt x="65532" y="0"/>
                    <a:pt x="146304" y="0"/>
                  </a:cubicBezTo>
                  <a:lnTo>
                    <a:pt x="621792" y="0"/>
                  </a:lnTo>
                  <a:cubicBezTo>
                    <a:pt x="702564" y="0"/>
                    <a:pt x="768096" y="65532"/>
                    <a:pt x="768096" y="146304"/>
                  </a:cubicBezTo>
                  <a:lnTo>
                    <a:pt x="768096" y="621792"/>
                  </a:lnTo>
                  <a:cubicBezTo>
                    <a:pt x="768096" y="702564"/>
                    <a:pt x="702564" y="768096"/>
                    <a:pt x="621792" y="768096"/>
                  </a:cubicBezTo>
                  <a:lnTo>
                    <a:pt x="146304" y="768096"/>
                  </a:lnTo>
                  <a:cubicBezTo>
                    <a:pt x="65532" y="768096"/>
                    <a:pt x="0" y="702564"/>
                    <a:pt x="0" y="621792"/>
                  </a:cubicBezTo>
                  <a:close/>
                </a:path>
              </a:pathLst>
            </a:custGeom>
            <a:solidFill>
              <a:srgbClr val="16213E"/>
            </a:solidFill>
          </p:spPr>
        </p:sp>
      </p:grpSp>
      <p:grpSp>
        <p:nvGrpSpPr>
          <p:cNvPr name="Group 34" id="34"/>
          <p:cNvGrpSpPr/>
          <p:nvPr/>
        </p:nvGrpSpPr>
        <p:grpSpPr>
          <a:xfrm rot="0">
            <a:off x="9395460" y="4361688"/>
            <a:ext cx="576072" cy="576072"/>
            <a:chOff x="0" y="0"/>
            <a:chExt cx="768096" cy="768096"/>
          </a:xfrm>
        </p:grpSpPr>
        <p:sp>
          <p:nvSpPr>
            <p:cNvPr name="Freeform 35" id="35"/>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3">
                <a:alphaModFix amt="0"/>
              </a:blip>
              <a:stretch>
                <a:fillRect l="-78303" t="0" r="-78303" b="0"/>
              </a:stretch>
            </a:blipFill>
          </p:spPr>
        </p:sp>
        <p:sp>
          <p:nvSpPr>
            <p:cNvPr name="TextBox 36" id="36"/>
            <p:cNvSpPr txBox="true"/>
            <p:nvPr/>
          </p:nvSpPr>
          <p:spPr>
            <a:xfrm>
              <a:off x="0" y="-47625"/>
              <a:ext cx="768096" cy="815721"/>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2</a:t>
              </a:r>
            </a:p>
          </p:txBody>
        </p:sp>
      </p:grpSp>
      <p:grpSp>
        <p:nvGrpSpPr>
          <p:cNvPr name="Group 37" id="37"/>
          <p:cNvGrpSpPr/>
          <p:nvPr/>
        </p:nvGrpSpPr>
        <p:grpSpPr>
          <a:xfrm rot="0">
            <a:off x="10177272" y="4334256"/>
            <a:ext cx="7338060" cy="822960"/>
            <a:chOff x="0" y="0"/>
            <a:chExt cx="9784080" cy="1097280"/>
          </a:xfrm>
        </p:grpSpPr>
        <p:sp>
          <p:nvSpPr>
            <p:cNvPr name="Freeform 38" id="38"/>
            <p:cNvSpPr/>
            <p:nvPr/>
          </p:nvSpPr>
          <p:spPr>
            <a:xfrm flipH="false" flipV="false" rot="0">
              <a:off x="0" y="0"/>
              <a:ext cx="9784080" cy="1097280"/>
            </a:xfrm>
            <a:custGeom>
              <a:avLst/>
              <a:gdLst/>
              <a:ahLst/>
              <a:cxnLst/>
              <a:rect r="r" b="b" t="t" l="l"/>
              <a:pathLst>
                <a:path h="1097280" w="9784080">
                  <a:moveTo>
                    <a:pt x="0" y="0"/>
                  </a:moveTo>
                  <a:lnTo>
                    <a:pt x="9784080" y="0"/>
                  </a:lnTo>
                  <a:lnTo>
                    <a:pt x="9784080" y="1097280"/>
                  </a:lnTo>
                  <a:lnTo>
                    <a:pt x="0" y="1097280"/>
                  </a:lnTo>
                  <a:close/>
                </a:path>
              </a:pathLst>
            </a:custGeom>
            <a:blipFill>
              <a:blip r:embed="rId3">
                <a:alphaModFix amt="0"/>
              </a:blip>
              <a:stretch>
                <a:fillRect l="0" t="-123741" r="0" b="-123741"/>
              </a:stretch>
            </a:blipFill>
          </p:spPr>
        </p:sp>
        <p:sp>
          <p:nvSpPr>
            <p:cNvPr name="TextBox 39" id="39"/>
            <p:cNvSpPr txBox="true"/>
            <p:nvPr/>
          </p:nvSpPr>
          <p:spPr>
            <a:xfrm>
              <a:off x="0" y="-47625"/>
              <a:ext cx="9784080" cy="1144905"/>
            </a:xfrm>
            <a:prstGeom prst="rect">
              <a:avLst/>
            </a:prstGeom>
          </p:spPr>
          <p:txBody>
            <a:bodyPr anchor="ctr" rtlCol="false" tIns="0" lIns="0" bIns="0" rIns="0"/>
            <a:lstStyle/>
            <a:p>
              <a:pPr algn="l">
                <a:lnSpc>
                  <a:spcPts val="2340"/>
                </a:lnSpc>
              </a:pPr>
              <a:r>
                <a:rPr lang="en-US" sz="1950">
                  <a:solidFill>
                    <a:srgbClr val="20262E"/>
                  </a:solidFill>
                  <a:latin typeface="Calibri (MS)"/>
                  <a:ea typeface="Calibri (MS)"/>
                  <a:cs typeface="Calibri (MS)"/>
                  <a:sym typeface="Calibri (MS)"/>
                </a:rPr>
                <a:t>Doctors with strong clinical signals but few or no prescriptions</a:t>
              </a:r>
            </a:p>
          </p:txBody>
        </p:sp>
      </p:grpSp>
      <p:grpSp>
        <p:nvGrpSpPr>
          <p:cNvPr name="Group 40" id="40"/>
          <p:cNvGrpSpPr/>
          <p:nvPr/>
        </p:nvGrpSpPr>
        <p:grpSpPr>
          <a:xfrm rot="0">
            <a:off x="9395460" y="5431536"/>
            <a:ext cx="576072" cy="576072"/>
            <a:chOff x="0" y="0"/>
            <a:chExt cx="768096" cy="768096"/>
          </a:xfrm>
        </p:grpSpPr>
        <p:sp>
          <p:nvSpPr>
            <p:cNvPr name="Freeform 41" id="41"/>
            <p:cNvSpPr/>
            <p:nvPr/>
          </p:nvSpPr>
          <p:spPr>
            <a:xfrm flipH="false" flipV="false" rot="0">
              <a:off x="0" y="0"/>
              <a:ext cx="768096" cy="768096"/>
            </a:xfrm>
            <a:custGeom>
              <a:avLst/>
              <a:gdLst/>
              <a:ahLst/>
              <a:cxnLst/>
              <a:rect r="r" b="b" t="t" l="l"/>
              <a:pathLst>
                <a:path h="768096" w="768096">
                  <a:moveTo>
                    <a:pt x="0" y="146304"/>
                  </a:moveTo>
                  <a:cubicBezTo>
                    <a:pt x="0" y="65532"/>
                    <a:pt x="65532" y="0"/>
                    <a:pt x="146304" y="0"/>
                  </a:cubicBezTo>
                  <a:lnTo>
                    <a:pt x="621792" y="0"/>
                  </a:lnTo>
                  <a:cubicBezTo>
                    <a:pt x="702564" y="0"/>
                    <a:pt x="768096" y="65532"/>
                    <a:pt x="768096" y="146304"/>
                  </a:cubicBezTo>
                  <a:lnTo>
                    <a:pt x="768096" y="621792"/>
                  </a:lnTo>
                  <a:cubicBezTo>
                    <a:pt x="768096" y="702564"/>
                    <a:pt x="702564" y="768096"/>
                    <a:pt x="621792" y="768096"/>
                  </a:cubicBezTo>
                  <a:lnTo>
                    <a:pt x="146304" y="768096"/>
                  </a:lnTo>
                  <a:cubicBezTo>
                    <a:pt x="65532" y="768096"/>
                    <a:pt x="0" y="702564"/>
                    <a:pt x="0" y="621792"/>
                  </a:cubicBezTo>
                  <a:close/>
                </a:path>
              </a:pathLst>
            </a:custGeom>
            <a:solidFill>
              <a:srgbClr val="16213E"/>
            </a:solidFill>
          </p:spPr>
        </p:sp>
      </p:grpSp>
      <p:grpSp>
        <p:nvGrpSpPr>
          <p:cNvPr name="Group 42" id="42"/>
          <p:cNvGrpSpPr/>
          <p:nvPr/>
        </p:nvGrpSpPr>
        <p:grpSpPr>
          <a:xfrm rot="0">
            <a:off x="9395460" y="5431536"/>
            <a:ext cx="576072" cy="576072"/>
            <a:chOff x="0" y="0"/>
            <a:chExt cx="768096" cy="768096"/>
          </a:xfrm>
        </p:grpSpPr>
        <p:sp>
          <p:nvSpPr>
            <p:cNvPr name="Freeform 43" id="43"/>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3">
                <a:alphaModFix amt="0"/>
              </a:blip>
              <a:stretch>
                <a:fillRect l="-78303" t="0" r="-78303" b="0"/>
              </a:stretch>
            </a:blipFill>
          </p:spPr>
        </p:sp>
        <p:sp>
          <p:nvSpPr>
            <p:cNvPr name="TextBox 44" id="44"/>
            <p:cNvSpPr txBox="true"/>
            <p:nvPr/>
          </p:nvSpPr>
          <p:spPr>
            <a:xfrm>
              <a:off x="0" y="-47625"/>
              <a:ext cx="768096" cy="815721"/>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3</a:t>
              </a:r>
            </a:p>
          </p:txBody>
        </p:sp>
      </p:grpSp>
      <p:grpSp>
        <p:nvGrpSpPr>
          <p:cNvPr name="Group 45" id="45"/>
          <p:cNvGrpSpPr/>
          <p:nvPr/>
        </p:nvGrpSpPr>
        <p:grpSpPr>
          <a:xfrm rot="0">
            <a:off x="10177272" y="5404104"/>
            <a:ext cx="7338060" cy="822960"/>
            <a:chOff x="0" y="0"/>
            <a:chExt cx="9784080" cy="1097280"/>
          </a:xfrm>
        </p:grpSpPr>
        <p:sp>
          <p:nvSpPr>
            <p:cNvPr name="Freeform 46" id="46"/>
            <p:cNvSpPr/>
            <p:nvPr/>
          </p:nvSpPr>
          <p:spPr>
            <a:xfrm flipH="false" flipV="false" rot="0">
              <a:off x="0" y="0"/>
              <a:ext cx="9784080" cy="1097280"/>
            </a:xfrm>
            <a:custGeom>
              <a:avLst/>
              <a:gdLst/>
              <a:ahLst/>
              <a:cxnLst/>
              <a:rect r="r" b="b" t="t" l="l"/>
              <a:pathLst>
                <a:path h="1097280" w="9784080">
                  <a:moveTo>
                    <a:pt x="0" y="0"/>
                  </a:moveTo>
                  <a:lnTo>
                    <a:pt x="9784080" y="0"/>
                  </a:lnTo>
                  <a:lnTo>
                    <a:pt x="9784080" y="1097280"/>
                  </a:lnTo>
                  <a:lnTo>
                    <a:pt x="0" y="1097280"/>
                  </a:lnTo>
                  <a:close/>
                </a:path>
              </a:pathLst>
            </a:custGeom>
            <a:blipFill>
              <a:blip r:embed="rId3">
                <a:alphaModFix amt="0"/>
              </a:blip>
              <a:stretch>
                <a:fillRect l="0" t="-123741" r="0" b="-123741"/>
              </a:stretch>
            </a:blipFill>
          </p:spPr>
        </p:sp>
        <p:sp>
          <p:nvSpPr>
            <p:cNvPr name="TextBox 47" id="47"/>
            <p:cNvSpPr txBox="true"/>
            <p:nvPr/>
          </p:nvSpPr>
          <p:spPr>
            <a:xfrm>
              <a:off x="0" y="-47625"/>
              <a:ext cx="9784080" cy="1144905"/>
            </a:xfrm>
            <a:prstGeom prst="rect">
              <a:avLst/>
            </a:prstGeom>
          </p:spPr>
          <p:txBody>
            <a:bodyPr anchor="ctr" rtlCol="false" tIns="0" lIns="0" bIns="0" rIns="0"/>
            <a:lstStyle/>
            <a:p>
              <a:pPr algn="l">
                <a:lnSpc>
                  <a:spcPts val="2340"/>
                </a:lnSpc>
              </a:pPr>
              <a:r>
                <a:rPr lang="en-US" sz="1950">
                  <a:solidFill>
                    <a:srgbClr val="20262E"/>
                  </a:solidFill>
                  <a:latin typeface="Calibri (MS)"/>
                  <a:ea typeface="Calibri (MS)"/>
                  <a:cs typeface="Calibri (MS)"/>
                  <a:sym typeface="Calibri (MS)"/>
                </a:rPr>
                <a:t>Accounts with low prescription activity relative to their doctor base</a:t>
              </a:r>
            </a:p>
          </p:txBody>
        </p:sp>
      </p:grpSp>
      <p:grpSp>
        <p:nvGrpSpPr>
          <p:cNvPr name="Group 48" id="48"/>
          <p:cNvGrpSpPr/>
          <p:nvPr/>
        </p:nvGrpSpPr>
        <p:grpSpPr>
          <a:xfrm rot="0">
            <a:off x="9395460" y="6501384"/>
            <a:ext cx="576072" cy="576072"/>
            <a:chOff x="0" y="0"/>
            <a:chExt cx="768096" cy="768096"/>
          </a:xfrm>
        </p:grpSpPr>
        <p:sp>
          <p:nvSpPr>
            <p:cNvPr name="Freeform 49" id="49"/>
            <p:cNvSpPr/>
            <p:nvPr/>
          </p:nvSpPr>
          <p:spPr>
            <a:xfrm flipH="false" flipV="false" rot="0">
              <a:off x="0" y="0"/>
              <a:ext cx="768096" cy="768096"/>
            </a:xfrm>
            <a:custGeom>
              <a:avLst/>
              <a:gdLst/>
              <a:ahLst/>
              <a:cxnLst/>
              <a:rect r="r" b="b" t="t" l="l"/>
              <a:pathLst>
                <a:path h="768096" w="768096">
                  <a:moveTo>
                    <a:pt x="0" y="146304"/>
                  </a:moveTo>
                  <a:cubicBezTo>
                    <a:pt x="0" y="65532"/>
                    <a:pt x="65532" y="0"/>
                    <a:pt x="146304" y="0"/>
                  </a:cubicBezTo>
                  <a:lnTo>
                    <a:pt x="621792" y="0"/>
                  </a:lnTo>
                  <a:cubicBezTo>
                    <a:pt x="702564" y="0"/>
                    <a:pt x="768096" y="65532"/>
                    <a:pt x="768096" y="146304"/>
                  </a:cubicBezTo>
                  <a:lnTo>
                    <a:pt x="768096" y="621792"/>
                  </a:lnTo>
                  <a:cubicBezTo>
                    <a:pt x="768096" y="702564"/>
                    <a:pt x="702564" y="768096"/>
                    <a:pt x="621792" y="768096"/>
                  </a:cubicBezTo>
                  <a:lnTo>
                    <a:pt x="146304" y="768096"/>
                  </a:lnTo>
                  <a:cubicBezTo>
                    <a:pt x="65532" y="768096"/>
                    <a:pt x="0" y="702564"/>
                    <a:pt x="0" y="621792"/>
                  </a:cubicBezTo>
                  <a:close/>
                </a:path>
              </a:pathLst>
            </a:custGeom>
            <a:solidFill>
              <a:srgbClr val="16213E"/>
            </a:solidFill>
          </p:spPr>
        </p:sp>
      </p:grpSp>
      <p:grpSp>
        <p:nvGrpSpPr>
          <p:cNvPr name="Group 50" id="50"/>
          <p:cNvGrpSpPr/>
          <p:nvPr/>
        </p:nvGrpSpPr>
        <p:grpSpPr>
          <a:xfrm rot="0">
            <a:off x="9395460" y="6501384"/>
            <a:ext cx="576072" cy="576072"/>
            <a:chOff x="0" y="0"/>
            <a:chExt cx="768096" cy="768096"/>
          </a:xfrm>
        </p:grpSpPr>
        <p:sp>
          <p:nvSpPr>
            <p:cNvPr name="Freeform 51" id="51"/>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3">
                <a:alphaModFix amt="0"/>
              </a:blip>
              <a:stretch>
                <a:fillRect l="-78303" t="0" r="-78303" b="0"/>
              </a:stretch>
            </a:blipFill>
          </p:spPr>
        </p:sp>
        <p:sp>
          <p:nvSpPr>
            <p:cNvPr name="TextBox 52" id="52"/>
            <p:cNvSpPr txBox="true"/>
            <p:nvPr/>
          </p:nvSpPr>
          <p:spPr>
            <a:xfrm>
              <a:off x="0" y="-47625"/>
              <a:ext cx="768096" cy="815721"/>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4</a:t>
              </a:r>
            </a:p>
          </p:txBody>
        </p:sp>
      </p:grpSp>
      <p:grpSp>
        <p:nvGrpSpPr>
          <p:cNvPr name="Group 53" id="53"/>
          <p:cNvGrpSpPr/>
          <p:nvPr/>
        </p:nvGrpSpPr>
        <p:grpSpPr>
          <a:xfrm rot="0">
            <a:off x="10177272" y="6473952"/>
            <a:ext cx="7338060" cy="822960"/>
            <a:chOff x="0" y="0"/>
            <a:chExt cx="9784080" cy="1097280"/>
          </a:xfrm>
        </p:grpSpPr>
        <p:sp>
          <p:nvSpPr>
            <p:cNvPr name="Freeform 54" id="54"/>
            <p:cNvSpPr/>
            <p:nvPr/>
          </p:nvSpPr>
          <p:spPr>
            <a:xfrm flipH="false" flipV="false" rot="0">
              <a:off x="0" y="0"/>
              <a:ext cx="9784080" cy="1097280"/>
            </a:xfrm>
            <a:custGeom>
              <a:avLst/>
              <a:gdLst/>
              <a:ahLst/>
              <a:cxnLst/>
              <a:rect r="r" b="b" t="t" l="l"/>
              <a:pathLst>
                <a:path h="1097280" w="9784080">
                  <a:moveTo>
                    <a:pt x="0" y="0"/>
                  </a:moveTo>
                  <a:lnTo>
                    <a:pt x="9784080" y="0"/>
                  </a:lnTo>
                  <a:lnTo>
                    <a:pt x="9784080" y="1097280"/>
                  </a:lnTo>
                  <a:lnTo>
                    <a:pt x="0" y="1097280"/>
                  </a:lnTo>
                  <a:close/>
                </a:path>
              </a:pathLst>
            </a:custGeom>
            <a:blipFill>
              <a:blip r:embed="rId3">
                <a:alphaModFix amt="0"/>
              </a:blip>
              <a:stretch>
                <a:fillRect l="0" t="-123741" r="0" b="-123741"/>
              </a:stretch>
            </a:blipFill>
          </p:spPr>
        </p:sp>
        <p:sp>
          <p:nvSpPr>
            <p:cNvPr name="TextBox 55" id="55"/>
            <p:cNvSpPr txBox="true"/>
            <p:nvPr/>
          </p:nvSpPr>
          <p:spPr>
            <a:xfrm>
              <a:off x="0" y="-47625"/>
              <a:ext cx="9784080" cy="1144905"/>
            </a:xfrm>
            <a:prstGeom prst="rect">
              <a:avLst/>
            </a:prstGeom>
          </p:spPr>
          <p:txBody>
            <a:bodyPr anchor="ctr" rtlCol="false" tIns="0" lIns="0" bIns="0" rIns="0"/>
            <a:lstStyle/>
            <a:p>
              <a:pPr algn="l">
                <a:lnSpc>
                  <a:spcPts val="2340"/>
                </a:lnSpc>
              </a:pPr>
              <a:r>
                <a:rPr lang="en-US" sz="1950">
                  <a:solidFill>
                    <a:srgbClr val="20262E"/>
                  </a:solidFill>
                  <a:latin typeface="Calibri (MS)"/>
                  <a:ea typeface="Calibri (MS)"/>
                  <a:cs typeface="Calibri (MS)"/>
                  <a:sym typeface="Calibri (MS)"/>
                </a:rPr>
                <a:t>HCPs and accounts the sales team should prioritize next quarter</a:t>
              </a:r>
            </a:p>
          </p:txBody>
        </p:sp>
      </p:grpSp>
      <p:grpSp>
        <p:nvGrpSpPr>
          <p:cNvPr name="Group 56" id="56"/>
          <p:cNvGrpSpPr/>
          <p:nvPr/>
        </p:nvGrpSpPr>
        <p:grpSpPr>
          <a:xfrm rot="0">
            <a:off x="9395460" y="7612380"/>
            <a:ext cx="8092440" cy="1645920"/>
            <a:chOff x="0" y="0"/>
            <a:chExt cx="10789920" cy="2194560"/>
          </a:xfrm>
        </p:grpSpPr>
        <p:sp>
          <p:nvSpPr>
            <p:cNvPr name="Freeform 57" id="57"/>
            <p:cNvSpPr/>
            <p:nvPr/>
          </p:nvSpPr>
          <p:spPr>
            <a:xfrm flipH="false" flipV="false" rot="0">
              <a:off x="0" y="0"/>
              <a:ext cx="10789920" cy="2194560"/>
            </a:xfrm>
            <a:custGeom>
              <a:avLst/>
              <a:gdLst/>
              <a:ahLst/>
              <a:cxnLst/>
              <a:rect r="r" b="b" t="t" l="l"/>
              <a:pathLst>
                <a:path h="2194560" w="10789920">
                  <a:moveTo>
                    <a:pt x="0" y="146304"/>
                  </a:moveTo>
                  <a:cubicBezTo>
                    <a:pt x="0" y="65532"/>
                    <a:pt x="65532" y="0"/>
                    <a:pt x="146304" y="0"/>
                  </a:cubicBezTo>
                  <a:lnTo>
                    <a:pt x="10643616" y="0"/>
                  </a:lnTo>
                  <a:cubicBezTo>
                    <a:pt x="10724388" y="0"/>
                    <a:pt x="10789920" y="65532"/>
                    <a:pt x="10789920" y="146304"/>
                  </a:cubicBezTo>
                  <a:lnTo>
                    <a:pt x="10789920" y="2048256"/>
                  </a:lnTo>
                  <a:cubicBezTo>
                    <a:pt x="10789920" y="2129028"/>
                    <a:pt x="10724388" y="2194560"/>
                    <a:pt x="10643616" y="2194560"/>
                  </a:cubicBezTo>
                  <a:lnTo>
                    <a:pt x="146304" y="2194560"/>
                  </a:lnTo>
                  <a:cubicBezTo>
                    <a:pt x="65532" y="2194560"/>
                    <a:pt x="0" y="2129028"/>
                    <a:pt x="0" y="2048256"/>
                  </a:cubicBezTo>
                  <a:close/>
                </a:path>
              </a:pathLst>
            </a:custGeom>
            <a:solidFill>
              <a:srgbClr val="16213E"/>
            </a:solidFill>
          </p:spPr>
        </p:sp>
      </p:grpSp>
      <p:grpSp>
        <p:nvGrpSpPr>
          <p:cNvPr name="Group 58" id="58"/>
          <p:cNvGrpSpPr/>
          <p:nvPr/>
        </p:nvGrpSpPr>
        <p:grpSpPr>
          <a:xfrm rot="0">
            <a:off x="9806940" y="7790688"/>
            <a:ext cx="6858000" cy="384048"/>
            <a:chOff x="0" y="0"/>
            <a:chExt cx="9144000" cy="512064"/>
          </a:xfrm>
        </p:grpSpPr>
        <p:sp>
          <p:nvSpPr>
            <p:cNvPr name="Freeform 59" id="59"/>
            <p:cNvSpPr/>
            <p:nvPr/>
          </p:nvSpPr>
          <p:spPr>
            <a:xfrm flipH="false" flipV="false" rot="0">
              <a:off x="0" y="0"/>
              <a:ext cx="9144000" cy="512064"/>
            </a:xfrm>
            <a:custGeom>
              <a:avLst/>
              <a:gdLst/>
              <a:ahLst/>
              <a:cxnLst/>
              <a:rect r="r" b="b" t="t" l="l"/>
              <a:pathLst>
                <a:path h="512064" w="9144000">
                  <a:moveTo>
                    <a:pt x="0" y="0"/>
                  </a:moveTo>
                  <a:lnTo>
                    <a:pt x="9144000" y="0"/>
                  </a:lnTo>
                  <a:lnTo>
                    <a:pt x="9144000" y="512064"/>
                  </a:lnTo>
                  <a:lnTo>
                    <a:pt x="0" y="512064"/>
                  </a:lnTo>
                  <a:close/>
                </a:path>
              </a:pathLst>
            </a:custGeom>
            <a:blipFill>
              <a:blip r:embed="rId3">
                <a:alphaModFix amt="0"/>
              </a:blip>
              <a:stretch>
                <a:fillRect l="0" t="-297947" r="0" b="-297947"/>
              </a:stretch>
            </a:blipFill>
          </p:spPr>
        </p:sp>
        <p:sp>
          <p:nvSpPr>
            <p:cNvPr name="TextBox 60" id="60"/>
            <p:cNvSpPr txBox="true"/>
            <p:nvPr/>
          </p:nvSpPr>
          <p:spPr>
            <a:xfrm>
              <a:off x="0" y="-28575"/>
              <a:ext cx="9144000" cy="540639"/>
            </a:xfrm>
            <a:prstGeom prst="rect">
              <a:avLst/>
            </a:prstGeom>
          </p:spPr>
          <p:txBody>
            <a:bodyPr anchor="ctr" rtlCol="false" tIns="0" lIns="0" bIns="0" rIns="0"/>
            <a:lstStyle/>
            <a:p>
              <a:pPr algn="l">
                <a:lnSpc>
                  <a:spcPts val="1980"/>
                </a:lnSpc>
              </a:pPr>
              <a:r>
                <a:rPr lang="en-US" b="true" sz="1650" spc="225">
                  <a:solidFill>
                    <a:srgbClr val="E8A33D"/>
                  </a:solidFill>
                  <a:latin typeface="Calibri (MS) Bold"/>
                  <a:ea typeface="Calibri (MS) Bold"/>
                  <a:cs typeface="Calibri (MS) Bold"/>
                  <a:sym typeface="Calibri (MS) Bold"/>
                </a:rPr>
                <a:t>GOAL</a:t>
              </a:r>
            </a:p>
          </p:txBody>
        </p:sp>
      </p:grpSp>
      <p:grpSp>
        <p:nvGrpSpPr>
          <p:cNvPr name="Group 61" id="61"/>
          <p:cNvGrpSpPr/>
          <p:nvPr/>
        </p:nvGrpSpPr>
        <p:grpSpPr>
          <a:xfrm rot="0">
            <a:off x="9806940" y="8161020"/>
            <a:ext cx="7338060" cy="960120"/>
            <a:chOff x="0" y="0"/>
            <a:chExt cx="9784080" cy="1280160"/>
          </a:xfrm>
        </p:grpSpPr>
        <p:sp>
          <p:nvSpPr>
            <p:cNvPr name="Freeform 62" id="62"/>
            <p:cNvSpPr/>
            <p:nvPr/>
          </p:nvSpPr>
          <p:spPr>
            <a:xfrm flipH="false" flipV="false" rot="0">
              <a:off x="0" y="0"/>
              <a:ext cx="9784080" cy="1280160"/>
            </a:xfrm>
            <a:custGeom>
              <a:avLst/>
              <a:gdLst/>
              <a:ahLst/>
              <a:cxnLst/>
              <a:rect r="r" b="b" t="t" l="l"/>
              <a:pathLst>
                <a:path h="1280160" w="9784080">
                  <a:moveTo>
                    <a:pt x="0" y="0"/>
                  </a:moveTo>
                  <a:lnTo>
                    <a:pt x="9784080" y="0"/>
                  </a:lnTo>
                  <a:lnTo>
                    <a:pt x="9784080" y="1280160"/>
                  </a:lnTo>
                  <a:lnTo>
                    <a:pt x="0" y="1280160"/>
                  </a:lnTo>
                  <a:close/>
                </a:path>
              </a:pathLst>
            </a:custGeom>
            <a:blipFill>
              <a:blip r:embed="rId3">
                <a:alphaModFix amt="0"/>
              </a:blip>
              <a:stretch>
                <a:fillRect l="0" t="-98921" r="0" b="-98921"/>
              </a:stretch>
            </a:blipFill>
          </p:spPr>
        </p:sp>
        <p:sp>
          <p:nvSpPr>
            <p:cNvPr name="TextBox 63" id="63"/>
            <p:cNvSpPr txBox="true"/>
            <p:nvPr/>
          </p:nvSpPr>
          <p:spPr>
            <a:xfrm>
              <a:off x="0" y="-66675"/>
              <a:ext cx="9784080" cy="1346835"/>
            </a:xfrm>
            <a:prstGeom prst="rect">
              <a:avLst/>
            </a:prstGeom>
          </p:spPr>
          <p:txBody>
            <a:bodyPr anchor="ctr" rtlCol="false" tIns="0" lIns="0" bIns="0" rIns="0"/>
            <a:lstStyle/>
            <a:p>
              <a:pPr algn="l">
                <a:lnSpc>
                  <a:spcPts val="2483"/>
                </a:lnSpc>
              </a:pPr>
              <a:r>
                <a:rPr lang="en-US" sz="1800" i="true">
                  <a:solidFill>
                    <a:srgbClr val="FFFFFF"/>
                  </a:solidFill>
                  <a:latin typeface="Calibri (MS) Italics"/>
                  <a:ea typeface="Calibri (MS) Italics"/>
                  <a:cs typeface="Calibri (MS) Italics"/>
                  <a:sym typeface="Calibri (MS) Italics"/>
                </a:rPr>
                <a:t>Connect diagnostic activity with prescribing behavior and translate the insights into a clear, data-driven action plan.</a:t>
              </a:r>
            </a:p>
          </p:txBody>
        </p:sp>
      </p:grpSp>
      <p:grpSp>
        <p:nvGrpSpPr>
          <p:cNvPr name="Group 64" id="64"/>
          <p:cNvGrpSpPr/>
          <p:nvPr/>
        </p:nvGrpSpPr>
        <p:grpSpPr>
          <a:xfrm rot="0">
            <a:off x="17282160" y="9806940"/>
            <a:ext cx="685800" cy="411480"/>
            <a:chOff x="0" y="0"/>
            <a:chExt cx="914400" cy="548640"/>
          </a:xfrm>
        </p:grpSpPr>
        <p:sp>
          <p:nvSpPr>
            <p:cNvPr name="Freeform 65" id="65"/>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66" id="66"/>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67085"/>
                  </a:solidFill>
                  <a:latin typeface="Calibri (MS)"/>
                  <a:ea typeface="Calibri (MS)"/>
                  <a:cs typeface="Calibri (MS)"/>
                  <a:sym typeface="Calibri (MS)"/>
                </a:rPr>
                <a:t>2</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4380" y="850392"/>
            <a:ext cx="16733520" cy="1028700"/>
            <a:chOff x="0" y="0"/>
            <a:chExt cx="22311360" cy="1371600"/>
          </a:xfrm>
        </p:grpSpPr>
        <p:sp>
          <p:nvSpPr>
            <p:cNvPr name="Freeform 3" id="3"/>
            <p:cNvSpPr/>
            <p:nvPr/>
          </p:nvSpPr>
          <p:spPr>
            <a:xfrm flipH="false" flipV="false" rot="0">
              <a:off x="0" y="0"/>
              <a:ext cx="22311361" cy="1371600"/>
            </a:xfrm>
            <a:custGeom>
              <a:avLst/>
              <a:gdLst/>
              <a:ahLst/>
              <a:cxnLst/>
              <a:rect r="r" b="b" t="t" l="l"/>
              <a:pathLst>
                <a:path h="1371600" w="22311361">
                  <a:moveTo>
                    <a:pt x="0" y="0"/>
                  </a:moveTo>
                  <a:lnTo>
                    <a:pt x="22311361" y="0"/>
                  </a:lnTo>
                  <a:lnTo>
                    <a:pt x="22311361" y="1371600"/>
                  </a:lnTo>
                  <a:lnTo>
                    <a:pt x="0" y="1371600"/>
                  </a:lnTo>
                  <a:close/>
                </a:path>
              </a:pathLst>
            </a:custGeom>
            <a:blipFill>
              <a:blip r:embed="rId3">
                <a:alphaModFix amt="0"/>
              </a:blip>
              <a:stretch>
                <a:fillRect l="0" t="-266956" r="0" b="-266956"/>
              </a:stretch>
            </a:blipFill>
          </p:spPr>
        </p:sp>
        <p:sp>
          <p:nvSpPr>
            <p:cNvPr name="TextBox 4" id="4"/>
            <p:cNvSpPr txBox="true"/>
            <p:nvPr/>
          </p:nvSpPr>
          <p:spPr>
            <a:xfrm>
              <a:off x="0" y="-9525"/>
              <a:ext cx="22311360" cy="1381125"/>
            </a:xfrm>
            <a:prstGeom prst="rect">
              <a:avLst/>
            </a:prstGeom>
          </p:spPr>
          <p:txBody>
            <a:bodyPr anchor="ctr" rtlCol="false" tIns="0" lIns="0" bIns="0" rIns="0"/>
            <a:lstStyle/>
            <a:p>
              <a:pPr algn="l">
                <a:lnSpc>
                  <a:spcPts val="4680"/>
                </a:lnSpc>
              </a:pPr>
              <a:r>
                <a:rPr lang="en-US" sz="3900" b="true">
                  <a:solidFill>
                    <a:srgbClr val="16213E"/>
                  </a:solidFill>
                  <a:latin typeface="Georgia Bold"/>
                  <a:ea typeface="Georgia Bold"/>
                  <a:cs typeface="Georgia Bold"/>
                  <a:sym typeface="Georgia Bold"/>
                </a:rPr>
                <a:t>Datasets Overview</a:t>
              </a:r>
            </a:p>
          </p:txBody>
        </p:sp>
      </p:grpSp>
      <p:grpSp>
        <p:nvGrpSpPr>
          <p:cNvPr name="Group 5" id="5"/>
          <p:cNvGrpSpPr/>
          <p:nvPr/>
        </p:nvGrpSpPr>
        <p:grpSpPr>
          <a:xfrm rot="0">
            <a:off x="754380" y="2057400"/>
            <a:ext cx="16733520" cy="754380"/>
            <a:chOff x="0" y="0"/>
            <a:chExt cx="22311360" cy="1005840"/>
          </a:xfrm>
        </p:grpSpPr>
        <p:sp>
          <p:nvSpPr>
            <p:cNvPr name="Freeform 6" id="6"/>
            <p:cNvSpPr/>
            <p:nvPr/>
          </p:nvSpPr>
          <p:spPr>
            <a:xfrm flipH="false" flipV="false" rot="0">
              <a:off x="0" y="0"/>
              <a:ext cx="22311361" cy="1005840"/>
            </a:xfrm>
            <a:custGeom>
              <a:avLst/>
              <a:gdLst/>
              <a:ahLst/>
              <a:cxnLst/>
              <a:rect r="r" b="b" t="t" l="l"/>
              <a:pathLst>
                <a:path h="1005840" w="22311361">
                  <a:moveTo>
                    <a:pt x="0" y="0"/>
                  </a:moveTo>
                  <a:lnTo>
                    <a:pt x="22311361" y="0"/>
                  </a:lnTo>
                  <a:lnTo>
                    <a:pt x="22311361" y="1005840"/>
                  </a:lnTo>
                  <a:lnTo>
                    <a:pt x="0" y="1005840"/>
                  </a:lnTo>
                  <a:close/>
                </a:path>
              </a:pathLst>
            </a:custGeom>
            <a:blipFill>
              <a:blip r:embed="rId3">
                <a:alphaModFix amt="0"/>
              </a:blip>
              <a:stretch>
                <a:fillRect l="0" t="-382213" r="0" b="-382213"/>
              </a:stretch>
            </a:blipFill>
          </p:spPr>
        </p:sp>
        <p:sp>
          <p:nvSpPr>
            <p:cNvPr name="TextBox 7" id="7"/>
            <p:cNvSpPr txBox="true"/>
            <p:nvPr/>
          </p:nvSpPr>
          <p:spPr>
            <a:xfrm>
              <a:off x="0" y="-47625"/>
              <a:ext cx="22311360" cy="1053465"/>
            </a:xfrm>
            <a:prstGeom prst="rect">
              <a:avLst/>
            </a:prstGeom>
          </p:spPr>
          <p:txBody>
            <a:bodyPr anchor="ctr" rtlCol="false" tIns="0" lIns="0" bIns="0" rIns="0"/>
            <a:lstStyle/>
            <a:p>
              <a:pPr algn="l">
                <a:lnSpc>
                  <a:spcPts val="2340"/>
                </a:lnSpc>
              </a:pPr>
              <a:r>
                <a:rPr lang="en-US" sz="1950">
                  <a:solidFill>
                    <a:srgbClr val="667085"/>
                  </a:solidFill>
                  <a:latin typeface="Calibri (MS)"/>
                  <a:ea typeface="Calibri (MS)"/>
                  <a:cs typeface="Calibri (MS)"/>
                  <a:sym typeface="Calibri (MS)"/>
                </a:rPr>
                <a:t>Three datasets capture different stages of the patient treatment journey and are linked by HCP_ID. Connecting clinical activity to prescribing behavior surfaces missed opportunities and actionable strategies.</a:t>
              </a:r>
            </a:p>
          </p:txBody>
        </p:sp>
      </p:grpSp>
      <p:graphicFrame>
        <p:nvGraphicFramePr>
          <p:cNvPr name="Table 8" id="8"/>
          <p:cNvGraphicFramePr>
            <a:graphicFrameLocks noGrp="true"/>
          </p:cNvGraphicFramePr>
          <p:nvPr/>
        </p:nvGraphicFramePr>
        <p:xfrm>
          <a:off x="754380" y="3086100"/>
          <a:ext cx="16725900" cy="4438650"/>
        </p:xfrm>
        <a:graphic>
          <a:graphicData uri="http://schemas.openxmlformats.org/drawingml/2006/table">
            <a:tbl>
              <a:tblPr/>
              <a:tblGrid>
                <a:gridCol w="2207047"/>
                <a:gridCol w="1390043"/>
                <a:gridCol w="6292070"/>
                <a:gridCol w="6836740"/>
              </a:tblGrid>
              <a:tr h="626959">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Dataset</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16213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Rows</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16213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Key Columns</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16213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Purpose</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16213E"/>
                    </a:solidFill>
                  </a:tcPr>
                </a:tc>
              </a:tr>
              <a:tr h="1359337">
                <a:tc>
                  <a:txBody>
                    <a:bodyPr anchor="t" rtlCol="false"/>
                    <a:lstStyle/>
                    <a:p>
                      <a:pPr algn="ctr">
                        <a:lnSpc>
                          <a:spcPts val="2070"/>
                        </a:lnSpc>
                        <a:defRPr/>
                      </a:pPr>
                      <a:r>
                        <a:rPr lang="en-US" sz="1725">
                          <a:solidFill>
                            <a:srgbClr val="20262E"/>
                          </a:solidFill>
                          <a:latin typeface="Calibri (MS)"/>
                          <a:ea typeface="Calibri (MS)"/>
                          <a:cs typeface="Calibri (MS)"/>
                          <a:sym typeface="Calibri (MS)"/>
                        </a:rPr>
                        <a:t>Alerts</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FFFFFF"/>
                    </a:solidFill>
                  </a:tcPr>
                </a:tc>
                <a:tc>
                  <a:txBody>
                    <a:bodyPr anchor="t" rtlCol="false"/>
                    <a:lstStyle/>
                    <a:p>
                      <a:pPr algn="ctr">
                        <a:lnSpc>
                          <a:spcPts val="2070"/>
                        </a:lnSpc>
                        <a:defRPr/>
                      </a:pPr>
                      <a:r>
                        <a:rPr lang="en-US" sz="1725">
                          <a:solidFill>
                            <a:srgbClr val="20262E"/>
                          </a:solidFill>
                          <a:latin typeface="Calibri (MS)"/>
                          <a:ea typeface="Calibri (MS)"/>
                          <a:cs typeface="Calibri (MS)"/>
                          <a:sym typeface="Calibri (MS)"/>
                        </a:rPr>
                        <a:t>9,537</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FFFFFF"/>
                    </a:solidFill>
                  </a:tcPr>
                </a:tc>
                <a:tc>
                  <a:txBody>
                    <a:bodyPr anchor="t" rtlCol="false"/>
                    <a:lstStyle/>
                    <a:p>
                      <a:pPr algn="l">
                        <a:lnSpc>
                          <a:spcPts val="2070"/>
                        </a:lnSpc>
                        <a:defRPr/>
                      </a:pPr>
                      <a:r>
                        <a:rPr lang="en-US" sz="1725">
                          <a:solidFill>
                            <a:srgbClr val="20262E"/>
                          </a:solidFill>
                          <a:latin typeface="Calibri (MS)"/>
                          <a:ea typeface="Calibri (MS)"/>
                          <a:cs typeface="Calibri (MS)"/>
                          <a:sym typeface="Calibri (MS)"/>
                        </a:rPr>
                        <a:t>Alert_ID, Alert_Date, HCP_ID, Lab_Result</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FFFFFF"/>
                    </a:solidFill>
                  </a:tcPr>
                </a:tc>
                <a:tc>
                  <a:txBody>
                    <a:bodyPr anchor="t" rtlCol="false"/>
                    <a:lstStyle/>
                    <a:p>
                      <a:pPr algn="l">
                        <a:lnSpc>
                          <a:spcPts val="2070"/>
                        </a:lnSpc>
                        <a:defRPr/>
                      </a:pPr>
                      <a:r>
                        <a:rPr lang="en-US" sz="1725">
                          <a:solidFill>
                            <a:srgbClr val="20262E"/>
                          </a:solidFill>
                          <a:latin typeface="Calibri (MS)"/>
                          <a:ea typeface="Calibri (MS)"/>
                          <a:cs typeface="Calibri (MS)"/>
                          <a:sym typeface="Calibri (MS)"/>
                        </a:rPr>
                        <a:t>Clinical alerts tied to doctors indicating potential treatment need</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FFFFFF"/>
                    </a:solidFill>
                  </a:tcPr>
                </a:tc>
              </a:tr>
              <a:tr h="1359337">
                <a:tc>
                  <a:txBody>
                    <a:bodyPr anchor="t" rtlCol="false"/>
                    <a:lstStyle/>
                    <a:p>
                      <a:pPr algn="ctr">
                        <a:lnSpc>
                          <a:spcPts val="2070"/>
                        </a:lnSpc>
                        <a:defRPr/>
                      </a:pPr>
                      <a:r>
                        <a:rPr lang="en-US" sz="1725">
                          <a:solidFill>
                            <a:srgbClr val="20262E"/>
                          </a:solidFill>
                          <a:latin typeface="Calibri (MS)"/>
                          <a:ea typeface="Calibri (MS)"/>
                          <a:cs typeface="Calibri (MS)"/>
                          <a:sym typeface="Calibri (MS)"/>
                        </a:rPr>
                        <a:t>Sales</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EEF2F6"/>
                    </a:solidFill>
                  </a:tcPr>
                </a:tc>
                <a:tc>
                  <a:txBody>
                    <a:bodyPr anchor="t" rtlCol="false"/>
                    <a:lstStyle/>
                    <a:p>
                      <a:pPr algn="ctr">
                        <a:lnSpc>
                          <a:spcPts val="2070"/>
                        </a:lnSpc>
                        <a:defRPr/>
                      </a:pPr>
                      <a:r>
                        <a:rPr lang="en-US" sz="1725">
                          <a:solidFill>
                            <a:srgbClr val="20262E"/>
                          </a:solidFill>
                          <a:latin typeface="Calibri (MS)"/>
                          <a:ea typeface="Calibri (MS)"/>
                          <a:cs typeface="Calibri (MS)"/>
                          <a:sym typeface="Calibri (MS)"/>
                        </a:rPr>
                        <a:t>5,917</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EEF2F6"/>
                    </a:solidFill>
                  </a:tcPr>
                </a:tc>
                <a:tc>
                  <a:txBody>
                    <a:bodyPr anchor="t" rtlCol="false"/>
                    <a:lstStyle/>
                    <a:p>
                      <a:pPr algn="l">
                        <a:lnSpc>
                          <a:spcPts val="2070"/>
                        </a:lnSpc>
                        <a:defRPr/>
                      </a:pPr>
                      <a:r>
                        <a:rPr lang="en-US" sz="1725">
                          <a:solidFill>
                            <a:srgbClr val="20262E"/>
                          </a:solidFill>
                          <a:latin typeface="Calibri (MS)"/>
                          <a:ea typeface="Calibri (MS)"/>
                          <a:cs typeface="Calibri (MS)"/>
                          <a:sym typeface="Calibri (MS)"/>
                        </a:rPr>
                        <a:t>Prescription_ID, Prescription_Date, HCP_ID, Drug_Name, Drug_ID, Prescription_Volume</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EEF2F6"/>
                    </a:solidFill>
                  </a:tcPr>
                </a:tc>
                <a:tc>
                  <a:txBody>
                    <a:bodyPr anchor="t" rtlCol="false"/>
                    <a:lstStyle/>
                    <a:p>
                      <a:pPr algn="l">
                        <a:lnSpc>
                          <a:spcPts val="2070"/>
                        </a:lnSpc>
                        <a:defRPr/>
                      </a:pPr>
                      <a:r>
                        <a:rPr lang="en-US" sz="1725">
                          <a:solidFill>
                            <a:srgbClr val="20262E"/>
                          </a:solidFill>
                          <a:latin typeface="Calibri (MS)"/>
                          <a:ea typeface="Calibri (MS)"/>
                          <a:cs typeface="Calibri (MS)"/>
                          <a:sym typeface="Calibri (MS)"/>
                        </a:rPr>
                        <a:t>Prescription activity across doctors and drugs</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EEF2F6"/>
                    </a:solidFill>
                  </a:tcPr>
                </a:tc>
              </a:tr>
              <a:tr h="1093018">
                <a:tc>
                  <a:txBody>
                    <a:bodyPr anchor="t" rtlCol="false"/>
                    <a:lstStyle/>
                    <a:p>
                      <a:pPr algn="ctr">
                        <a:lnSpc>
                          <a:spcPts val="2070"/>
                        </a:lnSpc>
                        <a:defRPr/>
                      </a:pPr>
                      <a:r>
                        <a:rPr lang="en-US" sz="1725">
                          <a:solidFill>
                            <a:srgbClr val="20262E"/>
                          </a:solidFill>
                          <a:latin typeface="Calibri (MS)"/>
                          <a:ea typeface="Calibri (MS)"/>
                          <a:cs typeface="Calibri (MS)"/>
                          <a:sym typeface="Calibri (MS)"/>
                        </a:rPr>
                        <a:t>Affiliation</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FFFFFF"/>
                    </a:solidFill>
                  </a:tcPr>
                </a:tc>
                <a:tc>
                  <a:txBody>
                    <a:bodyPr anchor="t" rtlCol="false"/>
                    <a:lstStyle/>
                    <a:p>
                      <a:pPr algn="ctr">
                        <a:lnSpc>
                          <a:spcPts val="2070"/>
                        </a:lnSpc>
                        <a:defRPr/>
                      </a:pPr>
                      <a:r>
                        <a:rPr lang="en-US" sz="1725">
                          <a:solidFill>
                            <a:srgbClr val="20262E"/>
                          </a:solidFill>
                          <a:latin typeface="Calibri (MS)"/>
                          <a:ea typeface="Calibri (MS)"/>
                          <a:cs typeface="Calibri (MS)"/>
                          <a:sym typeface="Calibri (MS)"/>
                        </a:rPr>
                        <a:t>216</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FFFFFF"/>
                    </a:solidFill>
                  </a:tcPr>
                </a:tc>
                <a:tc>
                  <a:txBody>
                    <a:bodyPr anchor="t" rtlCol="false"/>
                    <a:lstStyle/>
                    <a:p>
                      <a:pPr algn="l">
                        <a:lnSpc>
                          <a:spcPts val="2070"/>
                        </a:lnSpc>
                        <a:defRPr/>
                      </a:pPr>
                      <a:r>
                        <a:rPr lang="en-US" sz="1725">
                          <a:solidFill>
                            <a:srgbClr val="20262E"/>
                          </a:solidFill>
                          <a:latin typeface="Calibri (MS)"/>
                          <a:ea typeface="Calibri (MS)"/>
                          <a:cs typeface="Calibri (MS)"/>
                          <a:sym typeface="Calibri (MS)"/>
                        </a:rPr>
                        <a:t>HCP_ID, Account_ID, Account_Name</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FFFFFF"/>
                    </a:solidFill>
                  </a:tcPr>
                </a:tc>
                <a:tc>
                  <a:txBody>
                    <a:bodyPr anchor="t" rtlCol="false"/>
                    <a:lstStyle/>
                    <a:p>
                      <a:pPr algn="l">
                        <a:lnSpc>
                          <a:spcPts val="2070"/>
                        </a:lnSpc>
                        <a:defRPr/>
                      </a:pPr>
                      <a:r>
                        <a:rPr lang="en-US" sz="1725">
                          <a:solidFill>
                            <a:srgbClr val="20262E"/>
                          </a:solidFill>
                          <a:latin typeface="Calibri (MS)"/>
                          <a:ea typeface="Calibri (MS)"/>
                          <a:cs typeface="Calibri (MS)"/>
                          <a:sym typeface="Calibri (MS)"/>
                        </a:rPr>
                        <a:t>Maps doctors to hospitals / clinics / accounts</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FFFFFF"/>
                    </a:solidFill>
                  </a:tcPr>
                </a:tc>
              </a:tr>
            </a:tbl>
          </a:graphicData>
        </a:graphic>
      </p:graphicFrame>
      <p:grpSp>
        <p:nvGrpSpPr>
          <p:cNvPr name="Group 9" id="9"/>
          <p:cNvGrpSpPr/>
          <p:nvPr/>
        </p:nvGrpSpPr>
        <p:grpSpPr>
          <a:xfrm rot="0">
            <a:off x="754380" y="7886700"/>
            <a:ext cx="16733520" cy="1440180"/>
            <a:chOff x="0" y="0"/>
            <a:chExt cx="22311360" cy="1920240"/>
          </a:xfrm>
        </p:grpSpPr>
        <p:sp>
          <p:nvSpPr>
            <p:cNvPr name="Freeform 10" id="10"/>
            <p:cNvSpPr/>
            <p:nvPr/>
          </p:nvSpPr>
          <p:spPr>
            <a:xfrm flipH="false" flipV="false" rot="0">
              <a:off x="0" y="0"/>
              <a:ext cx="22311361" cy="1920240"/>
            </a:xfrm>
            <a:custGeom>
              <a:avLst/>
              <a:gdLst/>
              <a:ahLst/>
              <a:cxnLst/>
              <a:rect r="r" b="b" t="t" l="l"/>
              <a:pathLst>
                <a:path h="1920240" w="22311361">
                  <a:moveTo>
                    <a:pt x="0" y="146304"/>
                  </a:moveTo>
                  <a:cubicBezTo>
                    <a:pt x="0" y="65532"/>
                    <a:pt x="65532" y="0"/>
                    <a:pt x="146304" y="0"/>
                  </a:cubicBezTo>
                  <a:lnTo>
                    <a:pt x="22165056" y="0"/>
                  </a:lnTo>
                  <a:cubicBezTo>
                    <a:pt x="22245828" y="0"/>
                    <a:pt x="22311361" y="65532"/>
                    <a:pt x="22311361" y="146304"/>
                  </a:cubicBezTo>
                  <a:lnTo>
                    <a:pt x="22311361" y="1773936"/>
                  </a:lnTo>
                  <a:cubicBezTo>
                    <a:pt x="22311361" y="1854708"/>
                    <a:pt x="22245828" y="1920240"/>
                    <a:pt x="22165056" y="1920240"/>
                  </a:cubicBezTo>
                  <a:lnTo>
                    <a:pt x="146304" y="1920240"/>
                  </a:lnTo>
                  <a:cubicBezTo>
                    <a:pt x="65532" y="1920240"/>
                    <a:pt x="0" y="1854708"/>
                    <a:pt x="0" y="1773936"/>
                  </a:cubicBezTo>
                  <a:close/>
                </a:path>
              </a:pathLst>
            </a:custGeom>
            <a:solidFill>
              <a:srgbClr val="F6F7FA"/>
            </a:solidFill>
          </p:spPr>
        </p:sp>
      </p:grpSp>
      <p:grpSp>
        <p:nvGrpSpPr>
          <p:cNvPr name="Group 11" id="11"/>
          <p:cNvGrpSpPr/>
          <p:nvPr/>
        </p:nvGrpSpPr>
        <p:grpSpPr>
          <a:xfrm rot="0">
            <a:off x="1165860" y="7886700"/>
            <a:ext cx="15910560" cy="1440180"/>
            <a:chOff x="0" y="0"/>
            <a:chExt cx="21214080" cy="1920240"/>
          </a:xfrm>
        </p:grpSpPr>
        <p:sp>
          <p:nvSpPr>
            <p:cNvPr name="Freeform 12" id="12"/>
            <p:cNvSpPr/>
            <p:nvPr/>
          </p:nvSpPr>
          <p:spPr>
            <a:xfrm flipH="false" flipV="false" rot="0">
              <a:off x="0" y="0"/>
              <a:ext cx="21214080" cy="1920240"/>
            </a:xfrm>
            <a:custGeom>
              <a:avLst/>
              <a:gdLst/>
              <a:ahLst/>
              <a:cxnLst/>
              <a:rect r="r" b="b" t="t" l="l"/>
              <a:pathLst>
                <a:path h="1920240" w="21214080">
                  <a:moveTo>
                    <a:pt x="0" y="0"/>
                  </a:moveTo>
                  <a:lnTo>
                    <a:pt x="21214080" y="0"/>
                  </a:lnTo>
                  <a:lnTo>
                    <a:pt x="21214080" y="1920240"/>
                  </a:lnTo>
                  <a:lnTo>
                    <a:pt x="0" y="1920240"/>
                  </a:lnTo>
                  <a:close/>
                </a:path>
              </a:pathLst>
            </a:custGeom>
            <a:blipFill>
              <a:blip r:embed="rId3">
                <a:alphaModFix amt="0"/>
              </a:blip>
              <a:stretch>
                <a:fillRect l="0" t="-165263" r="0" b="-165263"/>
              </a:stretch>
            </a:blipFill>
          </p:spPr>
        </p:sp>
        <p:sp>
          <p:nvSpPr>
            <p:cNvPr name="TextBox 13" id="13"/>
            <p:cNvSpPr txBox="true"/>
            <p:nvPr/>
          </p:nvSpPr>
          <p:spPr>
            <a:xfrm>
              <a:off x="0" y="-85725"/>
              <a:ext cx="21214080" cy="2005965"/>
            </a:xfrm>
            <a:prstGeom prst="rect">
              <a:avLst/>
            </a:prstGeom>
          </p:spPr>
          <p:txBody>
            <a:bodyPr anchor="ctr" rtlCol="false" tIns="0" lIns="0" bIns="0" rIns="0"/>
            <a:lstStyle/>
            <a:p>
              <a:pPr algn="l">
                <a:lnSpc>
                  <a:spcPts val="2700"/>
                </a:lnSpc>
              </a:pPr>
              <a:r>
                <a:rPr lang="en-US" sz="1875" b="true">
                  <a:solidFill>
                    <a:srgbClr val="16213E"/>
                  </a:solidFill>
                  <a:latin typeface="Calibri (MS) Bold"/>
                  <a:ea typeface="Calibri (MS) Bold"/>
                  <a:cs typeface="Calibri (MS) Bold"/>
                  <a:sym typeface="Calibri (MS) Bold"/>
                </a:rPr>
                <a:t>Join key:  </a:t>
              </a:r>
              <a:r>
                <a:rPr lang="en-US" sz="1875">
                  <a:solidFill>
                    <a:srgbClr val="20262E"/>
                  </a:solidFill>
                  <a:latin typeface="Calibri (MS)"/>
                  <a:ea typeface="Calibri (MS)"/>
                  <a:cs typeface="Calibri (MS)"/>
                  <a:sym typeface="Calibri (MS)"/>
                </a:rPr>
                <a:t>All three datasets link on HCP_ID. Affiliation extends the join to Account_ID / Account_Name for account-level rollups.</a:t>
              </a:r>
            </a:p>
          </p:txBody>
        </p:sp>
      </p:grpSp>
      <p:grpSp>
        <p:nvGrpSpPr>
          <p:cNvPr name="Group 14" id="14"/>
          <p:cNvGrpSpPr/>
          <p:nvPr/>
        </p:nvGrpSpPr>
        <p:grpSpPr>
          <a:xfrm rot="0">
            <a:off x="17282160" y="9806940"/>
            <a:ext cx="685800" cy="411480"/>
            <a:chOff x="0" y="0"/>
            <a:chExt cx="914400" cy="548640"/>
          </a:xfrm>
        </p:grpSpPr>
        <p:sp>
          <p:nvSpPr>
            <p:cNvPr name="Freeform 15" id="15"/>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16" id="16"/>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67085"/>
                  </a:solidFill>
                  <a:latin typeface="Calibri (MS)"/>
                  <a:ea typeface="Calibri (MS)"/>
                  <a:cs typeface="Calibri (MS)"/>
                  <a:sym typeface="Calibri (MS)"/>
                </a:rPr>
                <a:t>3</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4380" y="48006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99">
                  <a:solidFill>
                    <a:srgbClr val="0F8B8D"/>
                  </a:solidFill>
                  <a:latin typeface="Calibri (MS) Bold"/>
                  <a:ea typeface="Calibri (MS) Bold"/>
                  <a:cs typeface="Calibri (MS) Bold"/>
                  <a:sym typeface="Calibri (MS) Bold"/>
                </a:rPr>
                <a:t>QUESTION 1</a:t>
              </a:r>
            </a:p>
          </p:txBody>
        </p:sp>
      </p:grpSp>
      <p:grpSp>
        <p:nvGrpSpPr>
          <p:cNvPr name="Group 5" id="5"/>
          <p:cNvGrpSpPr/>
          <p:nvPr/>
        </p:nvGrpSpPr>
        <p:grpSpPr>
          <a:xfrm rot="0">
            <a:off x="754380" y="850392"/>
            <a:ext cx="16733520" cy="1028700"/>
            <a:chOff x="0" y="0"/>
            <a:chExt cx="22311360" cy="1371600"/>
          </a:xfrm>
        </p:grpSpPr>
        <p:sp>
          <p:nvSpPr>
            <p:cNvPr name="Freeform 6" id="6"/>
            <p:cNvSpPr/>
            <p:nvPr/>
          </p:nvSpPr>
          <p:spPr>
            <a:xfrm flipH="false" flipV="false" rot="0">
              <a:off x="0" y="0"/>
              <a:ext cx="22311361" cy="1371600"/>
            </a:xfrm>
            <a:custGeom>
              <a:avLst/>
              <a:gdLst/>
              <a:ahLst/>
              <a:cxnLst/>
              <a:rect r="r" b="b" t="t" l="l"/>
              <a:pathLst>
                <a:path h="1371600" w="22311361">
                  <a:moveTo>
                    <a:pt x="0" y="0"/>
                  </a:moveTo>
                  <a:lnTo>
                    <a:pt x="22311361" y="0"/>
                  </a:lnTo>
                  <a:lnTo>
                    <a:pt x="22311361" y="1371600"/>
                  </a:lnTo>
                  <a:lnTo>
                    <a:pt x="0" y="1371600"/>
                  </a:lnTo>
                  <a:close/>
                </a:path>
              </a:pathLst>
            </a:custGeom>
            <a:blipFill>
              <a:blip r:embed="rId3">
                <a:alphaModFix amt="0"/>
              </a:blip>
              <a:stretch>
                <a:fillRect l="0" t="-266956" r="0" b="-266956"/>
              </a:stretch>
            </a:blipFill>
          </p:spPr>
        </p:sp>
        <p:sp>
          <p:nvSpPr>
            <p:cNvPr name="TextBox 7" id="7"/>
            <p:cNvSpPr txBox="true"/>
            <p:nvPr/>
          </p:nvSpPr>
          <p:spPr>
            <a:xfrm>
              <a:off x="0" y="-9525"/>
              <a:ext cx="22311360" cy="1381125"/>
            </a:xfrm>
            <a:prstGeom prst="rect">
              <a:avLst/>
            </a:prstGeom>
          </p:spPr>
          <p:txBody>
            <a:bodyPr anchor="ctr" rtlCol="false" tIns="0" lIns="0" bIns="0" rIns="0"/>
            <a:lstStyle/>
            <a:p>
              <a:pPr algn="l">
                <a:lnSpc>
                  <a:spcPts val="4680"/>
                </a:lnSpc>
              </a:pPr>
              <a:r>
                <a:rPr lang="en-US" sz="3900" b="true">
                  <a:solidFill>
                    <a:srgbClr val="16213E"/>
                  </a:solidFill>
                  <a:latin typeface="Georgia Bold"/>
                  <a:ea typeface="Georgia Bold"/>
                  <a:cs typeface="Georgia Bold"/>
                  <a:sym typeface="Georgia Bold"/>
                </a:rPr>
                <a:t>Who Are the Most Active Doctors — Are They Helping Our Product?</a:t>
              </a:r>
            </a:p>
          </p:txBody>
        </p:sp>
      </p:grpSp>
      <p:grpSp>
        <p:nvGrpSpPr>
          <p:cNvPr name="Group 8" id="8"/>
          <p:cNvGrpSpPr/>
          <p:nvPr/>
        </p:nvGrpSpPr>
        <p:grpSpPr>
          <a:xfrm rot="0">
            <a:off x="754380" y="2106566"/>
            <a:ext cx="8092440" cy="411480"/>
            <a:chOff x="0" y="0"/>
            <a:chExt cx="10789920" cy="548640"/>
          </a:xfrm>
        </p:grpSpPr>
        <p:sp>
          <p:nvSpPr>
            <p:cNvPr name="Freeform 9" id="9"/>
            <p:cNvSpPr/>
            <p:nvPr/>
          </p:nvSpPr>
          <p:spPr>
            <a:xfrm flipH="false" flipV="false" rot="0">
              <a:off x="0" y="0"/>
              <a:ext cx="10789920" cy="548640"/>
            </a:xfrm>
            <a:custGeom>
              <a:avLst/>
              <a:gdLst/>
              <a:ahLst/>
              <a:cxnLst/>
              <a:rect r="r" b="b" t="t" l="l"/>
              <a:pathLst>
                <a:path h="548640" w="10789920">
                  <a:moveTo>
                    <a:pt x="0" y="0"/>
                  </a:moveTo>
                  <a:lnTo>
                    <a:pt x="10789920" y="0"/>
                  </a:lnTo>
                  <a:lnTo>
                    <a:pt x="10789920" y="548640"/>
                  </a:lnTo>
                  <a:lnTo>
                    <a:pt x="0" y="548640"/>
                  </a:lnTo>
                  <a:close/>
                </a:path>
              </a:pathLst>
            </a:custGeom>
            <a:blipFill>
              <a:blip r:embed="rId3">
                <a:alphaModFix amt="0"/>
              </a:blip>
              <a:stretch>
                <a:fillRect l="0" t="-333205" r="0" b="-333205"/>
              </a:stretch>
            </a:blipFill>
          </p:spPr>
        </p:sp>
        <p:sp>
          <p:nvSpPr>
            <p:cNvPr name="TextBox 10" id="10"/>
            <p:cNvSpPr txBox="true"/>
            <p:nvPr/>
          </p:nvSpPr>
          <p:spPr>
            <a:xfrm>
              <a:off x="0" y="-38100"/>
              <a:ext cx="10789920" cy="586740"/>
            </a:xfrm>
            <a:prstGeom prst="rect">
              <a:avLst/>
            </a:prstGeom>
          </p:spPr>
          <p:txBody>
            <a:bodyPr anchor="ctr" rtlCol="false" tIns="0" lIns="0" bIns="0" rIns="0"/>
            <a:lstStyle/>
            <a:p>
              <a:pPr algn="l">
                <a:lnSpc>
                  <a:spcPts val="2070"/>
                </a:lnSpc>
              </a:pPr>
              <a:r>
                <a:rPr lang="en-US" b="true" sz="1725" spc="150">
                  <a:solidFill>
                    <a:srgbClr val="0F8B8D"/>
                  </a:solidFill>
                  <a:latin typeface="Calibri (MS) Bold"/>
                  <a:ea typeface="Calibri (MS) Bold"/>
                  <a:cs typeface="Calibri (MS) Bold"/>
                  <a:sym typeface="Calibri (MS) Bold"/>
                </a:rPr>
                <a:t>RANKING 1 — TOP 10 BY ALERT VOLUME</a:t>
              </a:r>
            </a:p>
          </p:txBody>
        </p:sp>
      </p:grpSp>
      <p:grpSp>
        <p:nvGrpSpPr>
          <p:cNvPr name="Group 11" id="11"/>
          <p:cNvGrpSpPr/>
          <p:nvPr/>
        </p:nvGrpSpPr>
        <p:grpSpPr>
          <a:xfrm rot="0">
            <a:off x="9189720" y="2106566"/>
            <a:ext cx="8092440" cy="411480"/>
            <a:chOff x="0" y="0"/>
            <a:chExt cx="10789920" cy="548640"/>
          </a:xfrm>
        </p:grpSpPr>
        <p:sp>
          <p:nvSpPr>
            <p:cNvPr name="Freeform 12" id="12"/>
            <p:cNvSpPr/>
            <p:nvPr/>
          </p:nvSpPr>
          <p:spPr>
            <a:xfrm flipH="false" flipV="false" rot="0">
              <a:off x="0" y="0"/>
              <a:ext cx="10789920" cy="548640"/>
            </a:xfrm>
            <a:custGeom>
              <a:avLst/>
              <a:gdLst/>
              <a:ahLst/>
              <a:cxnLst/>
              <a:rect r="r" b="b" t="t" l="l"/>
              <a:pathLst>
                <a:path h="548640" w="10789920">
                  <a:moveTo>
                    <a:pt x="0" y="0"/>
                  </a:moveTo>
                  <a:lnTo>
                    <a:pt x="10789920" y="0"/>
                  </a:lnTo>
                  <a:lnTo>
                    <a:pt x="10789920" y="548640"/>
                  </a:lnTo>
                  <a:lnTo>
                    <a:pt x="0" y="548640"/>
                  </a:lnTo>
                  <a:close/>
                </a:path>
              </a:pathLst>
            </a:custGeom>
            <a:blipFill>
              <a:blip r:embed="rId3">
                <a:alphaModFix amt="0"/>
              </a:blip>
              <a:stretch>
                <a:fillRect l="0" t="-333205" r="0" b="-333205"/>
              </a:stretch>
            </a:blipFill>
          </p:spPr>
        </p:sp>
        <p:sp>
          <p:nvSpPr>
            <p:cNvPr name="TextBox 13" id="13"/>
            <p:cNvSpPr txBox="true"/>
            <p:nvPr/>
          </p:nvSpPr>
          <p:spPr>
            <a:xfrm>
              <a:off x="0" y="-38100"/>
              <a:ext cx="10789920" cy="586740"/>
            </a:xfrm>
            <a:prstGeom prst="rect">
              <a:avLst/>
            </a:prstGeom>
          </p:spPr>
          <p:txBody>
            <a:bodyPr anchor="ctr" rtlCol="false" tIns="0" lIns="0" bIns="0" rIns="0"/>
            <a:lstStyle/>
            <a:p>
              <a:pPr algn="l">
                <a:lnSpc>
                  <a:spcPts val="2070"/>
                </a:lnSpc>
              </a:pPr>
              <a:r>
                <a:rPr lang="en-US" b="true" sz="1725" spc="150">
                  <a:solidFill>
                    <a:srgbClr val="0F8B8D"/>
                  </a:solidFill>
                  <a:latin typeface="Calibri (MS) Bold"/>
                  <a:ea typeface="Calibri (MS) Bold"/>
                  <a:cs typeface="Calibri (MS) Bold"/>
                  <a:sym typeface="Calibri (MS) Bold"/>
                </a:rPr>
                <a:t>RANKING 2 — TOP 10 BY PRESCRIPTION VOLUME</a:t>
              </a:r>
            </a:p>
          </p:txBody>
        </p:sp>
      </p:grpSp>
      <p:grpSp>
        <p:nvGrpSpPr>
          <p:cNvPr name="Group 14" id="14"/>
          <p:cNvGrpSpPr/>
          <p:nvPr/>
        </p:nvGrpSpPr>
        <p:grpSpPr>
          <a:xfrm rot="0">
            <a:off x="17282160" y="9806940"/>
            <a:ext cx="685800" cy="411480"/>
            <a:chOff x="0" y="0"/>
            <a:chExt cx="914400" cy="548640"/>
          </a:xfrm>
        </p:grpSpPr>
        <p:sp>
          <p:nvSpPr>
            <p:cNvPr name="Freeform 15" id="15"/>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16" id="16"/>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67085"/>
                  </a:solidFill>
                  <a:latin typeface="Calibri (MS)"/>
                  <a:ea typeface="Calibri (MS)"/>
                  <a:cs typeface="Calibri (MS)"/>
                  <a:sym typeface="Calibri (MS)"/>
                </a:rPr>
                <a:t>4</a:t>
              </a:r>
            </a:p>
          </p:txBody>
        </p:sp>
      </p:grpSp>
      <p:graphicFrame>
        <p:nvGraphicFramePr>
          <p:cNvPr name="Object 17" id="17"/>
          <p:cNvGraphicFramePr/>
          <p:nvPr/>
        </p:nvGraphicFramePr>
        <p:xfrm>
          <a:off x="754380" y="2772750"/>
          <a:ext cx="8072438" cy="6915150"/>
        </p:xfrm>
        <a:graphic>
          <a:graphicData uri="http://schemas.openxmlformats.org/presentationml/2006/ole">
            <p:oleObj imgW="9677400" imgH="85344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graphicFrame>
        <p:nvGraphicFramePr>
          <p:cNvPr name="Object 18" id="18"/>
          <p:cNvGraphicFramePr/>
          <p:nvPr/>
        </p:nvGraphicFramePr>
        <p:xfrm>
          <a:off x="8846820" y="2772750"/>
          <a:ext cx="12901612" cy="6915150"/>
        </p:xfrm>
        <a:graphic>
          <a:graphicData uri="http://schemas.openxmlformats.org/presentationml/2006/ole">
            <p:oleObj imgW="15468600" imgH="9486900" r:id="rId7" progId="Excel.Sheet.12" name="Worksheet">
              <p:embed/>
              <p:pic>
                <p:nvPicPr>
                  <p:cNvPr name="" id="0"/>
                  <p:cNvPicPr/>
                  <p:nvPr/>
                </p:nvPicPr>
                <p:blipFill>
                  <a:blip r:embed="rId6"/>
                  <a:stretch>
                    <a:fillRect/>
                  </a:stretch>
                </p:blipFill>
                <p:spPr>
                  <a:xfrm>
                    <a:off x="1270000" y="1270000"/>
                    <a:ext cx="1270000" cy="1270000"/>
                  </a:xfrm>
                  <a:prstGeom prst="rect"/>
                </p:spPr>
              </p:pic>
            </p:oleObj>
          </a:graphicData>
        </a:graphic>
      </p:graphicFrame>
      <p:sp>
        <p:nvSpPr>
          <p:cNvPr name="TextBox 19" id="19"/>
          <p:cNvSpPr txBox="true"/>
          <p:nvPr/>
        </p:nvSpPr>
        <p:spPr>
          <a:xfrm rot="0">
            <a:off x="983072" y="8896350"/>
            <a:ext cx="16321855" cy="676275"/>
          </a:xfrm>
          <a:prstGeom prst="rect">
            <a:avLst/>
          </a:prstGeom>
        </p:spPr>
        <p:txBody>
          <a:bodyPr anchor="t" rtlCol="false" tIns="0" lIns="0" bIns="0" rIns="0">
            <a:spAutoFit/>
          </a:bodyPr>
          <a:lstStyle/>
          <a:p>
            <a:pPr algn="ctr">
              <a:lnSpc>
                <a:spcPts val="2519"/>
              </a:lnSpc>
              <a:spcBef>
                <a:spcPct val="0"/>
              </a:spcBef>
            </a:pPr>
            <a:r>
              <a:rPr lang="en-US" b="true" sz="2099">
                <a:solidFill>
                  <a:srgbClr val="000000"/>
                </a:solidFill>
                <a:latin typeface="Calibri (MS) Bold"/>
                <a:ea typeface="Calibri (MS) Bold"/>
                <a:cs typeface="Calibri (MS) Bold"/>
                <a:sym typeface="Calibri (MS) Bold"/>
              </a:rPr>
              <a:t>The Operational Gap:</a:t>
            </a:r>
            <a:r>
              <a:rPr lang="en-US" sz="2099">
                <a:solidFill>
                  <a:srgbClr val="000000"/>
                </a:solidFill>
                <a:latin typeface="Calibri (MS)"/>
                <a:ea typeface="Calibri (MS)"/>
                <a:cs typeface="Calibri (MS)"/>
                <a:sym typeface="Calibri (MS)"/>
              </a:rPr>
              <a:t> The highest alert doctors are not the same people driving the most volume for us.</a:t>
            </a:r>
          </a:p>
          <a:p>
            <a:pPr algn="ctr">
              <a:lnSpc>
                <a:spcPts val="2519"/>
              </a:lnSpc>
              <a:spcBef>
                <a:spcPct val="0"/>
              </a:spcBef>
            </a:pPr>
            <a:r>
              <a:rPr lang="en-US" sz="2099">
                <a:solidFill>
                  <a:srgbClr val="000000"/>
                </a:solidFill>
                <a:latin typeface="Calibri (MS)"/>
                <a:ea typeface="Calibri (MS)"/>
                <a:cs typeface="Calibri (MS)"/>
                <a:sym typeface="Calibri (MS)"/>
              </a:rPr>
              <a:t>That gap is the whole case study in one-chart; strong clinical case is not translating into our prescription for our loudest alerting doctors.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4380" y="48006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99">
                  <a:solidFill>
                    <a:srgbClr val="0F8B8D"/>
                  </a:solidFill>
                  <a:latin typeface="Calibri (MS) Bold"/>
                  <a:ea typeface="Calibri (MS) Bold"/>
                  <a:cs typeface="Calibri (MS) Bold"/>
                  <a:sym typeface="Calibri (MS) Bold"/>
                </a:rPr>
                <a:t>QUESTION 2</a:t>
              </a:r>
            </a:p>
          </p:txBody>
        </p:sp>
      </p:grpSp>
      <p:grpSp>
        <p:nvGrpSpPr>
          <p:cNvPr name="Group 5" id="5"/>
          <p:cNvGrpSpPr/>
          <p:nvPr/>
        </p:nvGrpSpPr>
        <p:grpSpPr>
          <a:xfrm rot="0">
            <a:off x="754380" y="850392"/>
            <a:ext cx="16733520" cy="1028700"/>
            <a:chOff x="0" y="0"/>
            <a:chExt cx="22311360" cy="1371600"/>
          </a:xfrm>
        </p:grpSpPr>
        <p:sp>
          <p:nvSpPr>
            <p:cNvPr name="Freeform 6" id="6"/>
            <p:cNvSpPr/>
            <p:nvPr/>
          </p:nvSpPr>
          <p:spPr>
            <a:xfrm flipH="false" flipV="false" rot="0">
              <a:off x="0" y="0"/>
              <a:ext cx="22311361" cy="1371600"/>
            </a:xfrm>
            <a:custGeom>
              <a:avLst/>
              <a:gdLst/>
              <a:ahLst/>
              <a:cxnLst/>
              <a:rect r="r" b="b" t="t" l="l"/>
              <a:pathLst>
                <a:path h="1371600" w="22311361">
                  <a:moveTo>
                    <a:pt x="0" y="0"/>
                  </a:moveTo>
                  <a:lnTo>
                    <a:pt x="22311361" y="0"/>
                  </a:lnTo>
                  <a:lnTo>
                    <a:pt x="22311361" y="1371600"/>
                  </a:lnTo>
                  <a:lnTo>
                    <a:pt x="0" y="1371600"/>
                  </a:lnTo>
                  <a:close/>
                </a:path>
              </a:pathLst>
            </a:custGeom>
            <a:blipFill>
              <a:blip r:embed="rId3">
                <a:alphaModFix amt="0"/>
              </a:blip>
              <a:stretch>
                <a:fillRect l="0" t="-266956" r="0" b="-266956"/>
              </a:stretch>
            </a:blipFill>
          </p:spPr>
        </p:sp>
        <p:sp>
          <p:nvSpPr>
            <p:cNvPr name="TextBox 7" id="7"/>
            <p:cNvSpPr txBox="true"/>
            <p:nvPr/>
          </p:nvSpPr>
          <p:spPr>
            <a:xfrm>
              <a:off x="0" y="-9525"/>
              <a:ext cx="22311360" cy="1381125"/>
            </a:xfrm>
            <a:prstGeom prst="rect">
              <a:avLst/>
            </a:prstGeom>
          </p:spPr>
          <p:txBody>
            <a:bodyPr anchor="ctr" rtlCol="false" tIns="0" lIns="0" bIns="0" rIns="0"/>
            <a:lstStyle/>
            <a:p>
              <a:pPr algn="l">
                <a:lnSpc>
                  <a:spcPts val="4680"/>
                </a:lnSpc>
              </a:pPr>
              <a:r>
                <a:rPr lang="en-US" sz="3900" b="true">
                  <a:solidFill>
                    <a:srgbClr val="16213E"/>
                  </a:solidFill>
                  <a:latin typeface="Georgia Bold"/>
                  <a:ea typeface="Georgia Bold"/>
                  <a:cs typeface="Georgia Bold"/>
                  <a:sym typeface="Georgia Bold"/>
                </a:rPr>
                <a:t>Which Doctors See the Need but Don't Act on It?</a:t>
              </a:r>
            </a:p>
          </p:txBody>
        </p:sp>
      </p:grpSp>
      <p:grpSp>
        <p:nvGrpSpPr>
          <p:cNvPr name="Group 8" id="8"/>
          <p:cNvGrpSpPr/>
          <p:nvPr/>
        </p:nvGrpSpPr>
        <p:grpSpPr>
          <a:xfrm rot="0">
            <a:off x="754380" y="1947672"/>
            <a:ext cx="16733520" cy="480060"/>
            <a:chOff x="0" y="0"/>
            <a:chExt cx="22311360" cy="640080"/>
          </a:xfrm>
        </p:grpSpPr>
        <p:sp>
          <p:nvSpPr>
            <p:cNvPr name="Freeform 9" id="9"/>
            <p:cNvSpPr/>
            <p:nvPr/>
          </p:nvSpPr>
          <p:spPr>
            <a:xfrm flipH="false" flipV="false" rot="0">
              <a:off x="0" y="0"/>
              <a:ext cx="22311361" cy="640080"/>
            </a:xfrm>
            <a:custGeom>
              <a:avLst/>
              <a:gdLst/>
              <a:ahLst/>
              <a:cxnLst/>
              <a:rect r="r" b="b" t="t" l="l"/>
              <a:pathLst>
                <a:path h="640080" w="22311361">
                  <a:moveTo>
                    <a:pt x="0" y="0"/>
                  </a:moveTo>
                  <a:lnTo>
                    <a:pt x="22311361" y="0"/>
                  </a:lnTo>
                  <a:lnTo>
                    <a:pt x="22311361" y="640080"/>
                  </a:lnTo>
                  <a:lnTo>
                    <a:pt x="0" y="640080"/>
                  </a:lnTo>
                  <a:close/>
                </a:path>
              </a:pathLst>
            </a:custGeom>
            <a:blipFill>
              <a:blip r:embed="rId3">
                <a:alphaModFix amt="0"/>
              </a:blip>
              <a:stretch>
                <a:fillRect l="0" t="-629192" r="0" b="-629192"/>
              </a:stretch>
            </a:blipFill>
          </p:spPr>
        </p:sp>
        <p:sp>
          <p:nvSpPr>
            <p:cNvPr name="TextBox 10" id="10"/>
            <p:cNvSpPr txBox="true"/>
            <p:nvPr/>
          </p:nvSpPr>
          <p:spPr>
            <a:xfrm>
              <a:off x="0" y="-38100"/>
              <a:ext cx="22311360" cy="678180"/>
            </a:xfrm>
            <a:prstGeom prst="rect">
              <a:avLst/>
            </a:prstGeom>
          </p:spPr>
          <p:txBody>
            <a:bodyPr anchor="ctr" rtlCol="false" tIns="0" lIns="0" bIns="0" rIns="0"/>
            <a:lstStyle/>
            <a:p>
              <a:pPr algn="l">
                <a:lnSpc>
                  <a:spcPts val="2250"/>
                </a:lnSpc>
              </a:pPr>
              <a:r>
                <a:rPr lang="en-US" sz="1875" i="true">
                  <a:solidFill>
                    <a:srgbClr val="667085"/>
                  </a:solidFill>
                  <a:latin typeface="Calibri (MS) Italics"/>
                  <a:ea typeface="Calibri (MS) Italics"/>
                  <a:cs typeface="Calibri (MS) Italics"/>
                  <a:sym typeface="Calibri (MS) Italics"/>
                </a:rPr>
                <a:t>Positive-alert doctors with zero prescribing activity in the 30 days following their first positive alert.</a:t>
              </a:r>
            </a:p>
          </p:txBody>
        </p:sp>
      </p:grpSp>
      <p:grpSp>
        <p:nvGrpSpPr>
          <p:cNvPr name="Group 11" id="11"/>
          <p:cNvGrpSpPr/>
          <p:nvPr/>
        </p:nvGrpSpPr>
        <p:grpSpPr>
          <a:xfrm rot="0">
            <a:off x="754380" y="2674620"/>
            <a:ext cx="8092440" cy="411480"/>
            <a:chOff x="0" y="0"/>
            <a:chExt cx="10789920" cy="548640"/>
          </a:xfrm>
        </p:grpSpPr>
        <p:sp>
          <p:nvSpPr>
            <p:cNvPr name="Freeform 12" id="12"/>
            <p:cNvSpPr/>
            <p:nvPr/>
          </p:nvSpPr>
          <p:spPr>
            <a:xfrm flipH="false" flipV="false" rot="0">
              <a:off x="0" y="0"/>
              <a:ext cx="10789920" cy="548640"/>
            </a:xfrm>
            <a:custGeom>
              <a:avLst/>
              <a:gdLst/>
              <a:ahLst/>
              <a:cxnLst/>
              <a:rect r="r" b="b" t="t" l="l"/>
              <a:pathLst>
                <a:path h="548640" w="10789920">
                  <a:moveTo>
                    <a:pt x="0" y="0"/>
                  </a:moveTo>
                  <a:lnTo>
                    <a:pt x="10789920" y="0"/>
                  </a:lnTo>
                  <a:lnTo>
                    <a:pt x="10789920" y="548640"/>
                  </a:lnTo>
                  <a:lnTo>
                    <a:pt x="0" y="548640"/>
                  </a:lnTo>
                  <a:close/>
                </a:path>
              </a:pathLst>
            </a:custGeom>
            <a:blipFill>
              <a:blip r:embed="rId3">
                <a:alphaModFix amt="0"/>
              </a:blip>
              <a:stretch>
                <a:fillRect l="0" t="-333205" r="0" b="-333205"/>
              </a:stretch>
            </a:blipFill>
          </p:spPr>
        </p:sp>
        <p:sp>
          <p:nvSpPr>
            <p:cNvPr name="TextBox 13" id="13"/>
            <p:cNvSpPr txBox="true"/>
            <p:nvPr/>
          </p:nvSpPr>
          <p:spPr>
            <a:xfrm>
              <a:off x="0" y="-38100"/>
              <a:ext cx="10789920" cy="586740"/>
            </a:xfrm>
            <a:prstGeom prst="rect">
              <a:avLst/>
            </a:prstGeom>
          </p:spPr>
          <p:txBody>
            <a:bodyPr anchor="ctr" rtlCol="false" tIns="0" lIns="0" bIns="0" rIns="0"/>
            <a:lstStyle/>
            <a:p>
              <a:pPr algn="l">
                <a:lnSpc>
                  <a:spcPts val="2070"/>
                </a:lnSpc>
              </a:pPr>
              <a:r>
                <a:rPr lang="en-US" b="true" sz="1725" spc="150">
                  <a:solidFill>
                    <a:srgbClr val="0F8B8D"/>
                  </a:solidFill>
                  <a:latin typeface="Calibri (MS) Bold"/>
                  <a:ea typeface="Calibri (MS) Bold"/>
                  <a:cs typeface="Calibri (MS) Bold"/>
                  <a:sym typeface="Calibri (MS) Bold"/>
                </a:rPr>
                <a:t>TOP 10 — NO 30-DAY FOLLOW-UP RX</a:t>
              </a:r>
            </a:p>
          </p:txBody>
        </p:sp>
      </p:grpSp>
      <p:grpSp>
        <p:nvGrpSpPr>
          <p:cNvPr name="Group 14" id="14"/>
          <p:cNvGrpSpPr/>
          <p:nvPr/>
        </p:nvGrpSpPr>
        <p:grpSpPr>
          <a:xfrm rot="0">
            <a:off x="9395460" y="2674620"/>
            <a:ext cx="8092440" cy="411480"/>
            <a:chOff x="0" y="0"/>
            <a:chExt cx="10789920" cy="548640"/>
          </a:xfrm>
        </p:grpSpPr>
        <p:sp>
          <p:nvSpPr>
            <p:cNvPr name="Freeform 15" id="15"/>
            <p:cNvSpPr/>
            <p:nvPr/>
          </p:nvSpPr>
          <p:spPr>
            <a:xfrm flipH="false" flipV="false" rot="0">
              <a:off x="0" y="0"/>
              <a:ext cx="10789920" cy="548640"/>
            </a:xfrm>
            <a:custGeom>
              <a:avLst/>
              <a:gdLst/>
              <a:ahLst/>
              <a:cxnLst/>
              <a:rect r="r" b="b" t="t" l="l"/>
              <a:pathLst>
                <a:path h="548640" w="10789920">
                  <a:moveTo>
                    <a:pt x="0" y="0"/>
                  </a:moveTo>
                  <a:lnTo>
                    <a:pt x="10789920" y="0"/>
                  </a:lnTo>
                  <a:lnTo>
                    <a:pt x="10789920" y="548640"/>
                  </a:lnTo>
                  <a:lnTo>
                    <a:pt x="0" y="548640"/>
                  </a:lnTo>
                  <a:close/>
                </a:path>
              </a:pathLst>
            </a:custGeom>
            <a:blipFill>
              <a:blip r:embed="rId3">
                <a:alphaModFix amt="0"/>
              </a:blip>
              <a:stretch>
                <a:fillRect l="0" t="-333205" r="0" b="-333205"/>
              </a:stretch>
            </a:blipFill>
          </p:spPr>
        </p:sp>
        <p:sp>
          <p:nvSpPr>
            <p:cNvPr name="TextBox 16" id="16"/>
            <p:cNvSpPr txBox="true"/>
            <p:nvPr/>
          </p:nvSpPr>
          <p:spPr>
            <a:xfrm>
              <a:off x="0" y="-38100"/>
              <a:ext cx="10789920" cy="586740"/>
            </a:xfrm>
            <a:prstGeom prst="rect">
              <a:avLst/>
            </a:prstGeom>
          </p:spPr>
          <p:txBody>
            <a:bodyPr anchor="ctr" rtlCol="false" tIns="0" lIns="0" bIns="0" rIns="0"/>
            <a:lstStyle/>
            <a:p>
              <a:pPr algn="l">
                <a:lnSpc>
                  <a:spcPts val="2070"/>
                </a:lnSpc>
              </a:pPr>
              <a:r>
                <a:rPr lang="en-US" b="true" sz="1725" spc="150">
                  <a:solidFill>
                    <a:srgbClr val="0F8B8D"/>
                  </a:solidFill>
                  <a:latin typeface="Calibri (MS) Bold"/>
                  <a:ea typeface="Calibri (MS) Bold"/>
                  <a:cs typeface="Calibri (MS) Bold"/>
                  <a:sym typeface="Calibri (MS) Bold"/>
                </a:rPr>
                <a:t>CONVERSION FUNNEL</a:t>
              </a:r>
            </a:p>
          </p:txBody>
        </p:sp>
      </p:grpSp>
      <p:grpSp>
        <p:nvGrpSpPr>
          <p:cNvPr name="Group 17" id="17"/>
          <p:cNvGrpSpPr/>
          <p:nvPr/>
        </p:nvGrpSpPr>
        <p:grpSpPr>
          <a:xfrm rot="0">
            <a:off x="9395460" y="3360420"/>
            <a:ext cx="7406640" cy="960120"/>
            <a:chOff x="0" y="0"/>
            <a:chExt cx="9875520" cy="1280160"/>
          </a:xfrm>
        </p:grpSpPr>
        <p:sp>
          <p:nvSpPr>
            <p:cNvPr name="Freeform 18" id="18"/>
            <p:cNvSpPr/>
            <p:nvPr/>
          </p:nvSpPr>
          <p:spPr>
            <a:xfrm flipH="false" flipV="false" rot="0">
              <a:off x="0" y="0"/>
              <a:ext cx="9875520" cy="1280160"/>
            </a:xfrm>
            <a:custGeom>
              <a:avLst/>
              <a:gdLst/>
              <a:ahLst/>
              <a:cxnLst/>
              <a:rect r="r" b="b" t="t" l="l"/>
              <a:pathLst>
                <a:path h="1280160" w="9875520">
                  <a:moveTo>
                    <a:pt x="0" y="109728"/>
                  </a:moveTo>
                  <a:cubicBezTo>
                    <a:pt x="0" y="49149"/>
                    <a:pt x="49149" y="0"/>
                    <a:pt x="109728" y="0"/>
                  </a:cubicBezTo>
                  <a:lnTo>
                    <a:pt x="9765792" y="0"/>
                  </a:lnTo>
                  <a:cubicBezTo>
                    <a:pt x="9826372" y="0"/>
                    <a:pt x="9875520" y="49149"/>
                    <a:pt x="9875520" y="109728"/>
                  </a:cubicBezTo>
                  <a:lnTo>
                    <a:pt x="9875520" y="1170432"/>
                  </a:lnTo>
                  <a:cubicBezTo>
                    <a:pt x="9875520" y="1231011"/>
                    <a:pt x="9826372" y="1280160"/>
                    <a:pt x="9765792" y="1280160"/>
                  </a:cubicBezTo>
                  <a:lnTo>
                    <a:pt x="109728" y="1280160"/>
                  </a:lnTo>
                  <a:cubicBezTo>
                    <a:pt x="49149" y="1280160"/>
                    <a:pt x="0" y="1231011"/>
                    <a:pt x="0" y="1170432"/>
                  </a:cubicBezTo>
                  <a:close/>
                </a:path>
              </a:pathLst>
            </a:custGeom>
            <a:solidFill>
              <a:srgbClr val="16213E"/>
            </a:solidFill>
          </p:spPr>
        </p:sp>
      </p:grpSp>
      <p:grpSp>
        <p:nvGrpSpPr>
          <p:cNvPr name="Group 19" id="19"/>
          <p:cNvGrpSpPr/>
          <p:nvPr/>
        </p:nvGrpSpPr>
        <p:grpSpPr>
          <a:xfrm rot="0">
            <a:off x="9395460" y="3360420"/>
            <a:ext cx="7406640" cy="548640"/>
            <a:chOff x="0" y="0"/>
            <a:chExt cx="9875520" cy="731520"/>
          </a:xfrm>
        </p:grpSpPr>
        <p:sp>
          <p:nvSpPr>
            <p:cNvPr name="Freeform 20" id="20"/>
            <p:cNvSpPr/>
            <p:nvPr/>
          </p:nvSpPr>
          <p:spPr>
            <a:xfrm flipH="false" flipV="false" rot="0">
              <a:off x="0" y="0"/>
              <a:ext cx="9875520" cy="731520"/>
            </a:xfrm>
            <a:custGeom>
              <a:avLst/>
              <a:gdLst/>
              <a:ahLst/>
              <a:cxnLst/>
              <a:rect r="r" b="b" t="t" l="l"/>
              <a:pathLst>
                <a:path h="731520" w="9875520">
                  <a:moveTo>
                    <a:pt x="0" y="0"/>
                  </a:moveTo>
                  <a:lnTo>
                    <a:pt x="9875520" y="0"/>
                  </a:lnTo>
                  <a:lnTo>
                    <a:pt x="9875520" y="731520"/>
                  </a:lnTo>
                  <a:lnTo>
                    <a:pt x="0" y="731520"/>
                  </a:lnTo>
                  <a:close/>
                </a:path>
              </a:pathLst>
            </a:custGeom>
            <a:blipFill>
              <a:blip r:embed="rId3">
                <a:alphaModFix amt="0"/>
              </a:blip>
              <a:stretch>
                <a:fillRect l="0" t="-213048" r="0" b="-213048"/>
              </a:stretch>
            </a:blipFill>
          </p:spPr>
        </p:sp>
        <p:sp>
          <p:nvSpPr>
            <p:cNvPr name="TextBox 21" id="21"/>
            <p:cNvSpPr txBox="true"/>
            <p:nvPr/>
          </p:nvSpPr>
          <p:spPr>
            <a:xfrm>
              <a:off x="0" y="-38100"/>
              <a:ext cx="9875520" cy="7696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 1 Positive Alert</a:t>
              </a:r>
            </a:p>
          </p:txBody>
        </p:sp>
      </p:grpSp>
      <p:grpSp>
        <p:nvGrpSpPr>
          <p:cNvPr name="Group 22" id="22"/>
          <p:cNvGrpSpPr/>
          <p:nvPr/>
        </p:nvGrpSpPr>
        <p:grpSpPr>
          <a:xfrm rot="0">
            <a:off x="9395460" y="3881628"/>
            <a:ext cx="7406640" cy="411480"/>
            <a:chOff x="0" y="0"/>
            <a:chExt cx="9875520" cy="548640"/>
          </a:xfrm>
        </p:grpSpPr>
        <p:sp>
          <p:nvSpPr>
            <p:cNvPr name="Freeform 23" id="23"/>
            <p:cNvSpPr/>
            <p:nvPr/>
          </p:nvSpPr>
          <p:spPr>
            <a:xfrm flipH="false" flipV="false" rot="0">
              <a:off x="0" y="0"/>
              <a:ext cx="9875520" cy="548640"/>
            </a:xfrm>
            <a:custGeom>
              <a:avLst/>
              <a:gdLst/>
              <a:ahLst/>
              <a:cxnLst/>
              <a:rect r="r" b="b" t="t" l="l"/>
              <a:pathLst>
                <a:path h="548640" w="9875520">
                  <a:moveTo>
                    <a:pt x="0" y="0"/>
                  </a:moveTo>
                  <a:lnTo>
                    <a:pt x="9875520" y="0"/>
                  </a:lnTo>
                  <a:lnTo>
                    <a:pt x="9875520" y="548640"/>
                  </a:lnTo>
                  <a:lnTo>
                    <a:pt x="0" y="548640"/>
                  </a:lnTo>
                  <a:close/>
                </a:path>
              </a:pathLst>
            </a:custGeom>
            <a:blipFill>
              <a:blip r:embed="rId3">
                <a:alphaModFix amt="0"/>
              </a:blip>
              <a:stretch>
                <a:fillRect l="0" t="-300730" r="0" b="-300730"/>
              </a:stretch>
            </a:blipFill>
          </p:spPr>
        </p:sp>
        <p:sp>
          <p:nvSpPr>
            <p:cNvPr name="TextBox 24" id="24"/>
            <p:cNvSpPr txBox="true"/>
            <p:nvPr/>
          </p:nvSpPr>
          <p:spPr>
            <a:xfrm>
              <a:off x="0" y="-19050"/>
              <a:ext cx="9875520" cy="567690"/>
            </a:xfrm>
            <a:prstGeom prst="rect">
              <a:avLst/>
            </a:prstGeom>
          </p:spPr>
          <p:txBody>
            <a:bodyPr anchor="ctr" rtlCol="false" tIns="0" lIns="0" bIns="0" rIns="0"/>
            <a:lstStyle/>
            <a:p>
              <a:pPr algn="ctr">
                <a:lnSpc>
                  <a:spcPts val="1889"/>
                </a:lnSpc>
              </a:pPr>
              <a:r>
                <a:rPr lang="en-US" sz="1575">
                  <a:solidFill>
                    <a:srgbClr val="FFFFFF"/>
                  </a:solidFill>
                  <a:latin typeface="Calibri (MS)"/>
                  <a:ea typeface="Calibri (MS)"/>
                  <a:cs typeface="Calibri (MS)"/>
                  <a:sym typeface="Calibri (MS)"/>
                </a:rPr>
                <a:t>n = 214</a:t>
              </a:r>
            </a:p>
          </p:txBody>
        </p:sp>
      </p:grpSp>
      <p:grpSp>
        <p:nvGrpSpPr>
          <p:cNvPr name="Group 25" id="25"/>
          <p:cNvGrpSpPr/>
          <p:nvPr/>
        </p:nvGrpSpPr>
        <p:grpSpPr>
          <a:xfrm rot="0">
            <a:off x="10287000" y="4663440"/>
            <a:ext cx="5623560" cy="960120"/>
            <a:chOff x="0" y="0"/>
            <a:chExt cx="7498080" cy="1280160"/>
          </a:xfrm>
        </p:grpSpPr>
        <p:sp>
          <p:nvSpPr>
            <p:cNvPr name="Freeform 26" id="26"/>
            <p:cNvSpPr/>
            <p:nvPr/>
          </p:nvSpPr>
          <p:spPr>
            <a:xfrm flipH="false" flipV="false" rot="0">
              <a:off x="0" y="0"/>
              <a:ext cx="7498080" cy="1280160"/>
            </a:xfrm>
            <a:custGeom>
              <a:avLst/>
              <a:gdLst/>
              <a:ahLst/>
              <a:cxnLst/>
              <a:rect r="r" b="b" t="t" l="l"/>
              <a:pathLst>
                <a:path h="1280160" w="7498080">
                  <a:moveTo>
                    <a:pt x="0" y="109728"/>
                  </a:moveTo>
                  <a:cubicBezTo>
                    <a:pt x="0" y="49149"/>
                    <a:pt x="49149" y="0"/>
                    <a:pt x="109728" y="0"/>
                  </a:cubicBezTo>
                  <a:lnTo>
                    <a:pt x="7388352" y="0"/>
                  </a:lnTo>
                  <a:cubicBezTo>
                    <a:pt x="7448931" y="0"/>
                    <a:pt x="7498080" y="49149"/>
                    <a:pt x="7498080" y="109728"/>
                  </a:cubicBezTo>
                  <a:lnTo>
                    <a:pt x="7498080" y="1170432"/>
                  </a:lnTo>
                  <a:cubicBezTo>
                    <a:pt x="7498080" y="1231011"/>
                    <a:pt x="7448931" y="1280160"/>
                    <a:pt x="7388352" y="1280160"/>
                  </a:cubicBezTo>
                  <a:lnTo>
                    <a:pt x="109728" y="1280160"/>
                  </a:lnTo>
                  <a:cubicBezTo>
                    <a:pt x="49149" y="1280160"/>
                    <a:pt x="0" y="1231011"/>
                    <a:pt x="0" y="1170432"/>
                  </a:cubicBezTo>
                  <a:close/>
                </a:path>
              </a:pathLst>
            </a:custGeom>
            <a:solidFill>
              <a:srgbClr val="0F8B8D"/>
            </a:solidFill>
          </p:spPr>
        </p:sp>
      </p:grpSp>
      <p:grpSp>
        <p:nvGrpSpPr>
          <p:cNvPr name="Group 27" id="27"/>
          <p:cNvGrpSpPr/>
          <p:nvPr/>
        </p:nvGrpSpPr>
        <p:grpSpPr>
          <a:xfrm rot="0">
            <a:off x="10287000" y="4663440"/>
            <a:ext cx="5623560" cy="548640"/>
            <a:chOff x="0" y="0"/>
            <a:chExt cx="7498080" cy="731520"/>
          </a:xfrm>
        </p:grpSpPr>
        <p:sp>
          <p:nvSpPr>
            <p:cNvPr name="Freeform 28" id="28"/>
            <p:cNvSpPr/>
            <p:nvPr/>
          </p:nvSpPr>
          <p:spPr>
            <a:xfrm flipH="false" flipV="false" rot="0">
              <a:off x="0" y="0"/>
              <a:ext cx="7498080" cy="731520"/>
            </a:xfrm>
            <a:custGeom>
              <a:avLst/>
              <a:gdLst/>
              <a:ahLst/>
              <a:cxnLst/>
              <a:rect r="r" b="b" t="t" l="l"/>
              <a:pathLst>
                <a:path h="731520" w="7498080">
                  <a:moveTo>
                    <a:pt x="0" y="0"/>
                  </a:moveTo>
                  <a:lnTo>
                    <a:pt x="7498080" y="0"/>
                  </a:lnTo>
                  <a:lnTo>
                    <a:pt x="7498080" y="731520"/>
                  </a:lnTo>
                  <a:lnTo>
                    <a:pt x="0" y="731520"/>
                  </a:lnTo>
                  <a:close/>
                </a:path>
              </a:pathLst>
            </a:custGeom>
            <a:blipFill>
              <a:blip r:embed="rId3">
                <a:alphaModFix amt="0"/>
              </a:blip>
              <a:stretch>
                <a:fillRect l="0" t="-149721" r="0" b="-149721"/>
              </a:stretch>
            </a:blipFill>
          </p:spPr>
        </p:sp>
        <p:sp>
          <p:nvSpPr>
            <p:cNvPr name="TextBox 29" id="29"/>
            <p:cNvSpPr txBox="true"/>
            <p:nvPr/>
          </p:nvSpPr>
          <p:spPr>
            <a:xfrm>
              <a:off x="0" y="-38100"/>
              <a:ext cx="7498080" cy="7696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Multiple Positive Alerts</a:t>
              </a:r>
            </a:p>
          </p:txBody>
        </p:sp>
      </p:grpSp>
      <p:grpSp>
        <p:nvGrpSpPr>
          <p:cNvPr name="Group 30" id="30"/>
          <p:cNvGrpSpPr/>
          <p:nvPr/>
        </p:nvGrpSpPr>
        <p:grpSpPr>
          <a:xfrm rot="0">
            <a:off x="10287000" y="5184648"/>
            <a:ext cx="5623560" cy="411480"/>
            <a:chOff x="0" y="0"/>
            <a:chExt cx="7498080" cy="548640"/>
          </a:xfrm>
        </p:grpSpPr>
        <p:sp>
          <p:nvSpPr>
            <p:cNvPr name="Freeform 31" id="31"/>
            <p:cNvSpPr/>
            <p:nvPr/>
          </p:nvSpPr>
          <p:spPr>
            <a:xfrm flipH="false" flipV="false" rot="0">
              <a:off x="0" y="0"/>
              <a:ext cx="7498080" cy="548640"/>
            </a:xfrm>
            <a:custGeom>
              <a:avLst/>
              <a:gdLst/>
              <a:ahLst/>
              <a:cxnLst/>
              <a:rect r="r" b="b" t="t" l="l"/>
              <a:pathLst>
                <a:path h="548640" w="7498080">
                  <a:moveTo>
                    <a:pt x="0" y="0"/>
                  </a:moveTo>
                  <a:lnTo>
                    <a:pt x="7498080" y="0"/>
                  </a:lnTo>
                  <a:lnTo>
                    <a:pt x="7498080" y="548640"/>
                  </a:lnTo>
                  <a:lnTo>
                    <a:pt x="0" y="548640"/>
                  </a:lnTo>
                  <a:close/>
                </a:path>
              </a:pathLst>
            </a:custGeom>
            <a:blipFill>
              <a:blip r:embed="rId3">
                <a:alphaModFix amt="0"/>
              </a:blip>
              <a:stretch>
                <a:fillRect l="0" t="-216295" r="0" b="-216295"/>
              </a:stretch>
            </a:blipFill>
          </p:spPr>
        </p:sp>
        <p:sp>
          <p:nvSpPr>
            <p:cNvPr name="TextBox 32" id="32"/>
            <p:cNvSpPr txBox="true"/>
            <p:nvPr/>
          </p:nvSpPr>
          <p:spPr>
            <a:xfrm>
              <a:off x="0" y="-19050"/>
              <a:ext cx="7498080" cy="567690"/>
            </a:xfrm>
            <a:prstGeom prst="rect">
              <a:avLst/>
            </a:prstGeom>
          </p:spPr>
          <p:txBody>
            <a:bodyPr anchor="ctr" rtlCol="false" tIns="0" lIns="0" bIns="0" rIns="0"/>
            <a:lstStyle/>
            <a:p>
              <a:pPr algn="ctr">
                <a:lnSpc>
                  <a:spcPts val="1889"/>
                </a:lnSpc>
              </a:pPr>
              <a:r>
                <a:rPr lang="en-US" sz="1575">
                  <a:solidFill>
                    <a:srgbClr val="FFFFFF"/>
                  </a:solidFill>
                  <a:latin typeface="Calibri (MS)"/>
                  <a:ea typeface="Calibri (MS)"/>
                  <a:cs typeface="Calibri (MS)"/>
                  <a:sym typeface="Calibri (MS)"/>
                </a:rPr>
                <a:t>n = 198</a:t>
              </a:r>
            </a:p>
          </p:txBody>
        </p:sp>
      </p:grpSp>
      <p:grpSp>
        <p:nvGrpSpPr>
          <p:cNvPr name="Group 33" id="33"/>
          <p:cNvGrpSpPr/>
          <p:nvPr/>
        </p:nvGrpSpPr>
        <p:grpSpPr>
          <a:xfrm rot="0">
            <a:off x="11178540" y="5966460"/>
            <a:ext cx="3840480" cy="960120"/>
            <a:chOff x="0" y="0"/>
            <a:chExt cx="5120640" cy="1280160"/>
          </a:xfrm>
        </p:grpSpPr>
        <p:sp>
          <p:nvSpPr>
            <p:cNvPr name="Freeform 34" id="34"/>
            <p:cNvSpPr/>
            <p:nvPr/>
          </p:nvSpPr>
          <p:spPr>
            <a:xfrm flipH="false" flipV="false" rot="0">
              <a:off x="0" y="0"/>
              <a:ext cx="5120640" cy="1280160"/>
            </a:xfrm>
            <a:custGeom>
              <a:avLst/>
              <a:gdLst/>
              <a:ahLst/>
              <a:cxnLst/>
              <a:rect r="r" b="b" t="t" l="l"/>
              <a:pathLst>
                <a:path h="1280160" w="5120640">
                  <a:moveTo>
                    <a:pt x="0" y="109728"/>
                  </a:moveTo>
                  <a:cubicBezTo>
                    <a:pt x="0" y="49149"/>
                    <a:pt x="49149" y="0"/>
                    <a:pt x="109728" y="0"/>
                  </a:cubicBezTo>
                  <a:lnTo>
                    <a:pt x="5010912" y="0"/>
                  </a:lnTo>
                  <a:cubicBezTo>
                    <a:pt x="5071491" y="0"/>
                    <a:pt x="5120640" y="49149"/>
                    <a:pt x="5120640" y="109728"/>
                  </a:cubicBezTo>
                  <a:lnTo>
                    <a:pt x="5120640" y="1170432"/>
                  </a:lnTo>
                  <a:cubicBezTo>
                    <a:pt x="5120640" y="1231011"/>
                    <a:pt x="5071491" y="1280160"/>
                    <a:pt x="5010912" y="1280160"/>
                  </a:cubicBezTo>
                  <a:lnTo>
                    <a:pt x="109728" y="1280160"/>
                  </a:lnTo>
                  <a:cubicBezTo>
                    <a:pt x="49149" y="1280160"/>
                    <a:pt x="0" y="1231011"/>
                    <a:pt x="0" y="1170432"/>
                  </a:cubicBezTo>
                  <a:close/>
                </a:path>
              </a:pathLst>
            </a:custGeom>
            <a:solidFill>
              <a:srgbClr val="E8A33D"/>
            </a:solidFill>
          </p:spPr>
        </p:sp>
      </p:grpSp>
      <p:grpSp>
        <p:nvGrpSpPr>
          <p:cNvPr name="Group 35" id="35"/>
          <p:cNvGrpSpPr/>
          <p:nvPr/>
        </p:nvGrpSpPr>
        <p:grpSpPr>
          <a:xfrm rot="0">
            <a:off x="11178540" y="5966460"/>
            <a:ext cx="3840480" cy="548640"/>
            <a:chOff x="0" y="0"/>
            <a:chExt cx="5120640" cy="731520"/>
          </a:xfrm>
        </p:grpSpPr>
        <p:sp>
          <p:nvSpPr>
            <p:cNvPr name="Freeform 36" id="36"/>
            <p:cNvSpPr/>
            <p:nvPr/>
          </p:nvSpPr>
          <p:spPr>
            <a:xfrm flipH="false" flipV="false" rot="0">
              <a:off x="0" y="0"/>
              <a:ext cx="5120640" cy="731520"/>
            </a:xfrm>
            <a:custGeom>
              <a:avLst/>
              <a:gdLst/>
              <a:ahLst/>
              <a:cxnLst/>
              <a:rect r="r" b="b" t="t" l="l"/>
              <a:pathLst>
                <a:path h="731520" w="5120640">
                  <a:moveTo>
                    <a:pt x="0" y="0"/>
                  </a:moveTo>
                  <a:lnTo>
                    <a:pt x="5120640" y="0"/>
                  </a:lnTo>
                  <a:lnTo>
                    <a:pt x="5120640" y="731520"/>
                  </a:lnTo>
                  <a:lnTo>
                    <a:pt x="0" y="731520"/>
                  </a:lnTo>
                  <a:close/>
                </a:path>
              </a:pathLst>
            </a:custGeom>
            <a:blipFill>
              <a:blip r:embed="rId3">
                <a:alphaModFix amt="0"/>
              </a:blip>
              <a:stretch>
                <a:fillRect l="0" t="-86395" r="0" b="-86395"/>
              </a:stretch>
            </a:blipFill>
          </p:spPr>
        </p:sp>
        <p:sp>
          <p:nvSpPr>
            <p:cNvPr name="TextBox 37" id="37"/>
            <p:cNvSpPr txBox="true"/>
            <p:nvPr/>
          </p:nvSpPr>
          <p:spPr>
            <a:xfrm>
              <a:off x="0" y="-38100"/>
              <a:ext cx="5120640" cy="769620"/>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Multiple Alerts, Zero 30-Day Rx</a:t>
              </a:r>
            </a:p>
          </p:txBody>
        </p:sp>
      </p:grpSp>
      <p:grpSp>
        <p:nvGrpSpPr>
          <p:cNvPr name="Group 38" id="38"/>
          <p:cNvGrpSpPr/>
          <p:nvPr/>
        </p:nvGrpSpPr>
        <p:grpSpPr>
          <a:xfrm rot="0">
            <a:off x="11178540" y="6487668"/>
            <a:ext cx="3840480" cy="411480"/>
            <a:chOff x="0" y="0"/>
            <a:chExt cx="5120640" cy="548640"/>
          </a:xfrm>
        </p:grpSpPr>
        <p:sp>
          <p:nvSpPr>
            <p:cNvPr name="Freeform 39" id="39"/>
            <p:cNvSpPr/>
            <p:nvPr/>
          </p:nvSpPr>
          <p:spPr>
            <a:xfrm flipH="false" flipV="false" rot="0">
              <a:off x="0" y="0"/>
              <a:ext cx="5120640" cy="548640"/>
            </a:xfrm>
            <a:custGeom>
              <a:avLst/>
              <a:gdLst/>
              <a:ahLst/>
              <a:cxnLst/>
              <a:rect r="r" b="b" t="t" l="l"/>
              <a:pathLst>
                <a:path h="548640" w="5120640">
                  <a:moveTo>
                    <a:pt x="0" y="0"/>
                  </a:moveTo>
                  <a:lnTo>
                    <a:pt x="5120640" y="0"/>
                  </a:lnTo>
                  <a:lnTo>
                    <a:pt x="5120640" y="548640"/>
                  </a:lnTo>
                  <a:lnTo>
                    <a:pt x="0" y="548640"/>
                  </a:lnTo>
                  <a:close/>
                </a:path>
              </a:pathLst>
            </a:custGeom>
            <a:blipFill>
              <a:blip r:embed="rId3">
                <a:alphaModFix amt="0"/>
              </a:blip>
              <a:stretch>
                <a:fillRect l="0" t="-131860" r="0" b="-131860"/>
              </a:stretch>
            </a:blipFill>
          </p:spPr>
        </p:sp>
        <p:sp>
          <p:nvSpPr>
            <p:cNvPr name="TextBox 40" id="40"/>
            <p:cNvSpPr txBox="true"/>
            <p:nvPr/>
          </p:nvSpPr>
          <p:spPr>
            <a:xfrm>
              <a:off x="0" y="-19050"/>
              <a:ext cx="5120640" cy="567690"/>
            </a:xfrm>
            <a:prstGeom prst="rect">
              <a:avLst/>
            </a:prstGeom>
          </p:spPr>
          <p:txBody>
            <a:bodyPr anchor="ctr" rtlCol="false" tIns="0" lIns="0" bIns="0" rIns="0"/>
            <a:lstStyle/>
            <a:p>
              <a:pPr algn="ctr">
                <a:lnSpc>
                  <a:spcPts val="1889"/>
                </a:lnSpc>
              </a:pPr>
              <a:r>
                <a:rPr lang="en-US" sz="1575">
                  <a:solidFill>
                    <a:srgbClr val="FFFFFF"/>
                  </a:solidFill>
                  <a:latin typeface="Calibri (MS)"/>
                  <a:ea typeface="Calibri (MS)"/>
                  <a:cs typeface="Calibri (MS)"/>
                  <a:sym typeface="Calibri (MS)"/>
                </a:rPr>
                <a:t>n = 68</a:t>
              </a:r>
            </a:p>
          </p:txBody>
        </p:sp>
      </p:grpSp>
      <p:grpSp>
        <p:nvGrpSpPr>
          <p:cNvPr name="Group 41" id="41"/>
          <p:cNvGrpSpPr/>
          <p:nvPr/>
        </p:nvGrpSpPr>
        <p:grpSpPr>
          <a:xfrm rot="0">
            <a:off x="9395460" y="7475220"/>
            <a:ext cx="8229600" cy="2331720"/>
            <a:chOff x="0" y="0"/>
            <a:chExt cx="10789920" cy="3057144"/>
          </a:xfrm>
        </p:grpSpPr>
        <p:sp>
          <p:nvSpPr>
            <p:cNvPr name="Freeform 42" id="42"/>
            <p:cNvSpPr/>
            <p:nvPr/>
          </p:nvSpPr>
          <p:spPr>
            <a:xfrm flipH="false" flipV="false" rot="0">
              <a:off x="0" y="0"/>
              <a:ext cx="10789920" cy="3057144"/>
            </a:xfrm>
            <a:custGeom>
              <a:avLst/>
              <a:gdLst/>
              <a:ahLst/>
              <a:cxnLst/>
              <a:rect r="r" b="b" t="t" l="l"/>
              <a:pathLst>
                <a:path h="3057144" w="10789920">
                  <a:moveTo>
                    <a:pt x="0" y="181164"/>
                  </a:moveTo>
                  <a:cubicBezTo>
                    <a:pt x="0" y="81146"/>
                    <a:pt x="65532" y="0"/>
                    <a:pt x="146304" y="0"/>
                  </a:cubicBezTo>
                  <a:lnTo>
                    <a:pt x="10643616" y="0"/>
                  </a:lnTo>
                  <a:cubicBezTo>
                    <a:pt x="10724388" y="0"/>
                    <a:pt x="10789920" y="81146"/>
                    <a:pt x="10789920" y="181164"/>
                  </a:cubicBezTo>
                  <a:lnTo>
                    <a:pt x="10789920" y="2875980"/>
                  </a:lnTo>
                  <a:cubicBezTo>
                    <a:pt x="10789920" y="2975998"/>
                    <a:pt x="10724388" y="3057144"/>
                    <a:pt x="10643616" y="3057144"/>
                  </a:cubicBezTo>
                  <a:lnTo>
                    <a:pt x="146304" y="3057144"/>
                  </a:lnTo>
                  <a:cubicBezTo>
                    <a:pt x="65532" y="3057144"/>
                    <a:pt x="0" y="2975998"/>
                    <a:pt x="0" y="2875980"/>
                  </a:cubicBezTo>
                  <a:close/>
                </a:path>
              </a:pathLst>
            </a:custGeom>
            <a:solidFill>
              <a:srgbClr val="F6F7FA"/>
            </a:solidFill>
          </p:spPr>
        </p:sp>
      </p:grpSp>
      <p:grpSp>
        <p:nvGrpSpPr>
          <p:cNvPr name="Group 43" id="43"/>
          <p:cNvGrpSpPr/>
          <p:nvPr/>
        </p:nvGrpSpPr>
        <p:grpSpPr>
          <a:xfrm rot="0">
            <a:off x="9738360" y="7680960"/>
            <a:ext cx="7406640" cy="384048"/>
            <a:chOff x="0" y="0"/>
            <a:chExt cx="9875520" cy="512064"/>
          </a:xfrm>
        </p:grpSpPr>
        <p:sp>
          <p:nvSpPr>
            <p:cNvPr name="Freeform 44" id="44"/>
            <p:cNvSpPr/>
            <p:nvPr/>
          </p:nvSpPr>
          <p:spPr>
            <a:xfrm flipH="false" flipV="false" rot="0">
              <a:off x="0" y="0"/>
              <a:ext cx="9875520" cy="512064"/>
            </a:xfrm>
            <a:custGeom>
              <a:avLst/>
              <a:gdLst/>
              <a:ahLst/>
              <a:cxnLst/>
              <a:rect r="r" b="b" t="t" l="l"/>
              <a:pathLst>
                <a:path h="512064" w="9875520">
                  <a:moveTo>
                    <a:pt x="0" y="0"/>
                  </a:moveTo>
                  <a:lnTo>
                    <a:pt x="9875520" y="0"/>
                  </a:lnTo>
                  <a:lnTo>
                    <a:pt x="9875520" y="512064"/>
                  </a:lnTo>
                  <a:lnTo>
                    <a:pt x="0" y="512064"/>
                  </a:lnTo>
                  <a:close/>
                </a:path>
              </a:pathLst>
            </a:custGeom>
            <a:blipFill>
              <a:blip r:embed="rId3">
                <a:alphaModFix amt="0"/>
              </a:blip>
              <a:stretch>
                <a:fillRect l="0" t="-325782" r="0" b="-325782"/>
              </a:stretch>
            </a:blipFill>
          </p:spPr>
        </p:sp>
        <p:sp>
          <p:nvSpPr>
            <p:cNvPr name="TextBox 45" id="45"/>
            <p:cNvSpPr txBox="true"/>
            <p:nvPr/>
          </p:nvSpPr>
          <p:spPr>
            <a:xfrm>
              <a:off x="0" y="-19050"/>
              <a:ext cx="9875520" cy="531114"/>
            </a:xfrm>
            <a:prstGeom prst="rect">
              <a:avLst/>
            </a:prstGeom>
          </p:spPr>
          <p:txBody>
            <a:bodyPr anchor="ctr" rtlCol="false" tIns="0" lIns="0" bIns="0" rIns="0"/>
            <a:lstStyle/>
            <a:p>
              <a:pPr algn="l">
                <a:lnSpc>
                  <a:spcPts val="1889"/>
                </a:lnSpc>
              </a:pPr>
              <a:r>
                <a:rPr lang="en-US" b="true" sz="1575" spc="150">
                  <a:solidFill>
                    <a:srgbClr val="16213E"/>
                  </a:solidFill>
                  <a:latin typeface="Calibri (MS) Bold"/>
                  <a:ea typeface="Calibri (MS) Bold"/>
                  <a:cs typeface="Calibri (MS) Bold"/>
                  <a:sym typeface="Calibri (MS) Bold"/>
                </a:rPr>
                <a:t>INSIGHTS</a:t>
              </a:r>
            </a:p>
          </p:txBody>
        </p:sp>
      </p:grpSp>
      <p:grpSp>
        <p:nvGrpSpPr>
          <p:cNvPr name="Group 46" id="46"/>
          <p:cNvGrpSpPr/>
          <p:nvPr/>
        </p:nvGrpSpPr>
        <p:grpSpPr>
          <a:xfrm rot="0">
            <a:off x="9553949" y="7992046"/>
            <a:ext cx="7406640" cy="1814894"/>
            <a:chOff x="0" y="0"/>
            <a:chExt cx="9875520" cy="2419858"/>
          </a:xfrm>
        </p:grpSpPr>
        <p:sp>
          <p:nvSpPr>
            <p:cNvPr name="Freeform 47" id="47"/>
            <p:cNvSpPr/>
            <p:nvPr/>
          </p:nvSpPr>
          <p:spPr>
            <a:xfrm flipH="false" flipV="false" rot="0">
              <a:off x="0" y="0"/>
              <a:ext cx="9875520" cy="2419858"/>
            </a:xfrm>
            <a:custGeom>
              <a:avLst/>
              <a:gdLst/>
              <a:ahLst/>
              <a:cxnLst/>
              <a:rect r="r" b="b" t="t" l="l"/>
              <a:pathLst>
                <a:path h="2419858" w="9875520">
                  <a:moveTo>
                    <a:pt x="0" y="0"/>
                  </a:moveTo>
                  <a:lnTo>
                    <a:pt x="9875520" y="0"/>
                  </a:lnTo>
                  <a:lnTo>
                    <a:pt x="9875520" y="2419858"/>
                  </a:lnTo>
                  <a:lnTo>
                    <a:pt x="0" y="2419858"/>
                  </a:lnTo>
                  <a:close/>
                </a:path>
              </a:pathLst>
            </a:custGeom>
            <a:blipFill>
              <a:blip r:embed="rId3">
                <a:alphaModFix amt="0"/>
              </a:blip>
              <a:stretch>
                <a:fillRect l="0" t="-47399" r="0" b="-11638"/>
              </a:stretch>
            </a:blipFill>
          </p:spPr>
        </p:sp>
        <p:sp>
          <p:nvSpPr>
            <p:cNvPr name="TextBox 48" id="48"/>
            <p:cNvSpPr txBox="true"/>
            <p:nvPr/>
          </p:nvSpPr>
          <p:spPr>
            <a:xfrm>
              <a:off x="0" y="-28575"/>
              <a:ext cx="9875520" cy="2448433"/>
            </a:xfrm>
            <a:prstGeom prst="rect">
              <a:avLst/>
            </a:prstGeom>
          </p:spPr>
          <p:txBody>
            <a:bodyPr anchor="ctr" rtlCol="false" tIns="0" lIns="0" bIns="0" rIns="0"/>
            <a:lstStyle/>
            <a:p>
              <a:pPr algn="l" marL="356235" indent="-178118" lvl="1">
                <a:lnSpc>
                  <a:spcPts val="1980"/>
                </a:lnSpc>
                <a:buFont typeface="Arial"/>
                <a:buChar char="•"/>
              </a:pPr>
              <a:r>
                <a:rPr lang="en-US" sz="1650" i="true">
                  <a:solidFill>
                    <a:srgbClr val="667085"/>
                  </a:solidFill>
                  <a:latin typeface="Calibri (MS) Italics"/>
                  <a:ea typeface="Calibri (MS) Italics"/>
                  <a:cs typeface="Calibri (MS) Italics"/>
                  <a:sym typeface="Calibri (MS) Italics"/>
                </a:rPr>
                <a:t>34% of repeat positive alerts HCPs never wrote a script within 30days.</a:t>
              </a:r>
            </a:p>
            <a:p>
              <a:pPr algn="l" marL="356235" indent="-178118" lvl="1">
                <a:lnSpc>
                  <a:spcPts val="1980"/>
                </a:lnSpc>
                <a:buFont typeface="Arial"/>
                <a:buChar char="•"/>
              </a:pPr>
              <a:r>
                <a:rPr lang="en-US" sz="1650" i="true">
                  <a:solidFill>
                    <a:srgbClr val="667085"/>
                  </a:solidFill>
                  <a:latin typeface="Calibri (MS) Italics"/>
                  <a:ea typeface="Calibri (MS) Italics"/>
                  <a:cs typeface="Calibri (MS) Italics"/>
                  <a:sym typeface="Calibri (MS) Italics"/>
                </a:rPr>
                <a:t> 68 doctors show a repeated undeniable clinical need signal(multiple positive alerts) yet  prescribe no drug within 30 days. This is the sharpest “need but” no action cohort in the data.</a:t>
              </a:r>
            </a:p>
            <a:p>
              <a:pPr algn="l" marL="356235" indent="-178118" lvl="1">
                <a:lnSpc>
                  <a:spcPts val="1980"/>
                </a:lnSpc>
                <a:buFont typeface="Arial"/>
                <a:buChar char="•"/>
              </a:pPr>
              <a:r>
                <a:rPr lang="en-US" sz="1650" i="true">
                  <a:solidFill>
                    <a:srgbClr val="667085"/>
                  </a:solidFill>
                  <a:latin typeface="Calibri (MS) Italics"/>
                  <a:ea typeface="Calibri (MS) Italics"/>
                  <a:cs typeface="Calibri (MS) Italics"/>
                  <a:sym typeface="Calibri (MS) Italics"/>
                </a:rPr>
                <a:t>HCP041 and HCP011 appear here and in the previous question top alert list-- our highest signal doctor are also our most silent prescribers.</a:t>
              </a:r>
            </a:p>
            <a:p>
              <a:pPr algn="l">
                <a:lnSpc>
                  <a:spcPts val="1980"/>
                </a:lnSpc>
              </a:pPr>
              <a:r>
                <a:rPr lang="en-US" sz="1650" i="true">
                  <a:solidFill>
                    <a:srgbClr val="667085"/>
                  </a:solidFill>
                  <a:latin typeface="Calibri (MS) Italics"/>
                  <a:ea typeface="Calibri (MS) Italics"/>
                  <a:cs typeface="Calibri (MS) Italics"/>
                  <a:sym typeface="Calibri (MS) Italics"/>
                </a:rPr>
                <a:t> </a:t>
              </a:r>
            </a:p>
          </p:txBody>
        </p:sp>
      </p:grpSp>
      <p:grpSp>
        <p:nvGrpSpPr>
          <p:cNvPr name="Group 49" id="49"/>
          <p:cNvGrpSpPr/>
          <p:nvPr/>
        </p:nvGrpSpPr>
        <p:grpSpPr>
          <a:xfrm rot="0">
            <a:off x="17282160" y="9806940"/>
            <a:ext cx="685800" cy="411480"/>
            <a:chOff x="0" y="0"/>
            <a:chExt cx="914400" cy="548640"/>
          </a:xfrm>
        </p:grpSpPr>
        <p:sp>
          <p:nvSpPr>
            <p:cNvPr name="Freeform 50" id="50"/>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51" id="51"/>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67085"/>
                  </a:solidFill>
                  <a:latin typeface="Calibri (MS)"/>
                  <a:ea typeface="Calibri (MS)"/>
                  <a:cs typeface="Calibri (MS)"/>
                  <a:sym typeface="Calibri (MS)"/>
                </a:rPr>
                <a:t>5</a:t>
              </a:r>
            </a:p>
          </p:txBody>
        </p:sp>
      </p:grpSp>
      <p:graphicFrame>
        <p:nvGraphicFramePr>
          <p:cNvPr name="Object 52" id="52"/>
          <p:cNvGraphicFramePr/>
          <p:nvPr/>
        </p:nvGraphicFramePr>
        <p:xfrm>
          <a:off x="754380" y="3188970"/>
          <a:ext cx="8086725" cy="6915150"/>
        </p:xfrm>
        <a:graphic>
          <a:graphicData uri="http://schemas.openxmlformats.org/presentationml/2006/ole">
            <p:oleObj imgW="9702800" imgH="85344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4380" y="48006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99">
                  <a:solidFill>
                    <a:srgbClr val="0F8B8D"/>
                  </a:solidFill>
                  <a:latin typeface="Calibri (MS) Bold"/>
                  <a:ea typeface="Calibri (MS) Bold"/>
                  <a:cs typeface="Calibri (MS) Bold"/>
                  <a:sym typeface="Calibri (MS) Bold"/>
                </a:rPr>
                <a:t>QUESTION 3</a:t>
              </a:r>
            </a:p>
          </p:txBody>
        </p:sp>
      </p:grpSp>
      <p:grpSp>
        <p:nvGrpSpPr>
          <p:cNvPr name="Group 5" id="5"/>
          <p:cNvGrpSpPr/>
          <p:nvPr/>
        </p:nvGrpSpPr>
        <p:grpSpPr>
          <a:xfrm rot="0">
            <a:off x="754380" y="850392"/>
            <a:ext cx="16733520" cy="1028700"/>
            <a:chOff x="0" y="0"/>
            <a:chExt cx="22311360" cy="1371600"/>
          </a:xfrm>
        </p:grpSpPr>
        <p:sp>
          <p:nvSpPr>
            <p:cNvPr name="Freeform 6" id="6"/>
            <p:cNvSpPr/>
            <p:nvPr/>
          </p:nvSpPr>
          <p:spPr>
            <a:xfrm flipH="false" flipV="false" rot="0">
              <a:off x="0" y="0"/>
              <a:ext cx="22311361" cy="1371600"/>
            </a:xfrm>
            <a:custGeom>
              <a:avLst/>
              <a:gdLst/>
              <a:ahLst/>
              <a:cxnLst/>
              <a:rect r="r" b="b" t="t" l="l"/>
              <a:pathLst>
                <a:path h="1371600" w="22311361">
                  <a:moveTo>
                    <a:pt x="0" y="0"/>
                  </a:moveTo>
                  <a:lnTo>
                    <a:pt x="22311361" y="0"/>
                  </a:lnTo>
                  <a:lnTo>
                    <a:pt x="22311361" y="1371600"/>
                  </a:lnTo>
                  <a:lnTo>
                    <a:pt x="0" y="1371600"/>
                  </a:lnTo>
                  <a:close/>
                </a:path>
              </a:pathLst>
            </a:custGeom>
            <a:blipFill>
              <a:blip r:embed="rId3">
                <a:alphaModFix amt="0"/>
              </a:blip>
              <a:stretch>
                <a:fillRect l="0" t="-266956" r="0" b="-266956"/>
              </a:stretch>
            </a:blipFill>
          </p:spPr>
        </p:sp>
        <p:sp>
          <p:nvSpPr>
            <p:cNvPr name="TextBox 7" id="7"/>
            <p:cNvSpPr txBox="true"/>
            <p:nvPr/>
          </p:nvSpPr>
          <p:spPr>
            <a:xfrm>
              <a:off x="0" y="-9525"/>
              <a:ext cx="22311360" cy="1381125"/>
            </a:xfrm>
            <a:prstGeom prst="rect">
              <a:avLst/>
            </a:prstGeom>
          </p:spPr>
          <p:txBody>
            <a:bodyPr anchor="ctr" rtlCol="false" tIns="0" lIns="0" bIns="0" rIns="0"/>
            <a:lstStyle/>
            <a:p>
              <a:pPr algn="l">
                <a:lnSpc>
                  <a:spcPts val="4680"/>
                </a:lnSpc>
              </a:pPr>
              <a:r>
                <a:rPr lang="en-US" sz="3900" b="true">
                  <a:solidFill>
                    <a:srgbClr val="16213E"/>
                  </a:solidFill>
                  <a:latin typeface="Georgia Bold"/>
                  <a:ea typeface="Georgia Bold"/>
                  <a:cs typeface="Georgia Bold"/>
                  <a:sym typeface="Georgia Bold"/>
                </a:rPr>
                <a:t>Among Our Top Doctors, How Much Business Goes to Competitors?</a:t>
              </a:r>
            </a:p>
          </p:txBody>
        </p:sp>
      </p:grpSp>
      <p:grpSp>
        <p:nvGrpSpPr>
          <p:cNvPr name="Group 8" id="8"/>
          <p:cNvGrpSpPr/>
          <p:nvPr/>
        </p:nvGrpSpPr>
        <p:grpSpPr>
          <a:xfrm rot="0">
            <a:off x="754380" y="1947672"/>
            <a:ext cx="16733520" cy="480060"/>
            <a:chOff x="0" y="0"/>
            <a:chExt cx="22311360" cy="640080"/>
          </a:xfrm>
        </p:grpSpPr>
        <p:sp>
          <p:nvSpPr>
            <p:cNvPr name="Freeform 9" id="9"/>
            <p:cNvSpPr/>
            <p:nvPr/>
          </p:nvSpPr>
          <p:spPr>
            <a:xfrm flipH="false" flipV="false" rot="0">
              <a:off x="0" y="0"/>
              <a:ext cx="22311361" cy="640080"/>
            </a:xfrm>
            <a:custGeom>
              <a:avLst/>
              <a:gdLst/>
              <a:ahLst/>
              <a:cxnLst/>
              <a:rect r="r" b="b" t="t" l="l"/>
              <a:pathLst>
                <a:path h="640080" w="22311361">
                  <a:moveTo>
                    <a:pt x="0" y="0"/>
                  </a:moveTo>
                  <a:lnTo>
                    <a:pt x="22311361" y="0"/>
                  </a:lnTo>
                  <a:lnTo>
                    <a:pt x="22311361" y="640080"/>
                  </a:lnTo>
                  <a:lnTo>
                    <a:pt x="0" y="640080"/>
                  </a:lnTo>
                  <a:close/>
                </a:path>
              </a:pathLst>
            </a:custGeom>
            <a:blipFill>
              <a:blip r:embed="rId3">
                <a:alphaModFix amt="0"/>
              </a:blip>
              <a:stretch>
                <a:fillRect l="0" t="-629192" r="0" b="-629192"/>
              </a:stretch>
            </a:blipFill>
          </p:spPr>
        </p:sp>
        <p:sp>
          <p:nvSpPr>
            <p:cNvPr name="TextBox 10" id="10"/>
            <p:cNvSpPr txBox="true"/>
            <p:nvPr/>
          </p:nvSpPr>
          <p:spPr>
            <a:xfrm>
              <a:off x="0" y="-38100"/>
              <a:ext cx="22311360" cy="678180"/>
            </a:xfrm>
            <a:prstGeom prst="rect">
              <a:avLst/>
            </a:prstGeom>
          </p:spPr>
          <p:txBody>
            <a:bodyPr anchor="ctr" rtlCol="false" tIns="0" lIns="0" bIns="0" rIns="0"/>
            <a:lstStyle/>
            <a:p>
              <a:pPr algn="l">
                <a:lnSpc>
                  <a:spcPts val="2250"/>
                </a:lnSpc>
              </a:pPr>
              <a:r>
                <a:rPr lang="en-US" sz="1875" i="true">
                  <a:solidFill>
                    <a:srgbClr val="667085"/>
                  </a:solidFill>
                  <a:latin typeface="Calibri (MS) Italics"/>
                  <a:ea typeface="Calibri (MS) Italics"/>
                  <a:cs typeface="Calibri (MS) Italics"/>
                  <a:sym typeface="Calibri (MS) Italics"/>
                </a:rPr>
                <a:t>Top 10 alert-volume HCPs from Q1 — prescription mix between DRG001 and competitor drugs.</a:t>
              </a:r>
            </a:p>
          </p:txBody>
        </p:sp>
      </p:grpSp>
      <p:grpSp>
        <p:nvGrpSpPr>
          <p:cNvPr name="Group 11" id="11"/>
          <p:cNvGrpSpPr/>
          <p:nvPr/>
        </p:nvGrpSpPr>
        <p:grpSpPr>
          <a:xfrm rot="0">
            <a:off x="11795760" y="2016252"/>
            <a:ext cx="5349240" cy="822960"/>
            <a:chOff x="0" y="0"/>
            <a:chExt cx="7132320" cy="1097280"/>
          </a:xfrm>
        </p:grpSpPr>
        <p:sp>
          <p:nvSpPr>
            <p:cNvPr name="Freeform 12" id="12"/>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3">
                <a:alphaModFix amt="0"/>
              </a:blip>
              <a:stretch>
                <a:fillRect l="0" t="-76652" r="0" b="-76652"/>
              </a:stretch>
            </a:blipFill>
          </p:spPr>
        </p:sp>
        <p:sp>
          <p:nvSpPr>
            <p:cNvPr name="TextBox 13" id="13"/>
            <p:cNvSpPr txBox="true"/>
            <p:nvPr/>
          </p:nvSpPr>
          <p:spPr>
            <a:xfrm>
              <a:off x="0" y="-38100"/>
              <a:ext cx="7132320" cy="1135380"/>
            </a:xfrm>
            <a:prstGeom prst="rect">
              <a:avLst/>
            </a:prstGeom>
          </p:spPr>
          <p:txBody>
            <a:bodyPr anchor="ctr" rtlCol="false" tIns="0" lIns="0" bIns="0" rIns="0"/>
            <a:lstStyle/>
            <a:p>
              <a:pPr algn="l">
                <a:lnSpc>
                  <a:spcPts val="2070"/>
                </a:lnSpc>
              </a:pPr>
              <a:r>
                <a:rPr lang="en-US" b="true" sz="1725" spc="150">
                  <a:solidFill>
                    <a:srgbClr val="0F8B8D"/>
                  </a:solidFill>
                  <a:latin typeface="Calibri (MS) Bold"/>
                  <a:ea typeface="Calibri (MS) Bold"/>
                  <a:cs typeface="Calibri (MS) Bold"/>
                  <a:sym typeface="Calibri (MS) Bold"/>
                </a:rPr>
                <a:t>MOST-PRESCRIBED</a:t>
              </a:r>
            </a:p>
            <a:p>
              <a:pPr algn="l">
                <a:lnSpc>
                  <a:spcPts val="2070"/>
                </a:lnSpc>
              </a:pPr>
              <a:r>
                <a:rPr lang="en-US" b="true" sz="1725" spc="150">
                  <a:solidFill>
                    <a:srgbClr val="0F8B8D"/>
                  </a:solidFill>
                  <a:latin typeface="Calibri (MS) Bold"/>
                  <a:ea typeface="Calibri (MS) Bold"/>
                  <a:cs typeface="Calibri (MS) Bold"/>
                  <a:sym typeface="Calibri (MS) Bold"/>
                </a:rPr>
                <a:t>COMPETITOR DRUG</a:t>
              </a:r>
            </a:p>
          </p:txBody>
        </p:sp>
      </p:grpSp>
      <p:grpSp>
        <p:nvGrpSpPr>
          <p:cNvPr name="Group 14" id="14"/>
          <p:cNvGrpSpPr/>
          <p:nvPr/>
        </p:nvGrpSpPr>
        <p:grpSpPr>
          <a:xfrm rot="0">
            <a:off x="11967210" y="4848479"/>
            <a:ext cx="5657850" cy="4727781"/>
            <a:chOff x="0" y="0"/>
            <a:chExt cx="8060499" cy="6735469"/>
          </a:xfrm>
        </p:grpSpPr>
        <p:sp>
          <p:nvSpPr>
            <p:cNvPr name="Freeform 15" id="15"/>
            <p:cNvSpPr/>
            <p:nvPr/>
          </p:nvSpPr>
          <p:spPr>
            <a:xfrm flipH="false" flipV="false" rot="0">
              <a:off x="0" y="0"/>
              <a:ext cx="8060499" cy="6735469"/>
            </a:xfrm>
            <a:custGeom>
              <a:avLst/>
              <a:gdLst/>
              <a:ahLst/>
              <a:cxnLst/>
              <a:rect r="r" b="b" t="t" l="l"/>
              <a:pathLst>
                <a:path h="6735469" w="8060499">
                  <a:moveTo>
                    <a:pt x="0" y="173819"/>
                  </a:moveTo>
                  <a:cubicBezTo>
                    <a:pt x="0" y="77856"/>
                    <a:pt x="74060" y="0"/>
                    <a:pt x="165344" y="0"/>
                  </a:cubicBezTo>
                  <a:lnTo>
                    <a:pt x="7895155" y="0"/>
                  </a:lnTo>
                  <a:cubicBezTo>
                    <a:pt x="7986439" y="0"/>
                    <a:pt x="8060499" y="77856"/>
                    <a:pt x="8060499" y="173819"/>
                  </a:cubicBezTo>
                  <a:lnTo>
                    <a:pt x="8060499" y="6561651"/>
                  </a:lnTo>
                  <a:cubicBezTo>
                    <a:pt x="8060499" y="6657613"/>
                    <a:pt x="7986439" y="6735469"/>
                    <a:pt x="7895155" y="6735469"/>
                  </a:cubicBezTo>
                  <a:lnTo>
                    <a:pt x="165344" y="6735469"/>
                  </a:lnTo>
                  <a:cubicBezTo>
                    <a:pt x="74060" y="6735469"/>
                    <a:pt x="0" y="6657612"/>
                    <a:pt x="0" y="6561651"/>
                  </a:cubicBezTo>
                  <a:close/>
                </a:path>
              </a:pathLst>
            </a:custGeom>
            <a:solidFill>
              <a:srgbClr val="16213E"/>
            </a:solidFill>
          </p:spPr>
        </p:sp>
      </p:grpSp>
      <p:grpSp>
        <p:nvGrpSpPr>
          <p:cNvPr name="Group 16" id="16"/>
          <p:cNvGrpSpPr/>
          <p:nvPr/>
        </p:nvGrpSpPr>
        <p:grpSpPr>
          <a:xfrm rot="0">
            <a:off x="12289932" y="5143500"/>
            <a:ext cx="4663440" cy="555904"/>
            <a:chOff x="0" y="0"/>
            <a:chExt cx="6217920" cy="741205"/>
          </a:xfrm>
        </p:grpSpPr>
        <p:sp>
          <p:nvSpPr>
            <p:cNvPr name="Freeform 17" id="17"/>
            <p:cNvSpPr/>
            <p:nvPr/>
          </p:nvSpPr>
          <p:spPr>
            <a:xfrm flipH="false" flipV="false" rot="0">
              <a:off x="0" y="0"/>
              <a:ext cx="6217920" cy="741205"/>
            </a:xfrm>
            <a:custGeom>
              <a:avLst/>
              <a:gdLst/>
              <a:ahLst/>
              <a:cxnLst/>
              <a:rect r="r" b="b" t="t" l="l"/>
              <a:pathLst>
                <a:path h="741205" w="6217920">
                  <a:moveTo>
                    <a:pt x="0" y="0"/>
                  </a:moveTo>
                  <a:lnTo>
                    <a:pt x="6217920" y="0"/>
                  </a:lnTo>
                  <a:lnTo>
                    <a:pt x="6217920" y="741205"/>
                  </a:lnTo>
                  <a:lnTo>
                    <a:pt x="0" y="741205"/>
                  </a:lnTo>
                  <a:close/>
                </a:path>
              </a:pathLst>
            </a:custGeom>
            <a:blipFill>
              <a:blip r:embed="rId3">
                <a:alphaModFix amt="0"/>
              </a:blip>
              <a:stretch>
                <a:fillRect l="0" t="-128915" r="0" b="-98001"/>
              </a:stretch>
            </a:blipFill>
          </p:spPr>
        </p:sp>
        <p:sp>
          <p:nvSpPr>
            <p:cNvPr name="TextBox 18" id="18"/>
            <p:cNvSpPr txBox="true"/>
            <p:nvPr/>
          </p:nvSpPr>
          <p:spPr>
            <a:xfrm>
              <a:off x="0" y="-66675"/>
              <a:ext cx="6217920" cy="807880"/>
            </a:xfrm>
            <a:prstGeom prst="rect">
              <a:avLst/>
            </a:prstGeom>
          </p:spPr>
          <p:txBody>
            <a:bodyPr anchor="ctr" rtlCol="false" tIns="0" lIns="0" bIns="0" rIns="0"/>
            <a:lstStyle/>
            <a:p>
              <a:pPr algn="l">
                <a:lnSpc>
                  <a:spcPts val="3329"/>
                </a:lnSpc>
              </a:pPr>
              <a:r>
                <a:rPr lang="en-US" b="true" sz="2774" spc="264">
                  <a:solidFill>
                    <a:srgbClr val="E8A33D"/>
                  </a:solidFill>
                  <a:latin typeface="Calibri (MS) Bold"/>
                  <a:ea typeface="Calibri (MS) Bold"/>
                  <a:cs typeface="Calibri (MS) Bold"/>
                  <a:sym typeface="Calibri (MS) Bold"/>
                </a:rPr>
                <a:t>INSIGHTS</a:t>
              </a:r>
            </a:p>
          </p:txBody>
        </p:sp>
      </p:grpSp>
      <p:grpSp>
        <p:nvGrpSpPr>
          <p:cNvPr name="Group 19" id="19"/>
          <p:cNvGrpSpPr/>
          <p:nvPr/>
        </p:nvGrpSpPr>
        <p:grpSpPr>
          <a:xfrm rot="0">
            <a:off x="12138660" y="5733288"/>
            <a:ext cx="4663440" cy="3525012"/>
            <a:chOff x="0" y="0"/>
            <a:chExt cx="6217920" cy="4700016"/>
          </a:xfrm>
        </p:grpSpPr>
        <p:sp>
          <p:nvSpPr>
            <p:cNvPr name="Freeform 20" id="20"/>
            <p:cNvSpPr/>
            <p:nvPr/>
          </p:nvSpPr>
          <p:spPr>
            <a:xfrm flipH="false" flipV="false" rot="0">
              <a:off x="0" y="0"/>
              <a:ext cx="6217920" cy="4700016"/>
            </a:xfrm>
            <a:custGeom>
              <a:avLst/>
              <a:gdLst/>
              <a:ahLst/>
              <a:cxnLst/>
              <a:rect r="r" b="b" t="t" l="l"/>
              <a:pathLst>
                <a:path h="4700016" w="6217920">
                  <a:moveTo>
                    <a:pt x="0" y="0"/>
                  </a:moveTo>
                  <a:lnTo>
                    <a:pt x="6217920" y="0"/>
                  </a:lnTo>
                  <a:lnTo>
                    <a:pt x="6217920" y="4700016"/>
                  </a:lnTo>
                  <a:lnTo>
                    <a:pt x="0" y="4700016"/>
                  </a:lnTo>
                  <a:close/>
                </a:path>
              </a:pathLst>
            </a:custGeom>
            <a:blipFill>
              <a:blip r:embed="rId3">
                <a:alphaModFix amt="0"/>
              </a:blip>
              <a:stretch>
                <a:fillRect l="-40567" t="0" r="-40567" b="6614"/>
              </a:stretch>
            </a:blipFill>
          </p:spPr>
        </p:sp>
        <p:sp>
          <p:nvSpPr>
            <p:cNvPr name="TextBox 21" id="21"/>
            <p:cNvSpPr txBox="true"/>
            <p:nvPr/>
          </p:nvSpPr>
          <p:spPr>
            <a:xfrm>
              <a:off x="0" y="-95250"/>
              <a:ext cx="6217920" cy="4795266"/>
            </a:xfrm>
            <a:prstGeom prst="rect">
              <a:avLst/>
            </a:prstGeom>
          </p:spPr>
          <p:txBody>
            <a:bodyPr anchor="ctr" rtlCol="false" tIns="0" lIns="0" bIns="0" rIns="0"/>
            <a:lstStyle/>
            <a:p>
              <a:pPr algn="l" marL="415606" indent="-207803" lvl="1">
                <a:lnSpc>
                  <a:spcPts val="2887"/>
                </a:lnSpc>
                <a:buFont typeface="Arial"/>
                <a:buChar char="•"/>
              </a:pPr>
              <a:r>
                <a:rPr lang="en-US" sz="1924" i="true">
                  <a:solidFill>
                    <a:srgbClr val="D7DDE8"/>
                  </a:solidFill>
                  <a:latin typeface="Calibri (MS) Italics"/>
                  <a:ea typeface="Calibri (MS) Italics"/>
                  <a:cs typeface="Calibri (MS) Italics"/>
                  <a:sym typeface="Calibri (MS) Italics"/>
                </a:rPr>
                <a:t>3 of the top 10 alert HCPs (HCP041, HCP011and HCP 021) handed out 0 prescription of any kind pure share loss but not competitor loss. </a:t>
              </a:r>
            </a:p>
            <a:p>
              <a:pPr algn="l" marL="415606" indent="-207803" lvl="1">
                <a:lnSpc>
                  <a:spcPts val="2887"/>
                </a:lnSpc>
                <a:buFont typeface="Arial"/>
                <a:buChar char="•"/>
              </a:pPr>
              <a:r>
                <a:rPr lang="en-US" sz="1924" i="true">
                  <a:solidFill>
                    <a:srgbClr val="D7DDE8"/>
                  </a:solidFill>
                  <a:latin typeface="Calibri (MS) Italics"/>
                  <a:ea typeface="Calibri (MS) Italics"/>
                  <a:cs typeface="Calibri (MS) Italics"/>
                  <a:sym typeface="Calibri (MS) Italics"/>
                </a:rPr>
                <a:t>Rivalex (DRG002) is the single biggest cometitor threat among our highest signal doctors, out prescribing us head-to-head where we should be winning by right off clinical fit.</a:t>
              </a:r>
            </a:p>
          </p:txBody>
        </p:sp>
      </p:grpSp>
      <p:grpSp>
        <p:nvGrpSpPr>
          <p:cNvPr name="Group 22" id="22"/>
          <p:cNvGrpSpPr/>
          <p:nvPr/>
        </p:nvGrpSpPr>
        <p:grpSpPr>
          <a:xfrm rot="0">
            <a:off x="17282160" y="9806940"/>
            <a:ext cx="685800" cy="411480"/>
            <a:chOff x="0" y="0"/>
            <a:chExt cx="914400" cy="548640"/>
          </a:xfrm>
        </p:grpSpPr>
        <p:sp>
          <p:nvSpPr>
            <p:cNvPr name="Freeform 23" id="23"/>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4" id="24"/>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67085"/>
                  </a:solidFill>
                  <a:latin typeface="Calibri (MS)"/>
                  <a:ea typeface="Calibri (MS)"/>
                  <a:cs typeface="Calibri (MS)"/>
                  <a:sym typeface="Calibri (MS)"/>
                </a:rPr>
                <a:t>6</a:t>
              </a:r>
            </a:p>
          </p:txBody>
        </p:sp>
      </p:grpSp>
      <p:graphicFrame>
        <p:nvGraphicFramePr>
          <p:cNvPr name="Object 25" id="25"/>
          <p:cNvGraphicFramePr/>
          <p:nvPr/>
        </p:nvGraphicFramePr>
        <p:xfrm>
          <a:off x="921315" y="2638699"/>
          <a:ext cx="10287000" cy="7080171"/>
        </p:xfrm>
        <a:graphic>
          <a:graphicData uri="http://schemas.openxmlformats.org/presentationml/2006/ole">
            <p:oleObj imgW="12344400" imgH="91313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graphicFrame>
        <p:nvGraphicFramePr>
          <p:cNvPr name="Object 26" id="26"/>
          <p:cNvGraphicFramePr/>
          <p:nvPr/>
        </p:nvGraphicFramePr>
        <p:xfrm>
          <a:off x="11795760" y="3085330"/>
          <a:ext cx="7858125" cy="1366314"/>
        </p:xfrm>
        <a:graphic>
          <a:graphicData uri="http://schemas.openxmlformats.org/presentationml/2006/ole">
            <p:oleObj imgW="9423400" imgH="2933700" r:id="rId7" progId="Excel.Sheet.12" name="Worksheet">
              <p:embed/>
              <p:pic>
                <p:nvPicPr>
                  <p:cNvPr name="" id="0"/>
                  <p:cNvPicPr/>
                  <p:nvPr/>
                </p:nvPicPr>
                <p:blipFill>
                  <a:blip r:embed="rId6"/>
                  <a:stretch>
                    <a:fillRect/>
                  </a:stretch>
                </p:blipFill>
                <p:spPr>
                  <a:xfrm>
                    <a:off x="1270000" y="1270000"/>
                    <a:ext cx="1270000" cy="1270000"/>
                  </a:xfrm>
                  <a:prstGeom prst="rect"/>
                </p:spPr>
              </p:pic>
            </p:oleObj>
          </a:graphicData>
        </a:graphic>
      </p:graphicFrame>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4380" y="48006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99">
                  <a:solidFill>
                    <a:srgbClr val="0F8B8D"/>
                  </a:solidFill>
                  <a:latin typeface="Calibri (MS) Bold"/>
                  <a:ea typeface="Calibri (MS) Bold"/>
                  <a:cs typeface="Calibri (MS) Bold"/>
                  <a:sym typeface="Calibri (MS) Bold"/>
                </a:rPr>
                <a:t>QUESTION 4</a:t>
              </a:r>
            </a:p>
          </p:txBody>
        </p:sp>
      </p:grpSp>
      <p:grpSp>
        <p:nvGrpSpPr>
          <p:cNvPr name="Group 5" id="5"/>
          <p:cNvGrpSpPr/>
          <p:nvPr/>
        </p:nvGrpSpPr>
        <p:grpSpPr>
          <a:xfrm rot="0">
            <a:off x="754380" y="850392"/>
            <a:ext cx="16733520" cy="1028700"/>
            <a:chOff x="0" y="0"/>
            <a:chExt cx="22311360" cy="1371600"/>
          </a:xfrm>
        </p:grpSpPr>
        <p:sp>
          <p:nvSpPr>
            <p:cNvPr name="Freeform 6" id="6"/>
            <p:cNvSpPr/>
            <p:nvPr/>
          </p:nvSpPr>
          <p:spPr>
            <a:xfrm flipH="false" flipV="false" rot="0">
              <a:off x="0" y="0"/>
              <a:ext cx="22311361" cy="1371600"/>
            </a:xfrm>
            <a:custGeom>
              <a:avLst/>
              <a:gdLst/>
              <a:ahLst/>
              <a:cxnLst/>
              <a:rect r="r" b="b" t="t" l="l"/>
              <a:pathLst>
                <a:path h="1371600" w="22311361">
                  <a:moveTo>
                    <a:pt x="0" y="0"/>
                  </a:moveTo>
                  <a:lnTo>
                    <a:pt x="22311361" y="0"/>
                  </a:lnTo>
                  <a:lnTo>
                    <a:pt x="22311361" y="1371600"/>
                  </a:lnTo>
                  <a:lnTo>
                    <a:pt x="0" y="1371600"/>
                  </a:lnTo>
                  <a:close/>
                </a:path>
              </a:pathLst>
            </a:custGeom>
            <a:blipFill>
              <a:blip r:embed="rId3">
                <a:alphaModFix amt="0"/>
              </a:blip>
              <a:stretch>
                <a:fillRect l="0" t="-266956" r="0" b="-266956"/>
              </a:stretch>
            </a:blipFill>
          </p:spPr>
        </p:sp>
        <p:sp>
          <p:nvSpPr>
            <p:cNvPr name="TextBox 7" id="7"/>
            <p:cNvSpPr txBox="true"/>
            <p:nvPr/>
          </p:nvSpPr>
          <p:spPr>
            <a:xfrm>
              <a:off x="0" y="-9525"/>
              <a:ext cx="22311360" cy="1381125"/>
            </a:xfrm>
            <a:prstGeom prst="rect">
              <a:avLst/>
            </a:prstGeom>
          </p:spPr>
          <p:txBody>
            <a:bodyPr anchor="ctr" rtlCol="false" tIns="0" lIns="0" bIns="0" rIns="0"/>
            <a:lstStyle/>
            <a:p>
              <a:pPr algn="l">
                <a:lnSpc>
                  <a:spcPts val="4680"/>
                </a:lnSpc>
              </a:pPr>
              <a:r>
                <a:rPr lang="en-US" sz="3900" b="true">
                  <a:solidFill>
                    <a:srgbClr val="16213E"/>
                  </a:solidFill>
                  <a:latin typeface="Georgia Bold"/>
                  <a:ea typeface="Georgia Bold"/>
                  <a:cs typeface="Georgia Bold"/>
                  <a:sym typeface="Georgia Bold"/>
                </a:rPr>
                <a:t>Which Hospitals Are Sitting on the Biggest Untapped Opportunity?</a:t>
              </a:r>
            </a:p>
          </p:txBody>
        </p:sp>
      </p:grpSp>
      <p:grpSp>
        <p:nvGrpSpPr>
          <p:cNvPr name="Group 8" id="8"/>
          <p:cNvGrpSpPr/>
          <p:nvPr/>
        </p:nvGrpSpPr>
        <p:grpSpPr>
          <a:xfrm rot="0">
            <a:off x="754380" y="1947672"/>
            <a:ext cx="16733520" cy="480060"/>
            <a:chOff x="0" y="0"/>
            <a:chExt cx="22311360" cy="640080"/>
          </a:xfrm>
        </p:grpSpPr>
        <p:sp>
          <p:nvSpPr>
            <p:cNvPr name="Freeform 9" id="9"/>
            <p:cNvSpPr/>
            <p:nvPr/>
          </p:nvSpPr>
          <p:spPr>
            <a:xfrm flipH="false" flipV="false" rot="0">
              <a:off x="0" y="0"/>
              <a:ext cx="22311361" cy="640080"/>
            </a:xfrm>
            <a:custGeom>
              <a:avLst/>
              <a:gdLst/>
              <a:ahLst/>
              <a:cxnLst/>
              <a:rect r="r" b="b" t="t" l="l"/>
              <a:pathLst>
                <a:path h="640080" w="22311361">
                  <a:moveTo>
                    <a:pt x="0" y="0"/>
                  </a:moveTo>
                  <a:lnTo>
                    <a:pt x="22311361" y="0"/>
                  </a:lnTo>
                  <a:lnTo>
                    <a:pt x="22311361" y="640080"/>
                  </a:lnTo>
                  <a:lnTo>
                    <a:pt x="0" y="640080"/>
                  </a:lnTo>
                  <a:close/>
                </a:path>
              </a:pathLst>
            </a:custGeom>
            <a:blipFill>
              <a:blip r:embed="rId3">
                <a:alphaModFix amt="0"/>
              </a:blip>
              <a:stretch>
                <a:fillRect l="0" t="-629192" r="0" b="-629192"/>
              </a:stretch>
            </a:blipFill>
          </p:spPr>
        </p:sp>
        <p:sp>
          <p:nvSpPr>
            <p:cNvPr name="TextBox 10" id="10"/>
            <p:cNvSpPr txBox="true"/>
            <p:nvPr/>
          </p:nvSpPr>
          <p:spPr>
            <a:xfrm>
              <a:off x="0" y="-38100"/>
              <a:ext cx="22311360" cy="678180"/>
            </a:xfrm>
            <a:prstGeom prst="rect">
              <a:avLst/>
            </a:prstGeom>
          </p:spPr>
          <p:txBody>
            <a:bodyPr anchor="ctr" rtlCol="false" tIns="0" lIns="0" bIns="0" rIns="0"/>
            <a:lstStyle/>
            <a:p>
              <a:pPr algn="l">
                <a:lnSpc>
                  <a:spcPts val="2250"/>
                </a:lnSpc>
              </a:pPr>
              <a:r>
                <a:rPr lang="en-US" sz="1875" i="true">
                  <a:solidFill>
                    <a:srgbClr val="667085"/>
                  </a:solidFill>
                  <a:latin typeface="Calibri (MS) Italics"/>
                  <a:ea typeface="Calibri (MS) Italics"/>
                  <a:cs typeface="Calibri (MS) Italics"/>
                  <a:sym typeface="Calibri (MS) Italics"/>
                </a:rPr>
                <a:t>Top 10 accounts by alert volume, ranked by lowest prescription conversion ratio.</a:t>
              </a:r>
            </a:p>
          </p:txBody>
        </p:sp>
      </p:grpSp>
      <p:grpSp>
        <p:nvGrpSpPr>
          <p:cNvPr name="Group 11" id="11"/>
          <p:cNvGrpSpPr/>
          <p:nvPr/>
        </p:nvGrpSpPr>
        <p:grpSpPr>
          <a:xfrm rot="0">
            <a:off x="754380" y="7140163"/>
            <a:ext cx="15910560" cy="822960"/>
            <a:chOff x="0" y="0"/>
            <a:chExt cx="21214080" cy="1097280"/>
          </a:xfrm>
        </p:grpSpPr>
        <p:sp>
          <p:nvSpPr>
            <p:cNvPr name="Freeform 12" id="12"/>
            <p:cNvSpPr/>
            <p:nvPr/>
          </p:nvSpPr>
          <p:spPr>
            <a:xfrm flipH="false" flipV="false" rot="0">
              <a:off x="0" y="0"/>
              <a:ext cx="21214080" cy="1097280"/>
            </a:xfrm>
            <a:custGeom>
              <a:avLst/>
              <a:gdLst/>
              <a:ahLst/>
              <a:cxnLst/>
              <a:rect r="r" b="b" t="t" l="l"/>
              <a:pathLst>
                <a:path h="1097280" w="21214080">
                  <a:moveTo>
                    <a:pt x="0" y="0"/>
                  </a:moveTo>
                  <a:lnTo>
                    <a:pt x="21214080" y="0"/>
                  </a:lnTo>
                  <a:lnTo>
                    <a:pt x="21214080" y="1097280"/>
                  </a:lnTo>
                  <a:lnTo>
                    <a:pt x="0" y="1097280"/>
                  </a:lnTo>
                  <a:close/>
                </a:path>
              </a:pathLst>
            </a:custGeom>
            <a:blipFill>
              <a:blip r:embed="rId3">
                <a:alphaModFix amt="0"/>
              </a:blip>
              <a:stretch>
                <a:fillRect l="0" t="-326710" r="0" b="-326710"/>
              </a:stretch>
            </a:blipFill>
          </p:spPr>
        </p:sp>
        <p:sp>
          <p:nvSpPr>
            <p:cNvPr name="TextBox 13" id="13"/>
            <p:cNvSpPr txBox="true"/>
            <p:nvPr/>
          </p:nvSpPr>
          <p:spPr>
            <a:xfrm>
              <a:off x="0" y="-38100"/>
              <a:ext cx="21214080" cy="1135380"/>
            </a:xfrm>
            <a:prstGeom prst="rect">
              <a:avLst/>
            </a:prstGeom>
          </p:spPr>
          <p:txBody>
            <a:bodyPr anchor="ctr" rtlCol="false" tIns="0" lIns="0" bIns="0" rIns="0"/>
            <a:lstStyle/>
            <a:p>
              <a:pPr algn="l">
                <a:lnSpc>
                  <a:spcPts val="2070"/>
                </a:lnSpc>
              </a:pPr>
              <a:r>
                <a:rPr lang="en-US" sz="1725" b="true">
                  <a:solidFill>
                    <a:srgbClr val="16213E"/>
                  </a:solidFill>
                  <a:latin typeface="Calibri (MS) Bold"/>
                  <a:ea typeface="Calibri (MS) Bold"/>
                  <a:cs typeface="Calibri (MS) Bold"/>
                  <a:sym typeface="Calibri (MS) Bold"/>
                </a:rPr>
                <a:t>Conversion Ratio = </a:t>
              </a:r>
              <a:r>
                <a:rPr lang="en-US" sz="1725">
                  <a:solidFill>
                    <a:srgbClr val="20262E"/>
                  </a:solidFill>
                  <a:latin typeface="Calibri (MS)"/>
                  <a:ea typeface="Calibri (MS)"/>
                  <a:cs typeface="Calibri (MS)"/>
                  <a:sym typeface="Calibri (MS)"/>
                </a:rPr>
                <a:t>Our Drug Prescription Count ÷ Total Alert Count. Lower ratio = higher untapped opportunity.</a:t>
              </a:r>
            </a:p>
          </p:txBody>
        </p:sp>
      </p:grpSp>
      <p:grpSp>
        <p:nvGrpSpPr>
          <p:cNvPr name="Group 14" id="14"/>
          <p:cNvGrpSpPr/>
          <p:nvPr/>
        </p:nvGrpSpPr>
        <p:grpSpPr>
          <a:xfrm rot="0">
            <a:off x="17282160" y="9806940"/>
            <a:ext cx="685800" cy="411480"/>
            <a:chOff x="0" y="0"/>
            <a:chExt cx="914400" cy="548640"/>
          </a:xfrm>
        </p:grpSpPr>
        <p:sp>
          <p:nvSpPr>
            <p:cNvPr name="Freeform 15" id="15"/>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16" id="16"/>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67085"/>
                  </a:solidFill>
                  <a:latin typeface="Calibri (MS)"/>
                  <a:ea typeface="Calibri (MS)"/>
                  <a:cs typeface="Calibri (MS)"/>
                  <a:sym typeface="Calibri (MS)"/>
                </a:rPr>
                <a:t>7</a:t>
              </a:r>
            </a:p>
          </p:txBody>
        </p:sp>
      </p:grpSp>
      <p:graphicFrame>
        <p:nvGraphicFramePr>
          <p:cNvPr name="Object 17" id="17"/>
          <p:cNvGraphicFramePr/>
          <p:nvPr/>
        </p:nvGraphicFramePr>
        <p:xfrm>
          <a:off x="754380" y="2689437"/>
          <a:ext cx="17364075" cy="4610100"/>
        </p:xfrm>
        <a:graphic>
          <a:graphicData uri="http://schemas.openxmlformats.org/presentationml/2006/ole">
            <p:oleObj imgW="20840700" imgH="80772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grpSp>
        <p:nvGrpSpPr>
          <p:cNvPr name="Group 18" id="18"/>
          <p:cNvGrpSpPr/>
          <p:nvPr/>
        </p:nvGrpSpPr>
        <p:grpSpPr>
          <a:xfrm rot="0">
            <a:off x="685800" y="7821447"/>
            <a:ext cx="16596360" cy="1748790"/>
            <a:chOff x="0" y="0"/>
            <a:chExt cx="21759672" cy="2292858"/>
          </a:xfrm>
        </p:grpSpPr>
        <p:sp>
          <p:nvSpPr>
            <p:cNvPr name="Freeform 19" id="19"/>
            <p:cNvSpPr/>
            <p:nvPr/>
          </p:nvSpPr>
          <p:spPr>
            <a:xfrm flipH="false" flipV="false" rot="0">
              <a:off x="0" y="0"/>
              <a:ext cx="21759672" cy="2292858"/>
            </a:xfrm>
            <a:custGeom>
              <a:avLst/>
              <a:gdLst/>
              <a:ahLst/>
              <a:cxnLst/>
              <a:rect r="r" b="b" t="t" l="l"/>
              <a:pathLst>
                <a:path h="2292858" w="21759672">
                  <a:moveTo>
                    <a:pt x="0" y="135873"/>
                  </a:moveTo>
                  <a:cubicBezTo>
                    <a:pt x="0" y="60860"/>
                    <a:pt x="132156" y="0"/>
                    <a:pt x="295046" y="0"/>
                  </a:cubicBezTo>
                  <a:lnTo>
                    <a:pt x="21464626" y="0"/>
                  </a:lnTo>
                  <a:cubicBezTo>
                    <a:pt x="21627516" y="0"/>
                    <a:pt x="21759672" y="60860"/>
                    <a:pt x="21759672" y="135873"/>
                  </a:cubicBezTo>
                  <a:lnTo>
                    <a:pt x="21759672" y="2156985"/>
                  </a:lnTo>
                  <a:cubicBezTo>
                    <a:pt x="21759672" y="2231998"/>
                    <a:pt x="21627516" y="2292858"/>
                    <a:pt x="21464626" y="2292858"/>
                  </a:cubicBezTo>
                  <a:lnTo>
                    <a:pt x="295046" y="2292858"/>
                  </a:lnTo>
                  <a:cubicBezTo>
                    <a:pt x="132156" y="2292858"/>
                    <a:pt x="0" y="2231998"/>
                    <a:pt x="0" y="2156985"/>
                  </a:cubicBezTo>
                  <a:close/>
                </a:path>
              </a:pathLst>
            </a:custGeom>
            <a:solidFill>
              <a:srgbClr val="F6F7FA"/>
            </a:solidFill>
          </p:spPr>
        </p:sp>
      </p:grpSp>
      <p:grpSp>
        <p:nvGrpSpPr>
          <p:cNvPr name="Group 20" id="20"/>
          <p:cNvGrpSpPr/>
          <p:nvPr/>
        </p:nvGrpSpPr>
        <p:grpSpPr>
          <a:xfrm rot="0">
            <a:off x="1028700" y="7963123"/>
            <a:ext cx="7406640" cy="469510"/>
            <a:chOff x="0" y="0"/>
            <a:chExt cx="9875520" cy="626013"/>
          </a:xfrm>
        </p:grpSpPr>
        <p:sp>
          <p:nvSpPr>
            <p:cNvPr name="Freeform 21" id="21"/>
            <p:cNvSpPr/>
            <p:nvPr/>
          </p:nvSpPr>
          <p:spPr>
            <a:xfrm flipH="false" flipV="false" rot="0">
              <a:off x="0" y="0"/>
              <a:ext cx="9875520" cy="626013"/>
            </a:xfrm>
            <a:custGeom>
              <a:avLst/>
              <a:gdLst/>
              <a:ahLst/>
              <a:cxnLst/>
              <a:rect r="r" b="b" t="t" l="l"/>
              <a:pathLst>
                <a:path h="626013" w="9875520">
                  <a:moveTo>
                    <a:pt x="0" y="0"/>
                  </a:moveTo>
                  <a:lnTo>
                    <a:pt x="9875520" y="0"/>
                  </a:lnTo>
                  <a:lnTo>
                    <a:pt x="9875520" y="626013"/>
                  </a:lnTo>
                  <a:lnTo>
                    <a:pt x="0" y="626013"/>
                  </a:lnTo>
                  <a:close/>
                </a:path>
              </a:pathLst>
            </a:custGeom>
            <a:blipFill>
              <a:blip r:embed="rId3">
                <a:alphaModFix amt="0"/>
              </a:blip>
              <a:stretch>
                <a:fillRect l="0" t="-266482" r="0" b="-248280"/>
              </a:stretch>
            </a:blipFill>
          </p:spPr>
        </p:sp>
        <p:sp>
          <p:nvSpPr>
            <p:cNvPr name="TextBox 22" id="22"/>
            <p:cNvSpPr txBox="true"/>
            <p:nvPr/>
          </p:nvSpPr>
          <p:spPr>
            <a:xfrm>
              <a:off x="0" y="-57150"/>
              <a:ext cx="9875520" cy="683163"/>
            </a:xfrm>
            <a:prstGeom prst="rect">
              <a:avLst/>
            </a:prstGeom>
          </p:spPr>
          <p:txBody>
            <a:bodyPr anchor="ctr" rtlCol="false" tIns="0" lIns="0" bIns="0" rIns="0"/>
            <a:lstStyle/>
            <a:p>
              <a:pPr algn="l">
                <a:lnSpc>
                  <a:spcPts val="2849"/>
                </a:lnSpc>
              </a:pPr>
              <a:r>
                <a:rPr lang="en-US" b="true" sz="2374" spc="226">
                  <a:solidFill>
                    <a:srgbClr val="16213E"/>
                  </a:solidFill>
                  <a:latin typeface="Calibri (MS) Bold"/>
                  <a:ea typeface="Calibri (MS) Bold"/>
                  <a:cs typeface="Calibri (MS) Bold"/>
                  <a:sym typeface="Calibri (MS) Bold"/>
                </a:rPr>
                <a:t>INSIGHTS</a:t>
              </a:r>
            </a:p>
          </p:txBody>
        </p:sp>
      </p:grpSp>
      <p:grpSp>
        <p:nvGrpSpPr>
          <p:cNvPr name="Group 23" id="23"/>
          <p:cNvGrpSpPr/>
          <p:nvPr/>
        </p:nvGrpSpPr>
        <p:grpSpPr>
          <a:xfrm rot="0">
            <a:off x="754380" y="8263890"/>
            <a:ext cx="14840576" cy="1165860"/>
            <a:chOff x="0" y="0"/>
            <a:chExt cx="19787435" cy="1554480"/>
          </a:xfrm>
        </p:grpSpPr>
        <p:sp>
          <p:nvSpPr>
            <p:cNvPr name="Freeform 24" id="24"/>
            <p:cNvSpPr/>
            <p:nvPr/>
          </p:nvSpPr>
          <p:spPr>
            <a:xfrm flipH="false" flipV="false" rot="0">
              <a:off x="0" y="0"/>
              <a:ext cx="19787434" cy="1554480"/>
            </a:xfrm>
            <a:custGeom>
              <a:avLst/>
              <a:gdLst/>
              <a:ahLst/>
              <a:cxnLst/>
              <a:rect r="r" b="b" t="t" l="l"/>
              <a:pathLst>
                <a:path h="1554480" w="19787434">
                  <a:moveTo>
                    <a:pt x="0" y="0"/>
                  </a:moveTo>
                  <a:lnTo>
                    <a:pt x="19787434" y="0"/>
                  </a:lnTo>
                  <a:lnTo>
                    <a:pt x="19787434" y="1554480"/>
                  </a:lnTo>
                  <a:lnTo>
                    <a:pt x="0" y="1554480"/>
                  </a:lnTo>
                  <a:close/>
                </a:path>
              </a:pathLst>
            </a:custGeom>
            <a:blipFill>
              <a:blip r:embed="rId3">
                <a:alphaModFix amt="0"/>
              </a:blip>
              <a:stretch>
                <a:fillRect l="0" t="-73787" r="50091" b="-73787"/>
              </a:stretch>
            </a:blipFill>
          </p:spPr>
        </p:sp>
        <p:sp>
          <p:nvSpPr>
            <p:cNvPr name="TextBox 25" id="25"/>
            <p:cNvSpPr txBox="true"/>
            <p:nvPr/>
          </p:nvSpPr>
          <p:spPr>
            <a:xfrm>
              <a:off x="0" y="-38100"/>
              <a:ext cx="19787435" cy="1592580"/>
            </a:xfrm>
            <a:prstGeom prst="rect">
              <a:avLst/>
            </a:prstGeom>
          </p:spPr>
          <p:txBody>
            <a:bodyPr anchor="ctr" rtlCol="false" tIns="0" lIns="0" bIns="0" rIns="0"/>
            <a:lstStyle/>
            <a:p>
              <a:pPr algn="l" marL="377824" indent="-188912" lvl="1">
                <a:lnSpc>
                  <a:spcPts val="2099"/>
                </a:lnSpc>
                <a:buFont typeface="Arial"/>
                <a:buChar char="•"/>
              </a:pPr>
              <a:r>
                <a:rPr lang="en-US" sz="1749" i="true">
                  <a:solidFill>
                    <a:srgbClr val="667085"/>
                  </a:solidFill>
                  <a:latin typeface="Calibri (MS) Italics"/>
                  <a:ea typeface="Calibri (MS) Italics"/>
                  <a:cs typeface="Calibri (MS) Italics"/>
                  <a:sym typeface="Calibri (MS) Italics"/>
                </a:rPr>
                <a:t>ACC001(Northside General Hospital) leads alert volume but convert at just 0.12 RX per alert – the single largest revenue gap in the hospital network.</a:t>
              </a:r>
            </a:p>
            <a:p>
              <a:pPr algn="l" marL="377824" indent="-188912" lvl="1">
                <a:lnSpc>
                  <a:spcPts val="2099"/>
                </a:lnSpc>
                <a:buFont typeface="Arial"/>
                <a:buChar char="•"/>
              </a:pPr>
              <a:r>
                <a:rPr lang="en-US" sz="1749" i="true">
                  <a:solidFill>
                    <a:srgbClr val="667085"/>
                  </a:solidFill>
                  <a:latin typeface="Calibri (MS) Italics"/>
                  <a:ea typeface="Calibri (MS) Italics"/>
                  <a:cs typeface="Calibri (MS) Italics"/>
                  <a:sym typeface="Calibri (MS) Italics"/>
                </a:rPr>
                <a:t>The Top 3 accounts by alert volume all sit under a 0.16 conversion ratio meaning where clinical demand is loudest, our capture is weakest, this is targeting priority list.</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4380" y="48006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99">
                  <a:solidFill>
                    <a:srgbClr val="0F8B8D"/>
                  </a:solidFill>
                  <a:latin typeface="Calibri (MS) Bold"/>
                  <a:ea typeface="Calibri (MS) Bold"/>
                  <a:cs typeface="Calibri (MS) Bold"/>
                  <a:sym typeface="Calibri (MS) Bold"/>
                </a:rPr>
                <a:t>QUESTION 5</a:t>
              </a:r>
            </a:p>
          </p:txBody>
        </p:sp>
      </p:grpSp>
      <p:grpSp>
        <p:nvGrpSpPr>
          <p:cNvPr name="Group 5" id="5"/>
          <p:cNvGrpSpPr/>
          <p:nvPr/>
        </p:nvGrpSpPr>
        <p:grpSpPr>
          <a:xfrm rot="0">
            <a:off x="754380" y="850392"/>
            <a:ext cx="16733520" cy="1028700"/>
            <a:chOff x="0" y="0"/>
            <a:chExt cx="22311360" cy="1371600"/>
          </a:xfrm>
        </p:grpSpPr>
        <p:sp>
          <p:nvSpPr>
            <p:cNvPr name="Freeform 6" id="6"/>
            <p:cNvSpPr/>
            <p:nvPr/>
          </p:nvSpPr>
          <p:spPr>
            <a:xfrm flipH="false" flipV="false" rot="0">
              <a:off x="0" y="0"/>
              <a:ext cx="22311361" cy="1371600"/>
            </a:xfrm>
            <a:custGeom>
              <a:avLst/>
              <a:gdLst/>
              <a:ahLst/>
              <a:cxnLst/>
              <a:rect r="r" b="b" t="t" l="l"/>
              <a:pathLst>
                <a:path h="1371600" w="22311361">
                  <a:moveTo>
                    <a:pt x="0" y="0"/>
                  </a:moveTo>
                  <a:lnTo>
                    <a:pt x="22311361" y="0"/>
                  </a:lnTo>
                  <a:lnTo>
                    <a:pt x="22311361" y="1371600"/>
                  </a:lnTo>
                  <a:lnTo>
                    <a:pt x="0" y="1371600"/>
                  </a:lnTo>
                  <a:close/>
                </a:path>
              </a:pathLst>
            </a:custGeom>
            <a:blipFill>
              <a:blip r:embed="rId3">
                <a:alphaModFix amt="0"/>
              </a:blip>
              <a:stretch>
                <a:fillRect l="0" t="-266956" r="0" b="-266956"/>
              </a:stretch>
            </a:blipFill>
          </p:spPr>
        </p:sp>
        <p:sp>
          <p:nvSpPr>
            <p:cNvPr name="TextBox 7" id="7"/>
            <p:cNvSpPr txBox="true"/>
            <p:nvPr/>
          </p:nvSpPr>
          <p:spPr>
            <a:xfrm>
              <a:off x="0" y="-9525"/>
              <a:ext cx="22311360" cy="1381125"/>
            </a:xfrm>
            <a:prstGeom prst="rect">
              <a:avLst/>
            </a:prstGeom>
          </p:spPr>
          <p:txBody>
            <a:bodyPr anchor="ctr" rtlCol="false" tIns="0" lIns="0" bIns="0" rIns="0"/>
            <a:lstStyle/>
            <a:p>
              <a:pPr algn="l">
                <a:lnSpc>
                  <a:spcPts val="4680"/>
                </a:lnSpc>
              </a:pPr>
              <a:r>
                <a:rPr lang="en-US" sz="3900" b="true">
                  <a:solidFill>
                    <a:srgbClr val="16213E"/>
                  </a:solidFill>
                  <a:latin typeface="Georgia Bold"/>
                  <a:ea typeface="Georgia Bold"/>
                  <a:cs typeface="Georgia Bold"/>
                  <a:sym typeface="Georgia Bold"/>
                </a:rPr>
                <a:t>Which Accounts Represent the Largest Untapped Prescription Opportunity?</a:t>
              </a:r>
            </a:p>
          </p:txBody>
        </p:sp>
      </p:grpSp>
      <p:grpSp>
        <p:nvGrpSpPr>
          <p:cNvPr name="Group 8" id="8"/>
          <p:cNvGrpSpPr/>
          <p:nvPr/>
        </p:nvGrpSpPr>
        <p:grpSpPr>
          <a:xfrm rot="0">
            <a:off x="754380" y="1947672"/>
            <a:ext cx="16733520" cy="480060"/>
            <a:chOff x="0" y="0"/>
            <a:chExt cx="22311360" cy="640080"/>
          </a:xfrm>
        </p:grpSpPr>
        <p:sp>
          <p:nvSpPr>
            <p:cNvPr name="Freeform 9" id="9"/>
            <p:cNvSpPr/>
            <p:nvPr/>
          </p:nvSpPr>
          <p:spPr>
            <a:xfrm flipH="false" flipV="false" rot="0">
              <a:off x="0" y="0"/>
              <a:ext cx="22311361" cy="640080"/>
            </a:xfrm>
            <a:custGeom>
              <a:avLst/>
              <a:gdLst/>
              <a:ahLst/>
              <a:cxnLst/>
              <a:rect r="r" b="b" t="t" l="l"/>
              <a:pathLst>
                <a:path h="640080" w="22311361">
                  <a:moveTo>
                    <a:pt x="0" y="0"/>
                  </a:moveTo>
                  <a:lnTo>
                    <a:pt x="22311361" y="0"/>
                  </a:lnTo>
                  <a:lnTo>
                    <a:pt x="22311361" y="640080"/>
                  </a:lnTo>
                  <a:lnTo>
                    <a:pt x="0" y="640080"/>
                  </a:lnTo>
                  <a:close/>
                </a:path>
              </a:pathLst>
            </a:custGeom>
            <a:blipFill>
              <a:blip r:embed="rId3">
                <a:alphaModFix amt="0"/>
              </a:blip>
              <a:stretch>
                <a:fillRect l="0" t="-629192" r="0" b="-629192"/>
              </a:stretch>
            </a:blipFill>
          </p:spPr>
        </p:sp>
        <p:sp>
          <p:nvSpPr>
            <p:cNvPr name="TextBox 10" id="10"/>
            <p:cNvSpPr txBox="true"/>
            <p:nvPr/>
          </p:nvSpPr>
          <p:spPr>
            <a:xfrm>
              <a:off x="0" y="-38100"/>
              <a:ext cx="22311360" cy="678180"/>
            </a:xfrm>
            <a:prstGeom prst="rect">
              <a:avLst/>
            </a:prstGeom>
          </p:spPr>
          <p:txBody>
            <a:bodyPr anchor="ctr" rtlCol="false" tIns="0" lIns="0" bIns="0" rIns="0"/>
            <a:lstStyle/>
            <a:p>
              <a:pPr algn="l">
                <a:lnSpc>
                  <a:spcPts val="2250"/>
                </a:lnSpc>
              </a:pPr>
              <a:r>
                <a:rPr lang="en-US" sz="1875" i="true">
                  <a:solidFill>
                    <a:srgbClr val="667085"/>
                  </a:solidFill>
                  <a:latin typeface="Calibri (MS) Italics"/>
                  <a:ea typeface="Calibri (MS) Italics"/>
                  <a:cs typeface="Calibri (MS) Italics"/>
                  <a:sym typeface="Calibri (MS) Italics"/>
                </a:rPr>
                <a:t>Top 10 accounts by lowest prescriptions-per-active-doctor ratio, with account size vs. efficiency view.</a:t>
              </a:r>
            </a:p>
          </p:txBody>
        </p:sp>
      </p:grpSp>
      <p:grpSp>
        <p:nvGrpSpPr>
          <p:cNvPr name="Group 11" id="11"/>
          <p:cNvGrpSpPr/>
          <p:nvPr/>
        </p:nvGrpSpPr>
        <p:grpSpPr>
          <a:xfrm rot="0">
            <a:off x="11521440" y="2674620"/>
            <a:ext cx="5966460" cy="411480"/>
            <a:chOff x="0" y="0"/>
            <a:chExt cx="7955280" cy="548640"/>
          </a:xfrm>
        </p:grpSpPr>
        <p:sp>
          <p:nvSpPr>
            <p:cNvPr name="Freeform 12" id="12"/>
            <p:cNvSpPr/>
            <p:nvPr/>
          </p:nvSpPr>
          <p:spPr>
            <a:xfrm flipH="false" flipV="false" rot="0">
              <a:off x="0" y="0"/>
              <a:ext cx="7955280" cy="548640"/>
            </a:xfrm>
            <a:custGeom>
              <a:avLst/>
              <a:gdLst/>
              <a:ahLst/>
              <a:cxnLst/>
              <a:rect r="r" b="b" t="t" l="l"/>
              <a:pathLst>
                <a:path h="548640" w="7955280">
                  <a:moveTo>
                    <a:pt x="0" y="0"/>
                  </a:moveTo>
                  <a:lnTo>
                    <a:pt x="7955280" y="0"/>
                  </a:lnTo>
                  <a:lnTo>
                    <a:pt x="7955280" y="548640"/>
                  </a:lnTo>
                  <a:lnTo>
                    <a:pt x="0" y="548640"/>
                  </a:lnTo>
                  <a:close/>
                </a:path>
              </a:pathLst>
            </a:custGeom>
            <a:blipFill>
              <a:blip r:embed="rId3">
                <a:alphaModFix amt="0"/>
              </a:blip>
              <a:stretch>
                <a:fillRect l="0" t="-232533" r="0" b="-232533"/>
              </a:stretch>
            </a:blipFill>
          </p:spPr>
        </p:sp>
        <p:sp>
          <p:nvSpPr>
            <p:cNvPr name="TextBox 13" id="13"/>
            <p:cNvSpPr txBox="true"/>
            <p:nvPr/>
          </p:nvSpPr>
          <p:spPr>
            <a:xfrm>
              <a:off x="0" y="-38100"/>
              <a:ext cx="7955280" cy="586740"/>
            </a:xfrm>
            <a:prstGeom prst="rect">
              <a:avLst/>
            </a:prstGeom>
          </p:spPr>
          <p:txBody>
            <a:bodyPr anchor="ctr" rtlCol="false" tIns="0" lIns="0" bIns="0" rIns="0"/>
            <a:lstStyle/>
            <a:p>
              <a:pPr algn="l">
                <a:lnSpc>
                  <a:spcPts val="2070"/>
                </a:lnSpc>
              </a:pPr>
              <a:r>
                <a:rPr lang="en-US" b="true" sz="1725" spc="150">
                  <a:solidFill>
                    <a:srgbClr val="0F8B8D"/>
                  </a:solidFill>
                  <a:latin typeface="Calibri (MS) Bold"/>
                  <a:ea typeface="Calibri (MS) Bold"/>
                  <a:cs typeface="Calibri (MS) Bold"/>
                  <a:sym typeface="Calibri (MS) Bold"/>
                </a:rPr>
                <a:t>ACCOUNT SIZE VS. RX EFFICIENCY</a:t>
              </a:r>
            </a:p>
          </p:txBody>
        </p:sp>
      </p:grpSp>
      <p:grpSp>
        <p:nvGrpSpPr>
          <p:cNvPr name="Group 14" id="14"/>
          <p:cNvGrpSpPr/>
          <p:nvPr/>
        </p:nvGrpSpPr>
        <p:grpSpPr>
          <a:xfrm rot="0">
            <a:off x="11991975" y="7259955"/>
            <a:ext cx="5093970" cy="19050"/>
            <a:chOff x="0" y="0"/>
            <a:chExt cx="6791960" cy="25400"/>
          </a:xfrm>
        </p:grpSpPr>
        <p:sp>
          <p:nvSpPr>
            <p:cNvPr name="Freeform 15" id="15"/>
            <p:cNvSpPr/>
            <p:nvPr/>
          </p:nvSpPr>
          <p:spPr>
            <a:xfrm flipH="false" flipV="false" rot="0">
              <a:off x="0" y="0"/>
              <a:ext cx="6791960" cy="25400"/>
            </a:xfrm>
            <a:custGeom>
              <a:avLst/>
              <a:gdLst/>
              <a:ahLst/>
              <a:cxnLst/>
              <a:rect r="r" b="b" t="t" l="l"/>
              <a:pathLst>
                <a:path h="25400" w="6791960">
                  <a:moveTo>
                    <a:pt x="0" y="0"/>
                  </a:moveTo>
                  <a:lnTo>
                    <a:pt x="6791960" y="25400"/>
                  </a:lnTo>
                </a:path>
              </a:pathLst>
            </a:custGeom>
            <a:blipFill>
              <a:blip r:embed="rId3">
                <a:alphaModFix amt="0"/>
              </a:blip>
              <a:stretch>
                <a:fillRect l="0" t="-5160299" r="0" b="-5160299"/>
              </a:stretch>
            </a:blipFill>
            <a:ln w="19050" cap="sq">
              <a:solidFill>
                <a:srgbClr val="667085"/>
              </a:solidFill>
              <a:prstDash val="solid"/>
              <a:miter/>
            </a:ln>
          </p:spPr>
        </p:sp>
      </p:grpSp>
      <p:grpSp>
        <p:nvGrpSpPr>
          <p:cNvPr name="Group 16" id="16"/>
          <p:cNvGrpSpPr/>
          <p:nvPr/>
        </p:nvGrpSpPr>
        <p:grpSpPr>
          <a:xfrm rot="0">
            <a:off x="11991975" y="3488055"/>
            <a:ext cx="19050" cy="3790950"/>
            <a:chOff x="0" y="0"/>
            <a:chExt cx="25400" cy="5054600"/>
          </a:xfrm>
        </p:grpSpPr>
        <p:sp>
          <p:nvSpPr>
            <p:cNvPr name="Freeform 17" id="17"/>
            <p:cNvSpPr/>
            <p:nvPr/>
          </p:nvSpPr>
          <p:spPr>
            <a:xfrm flipH="false" flipV="false" rot="0">
              <a:off x="0" y="0"/>
              <a:ext cx="25400" cy="5054600"/>
            </a:xfrm>
            <a:custGeom>
              <a:avLst/>
              <a:gdLst/>
              <a:ahLst/>
              <a:cxnLst/>
              <a:rect r="r" b="b" t="t" l="l"/>
              <a:pathLst>
                <a:path h="5054600" w="25400">
                  <a:moveTo>
                    <a:pt x="0" y="0"/>
                  </a:moveTo>
                  <a:lnTo>
                    <a:pt x="25400" y="5054600"/>
                  </a:lnTo>
                </a:path>
              </a:pathLst>
            </a:custGeom>
            <a:blipFill>
              <a:blip r:embed="rId3">
                <a:alphaModFix amt="0"/>
              </a:blip>
              <a:stretch>
                <a:fillRect l="-25482410" t="0" r="-25482410" b="0"/>
              </a:stretch>
            </a:blipFill>
            <a:ln w="19050" cap="sq">
              <a:solidFill>
                <a:srgbClr val="667085"/>
              </a:solidFill>
              <a:prstDash val="solid"/>
              <a:miter/>
            </a:ln>
          </p:spPr>
        </p:sp>
      </p:grpSp>
      <p:grpSp>
        <p:nvGrpSpPr>
          <p:cNvPr name="Group 18" id="18"/>
          <p:cNvGrpSpPr/>
          <p:nvPr/>
        </p:nvGrpSpPr>
        <p:grpSpPr>
          <a:xfrm rot="0">
            <a:off x="17282160" y="9806940"/>
            <a:ext cx="685800" cy="411480"/>
            <a:chOff x="0" y="0"/>
            <a:chExt cx="914400" cy="548640"/>
          </a:xfrm>
        </p:grpSpPr>
        <p:sp>
          <p:nvSpPr>
            <p:cNvPr name="Freeform 19" id="1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0" id="20"/>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67085"/>
                  </a:solidFill>
                  <a:latin typeface="Calibri (MS)"/>
                  <a:ea typeface="Calibri (MS)"/>
                  <a:cs typeface="Calibri (MS)"/>
                  <a:sym typeface="Calibri (MS)"/>
                </a:rPr>
                <a:t>8</a:t>
              </a:r>
            </a:p>
          </p:txBody>
        </p:sp>
      </p:grpSp>
      <p:graphicFrame>
        <p:nvGraphicFramePr>
          <p:cNvPr name="Object 21" id="21"/>
          <p:cNvGraphicFramePr/>
          <p:nvPr/>
        </p:nvGraphicFramePr>
        <p:xfrm>
          <a:off x="695325" y="2555741"/>
          <a:ext cx="16230600" cy="6099076"/>
        </p:xfrm>
        <a:graphic>
          <a:graphicData uri="http://schemas.openxmlformats.org/presentationml/2006/ole">
            <p:oleObj imgW="19469100" imgH="93345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Freeform 22" id="22"/>
          <p:cNvSpPr/>
          <p:nvPr/>
        </p:nvSpPr>
        <p:spPr>
          <a:xfrm flipH="false" flipV="false" rot="0">
            <a:off x="11147317" y="3209925"/>
            <a:ext cx="6965074" cy="3926205"/>
          </a:xfrm>
          <a:custGeom>
            <a:avLst/>
            <a:gdLst/>
            <a:ahLst/>
            <a:cxnLst/>
            <a:rect r="r" b="b" t="t" l="l"/>
            <a:pathLst>
              <a:path h="3926205" w="6965074">
                <a:moveTo>
                  <a:pt x="0" y="0"/>
                </a:moveTo>
                <a:lnTo>
                  <a:pt x="6965073" y="0"/>
                </a:lnTo>
                <a:lnTo>
                  <a:pt x="6965073" y="3926205"/>
                </a:lnTo>
                <a:lnTo>
                  <a:pt x="0" y="3926205"/>
                </a:lnTo>
                <a:lnTo>
                  <a:pt x="0" y="0"/>
                </a:lnTo>
                <a:close/>
              </a:path>
            </a:pathLst>
          </a:custGeom>
          <a:blipFill>
            <a:blip r:embed="rId6"/>
            <a:stretch>
              <a:fillRect l="-453" t="0" r="-60" b="0"/>
            </a:stretch>
          </a:blipFill>
        </p:spPr>
      </p:sp>
      <p:grpSp>
        <p:nvGrpSpPr>
          <p:cNvPr name="Group 23" id="23"/>
          <p:cNvGrpSpPr/>
          <p:nvPr/>
        </p:nvGrpSpPr>
        <p:grpSpPr>
          <a:xfrm rot="0">
            <a:off x="662940" y="8263890"/>
            <a:ext cx="16596360" cy="1748790"/>
            <a:chOff x="0" y="0"/>
            <a:chExt cx="21759672" cy="2292858"/>
          </a:xfrm>
        </p:grpSpPr>
        <p:sp>
          <p:nvSpPr>
            <p:cNvPr name="Freeform 24" id="24"/>
            <p:cNvSpPr/>
            <p:nvPr/>
          </p:nvSpPr>
          <p:spPr>
            <a:xfrm flipH="false" flipV="false" rot="0">
              <a:off x="0" y="0"/>
              <a:ext cx="21759672" cy="2292858"/>
            </a:xfrm>
            <a:custGeom>
              <a:avLst/>
              <a:gdLst/>
              <a:ahLst/>
              <a:cxnLst/>
              <a:rect r="r" b="b" t="t" l="l"/>
              <a:pathLst>
                <a:path h="2292858" w="21759672">
                  <a:moveTo>
                    <a:pt x="0" y="135873"/>
                  </a:moveTo>
                  <a:cubicBezTo>
                    <a:pt x="0" y="60860"/>
                    <a:pt x="132156" y="0"/>
                    <a:pt x="295046" y="0"/>
                  </a:cubicBezTo>
                  <a:lnTo>
                    <a:pt x="21464626" y="0"/>
                  </a:lnTo>
                  <a:cubicBezTo>
                    <a:pt x="21627516" y="0"/>
                    <a:pt x="21759672" y="60860"/>
                    <a:pt x="21759672" y="135873"/>
                  </a:cubicBezTo>
                  <a:lnTo>
                    <a:pt x="21759672" y="2156985"/>
                  </a:lnTo>
                  <a:cubicBezTo>
                    <a:pt x="21759672" y="2231998"/>
                    <a:pt x="21627516" y="2292858"/>
                    <a:pt x="21464626" y="2292858"/>
                  </a:cubicBezTo>
                  <a:lnTo>
                    <a:pt x="295046" y="2292858"/>
                  </a:lnTo>
                  <a:cubicBezTo>
                    <a:pt x="132156" y="2292858"/>
                    <a:pt x="0" y="2231998"/>
                    <a:pt x="0" y="2156985"/>
                  </a:cubicBezTo>
                  <a:close/>
                </a:path>
              </a:pathLst>
            </a:custGeom>
            <a:solidFill>
              <a:srgbClr val="F6F7FA"/>
            </a:solidFill>
          </p:spPr>
        </p:sp>
      </p:grpSp>
      <p:grpSp>
        <p:nvGrpSpPr>
          <p:cNvPr name="Group 25" id="25"/>
          <p:cNvGrpSpPr/>
          <p:nvPr/>
        </p:nvGrpSpPr>
        <p:grpSpPr>
          <a:xfrm rot="0">
            <a:off x="1028700" y="8263890"/>
            <a:ext cx="7406640" cy="416620"/>
            <a:chOff x="0" y="0"/>
            <a:chExt cx="9875520" cy="555494"/>
          </a:xfrm>
        </p:grpSpPr>
        <p:sp>
          <p:nvSpPr>
            <p:cNvPr name="Freeform 26" id="26"/>
            <p:cNvSpPr/>
            <p:nvPr/>
          </p:nvSpPr>
          <p:spPr>
            <a:xfrm flipH="false" flipV="false" rot="0">
              <a:off x="0" y="0"/>
              <a:ext cx="9875520" cy="555494"/>
            </a:xfrm>
            <a:custGeom>
              <a:avLst/>
              <a:gdLst/>
              <a:ahLst/>
              <a:cxnLst/>
              <a:rect r="r" b="b" t="t" l="l"/>
              <a:pathLst>
                <a:path h="555494" w="9875520">
                  <a:moveTo>
                    <a:pt x="0" y="0"/>
                  </a:moveTo>
                  <a:lnTo>
                    <a:pt x="9875520" y="0"/>
                  </a:lnTo>
                  <a:lnTo>
                    <a:pt x="9875520" y="555494"/>
                  </a:lnTo>
                  <a:lnTo>
                    <a:pt x="0" y="555494"/>
                  </a:lnTo>
                  <a:close/>
                </a:path>
              </a:pathLst>
            </a:custGeom>
            <a:blipFill>
              <a:blip r:embed="rId3">
                <a:alphaModFix amt="0"/>
              </a:blip>
              <a:stretch>
                <a:fillRect l="0" t="-300312" r="0" b="-292494"/>
              </a:stretch>
            </a:blipFill>
          </p:spPr>
        </p:sp>
        <p:sp>
          <p:nvSpPr>
            <p:cNvPr name="TextBox 27" id="27"/>
            <p:cNvSpPr txBox="true"/>
            <p:nvPr/>
          </p:nvSpPr>
          <p:spPr>
            <a:xfrm>
              <a:off x="0" y="-38100"/>
              <a:ext cx="9875520" cy="593594"/>
            </a:xfrm>
            <a:prstGeom prst="rect">
              <a:avLst/>
            </a:prstGeom>
          </p:spPr>
          <p:txBody>
            <a:bodyPr anchor="ctr" rtlCol="false" tIns="0" lIns="0" bIns="0" rIns="0"/>
            <a:lstStyle/>
            <a:p>
              <a:pPr algn="l">
                <a:lnSpc>
                  <a:spcPts val="2489"/>
                </a:lnSpc>
              </a:pPr>
              <a:r>
                <a:rPr lang="en-US" b="true" sz="2074" spc="197">
                  <a:solidFill>
                    <a:srgbClr val="16213E"/>
                  </a:solidFill>
                  <a:latin typeface="Calibri (MS) Bold"/>
                  <a:ea typeface="Calibri (MS) Bold"/>
                  <a:cs typeface="Calibri (MS) Bold"/>
                  <a:sym typeface="Calibri (MS) Bold"/>
                </a:rPr>
                <a:t>INSIGHTS</a:t>
              </a:r>
            </a:p>
          </p:txBody>
        </p:sp>
      </p:grpSp>
      <p:grpSp>
        <p:nvGrpSpPr>
          <p:cNvPr name="Group 28" id="28"/>
          <p:cNvGrpSpPr/>
          <p:nvPr/>
        </p:nvGrpSpPr>
        <p:grpSpPr>
          <a:xfrm rot="0">
            <a:off x="754380" y="8589096"/>
            <a:ext cx="14840576" cy="1629324"/>
            <a:chOff x="0" y="0"/>
            <a:chExt cx="19787435" cy="2172432"/>
          </a:xfrm>
        </p:grpSpPr>
        <p:sp>
          <p:nvSpPr>
            <p:cNvPr name="Freeform 29" id="29"/>
            <p:cNvSpPr/>
            <p:nvPr/>
          </p:nvSpPr>
          <p:spPr>
            <a:xfrm flipH="false" flipV="false" rot="0">
              <a:off x="0" y="0"/>
              <a:ext cx="19787434" cy="2172432"/>
            </a:xfrm>
            <a:custGeom>
              <a:avLst/>
              <a:gdLst/>
              <a:ahLst/>
              <a:cxnLst/>
              <a:rect r="r" b="b" t="t" l="l"/>
              <a:pathLst>
                <a:path h="2172432" w="19787434">
                  <a:moveTo>
                    <a:pt x="0" y="0"/>
                  </a:moveTo>
                  <a:lnTo>
                    <a:pt x="19787434" y="0"/>
                  </a:lnTo>
                  <a:lnTo>
                    <a:pt x="19787434" y="2172432"/>
                  </a:lnTo>
                  <a:lnTo>
                    <a:pt x="0" y="2172432"/>
                  </a:lnTo>
                  <a:close/>
                </a:path>
              </a:pathLst>
            </a:custGeom>
            <a:blipFill>
              <a:blip r:embed="rId3">
                <a:alphaModFix amt="0"/>
              </a:blip>
              <a:stretch>
                <a:fillRect l="0" t="-52798" r="50091" b="-24353"/>
              </a:stretch>
            </a:blipFill>
          </p:spPr>
        </p:sp>
        <p:sp>
          <p:nvSpPr>
            <p:cNvPr name="TextBox 30" id="30"/>
            <p:cNvSpPr txBox="true"/>
            <p:nvPr/>
          </p:nvSpPr>
          <p:spPr>
            <a:xfrm>
              <a:off x="0" y="-38100"/>
              <a:ext cx="19787435" cy="2210532"/>
            </a:xfrm>
            <a:prstGeom prst="rect">
              <a:avLst/>
            </a:prstGeom>
          </p:spPr>
          <p:txBody>
            <a:bodyPr anchor="ctr" rtlCol="false" tIns="0" lIns="0" bIns="0" rIns="0"/>
            <a:lstStyle/>
            <a:p>
              <a:pPr algn="l" marL="377824" indent="-188912" lvl="1">
                <a:lnSpc>
                  <a:spcPts val="2099"/>
                </a:lnSpc>
                <a:buFont typeface="Arial"/>
                <a:buChar char="•"/>
              </a:pPr>
              <a:r>
                <a:rPr lang="en-US" sz="1749" i="true">
                  <a:solidFill>
                    <a:srgbClr val="667085"/>
                  </a:solidFill>
                  <a:latin typeface="Calibri (MS) Italics"/>
                  <a:ea typeface="Calibri (MS) Italics"/>
                  <a:cs typeface="Calibri (MS) Italics"/>
                  <a:sym typeface="Calibri (MS) Italics"/>
                </a:rPr>
                <a:t>Large accounts (20+ affiliated doctors, e.g. ACC001, ACC003) don't guarantee efficiency – ACC003 has 24 doctors but only ~330 Rx/active doctor, well below several 10-15 doctor accounts.</a:t>
              </a:r>
            </a:p>
            <a:p>
              <a:pPr algn="l" marL="377824" indent="-188912" lvl="1">
                <a:lnSpc>
                  <a:spcPts val="2099"/>
                </a:lnSpc>
                <a:buFont typeface="Arial"/>
                <a:buChar char="•"/>
              </a:pPr>
              <a:r>
                <a:rPr lang="en-US" sz="1749" i="true">
                  <a:solidFill>
                    <a:srgbClr val="667085"/>
                  </a:solidFill>
                  <a:latin typeface="Calibri (MS) Italics"/>
                  <a:ea typeface="Calibri (MS) Italics"/>
                  <a:cs typeface="Calibri (MS) Italics"/>
                  <a:sym typeface="Calibri (MS) Italics"/>
                </a:rPr>
                <a:t>ACC022 (2 doctors) has zero active DRG001 prescribers – complete white space despite generating alerts.</a:t>
              </a:r>
            </a:p>
            <a:p>
              <a:pPr algn="l" marL="377824" indent="-188912" lvl="1">
                <a:lnSpc>
                  <a:spcPts val="2099"/>
                </a:lnSpc>
                <a:buFont typeface="Arial"/>
                <a:buChar char="•"/>
              </a:pPr>
              <a:r>
                <a:rPr lang="en-US" sz="1749" i="true">
                  <a:solidFill>
                    <a:srgbClr val="667085"/>
                  </a:solidFill>
                  <a:latin typeface="Calibri (MS) Italics"/>
                  <a:ea typeface="Calibri (MS) Italics"/>
                  <a:cs typeface="Calibri (MS) Italics"/>
                  <a:sym typeface="Calibri (MS) Italics"/>
                </a:rPr>
                <a:t>Smaller accounts show the widest efficiency spread (from 59 to 1,261 Rx/active doctor), signalling rep-level execution gaps rather than account potential.</a:t>
              </a:r>
            </a:p>
            <a:p>
              <a:pPr algn="l" marL="377824" indent="-188912" lvl="1">
                <a:lnSpc>
                  <a:spcPts val="2099"/>
                </a:lnSpc>
                <a:buFont typeface="Arial"/>
                <a:buChar char="•"/>
              </a:pPr>
              <a:r>
                <a:rPr lang="en-US" sz="1749" i="true">
                  <a:solidFill>
                    <a:srgbClr val="667085"/>
                  </a:solidFill>
                  <a:latin typeface="Calibri (MS) Italics"/>
                  <a:ea typeface="Calibri (MS) Italics"/>
                  <a:cs typeface="Calibri (MS) Italics"/>
                  <a:sym typeface="Calibri (MS) Italics"/>
                </a:rPr>
                <a:t>Priority: pair account-expansion effort in large, low-efficiency accounts with focused conversion effort in small, zero/low-efficiency accounts.</a:t>
              </a:r>
            </a:p>
            <a:p>
              <a:pPr algn="l">
                <a:lnSpc>
                  <a:spcPts val="2099"/>
                </a:lnSpc>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4380" y="48006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99">
                  <a:solidFill>
                    <a:srgbClr val="0F8B8D"/>
                  </a:solidFill>
                  <a:latin typeface="Calibri (MS) Bold"/>
                  <a:ea typeface="Calibri (MS) Bold"/>
                  <a:cs typeface="Calibri (MS) Bold"/>
                  <a:sym typeface="Calibri (MS) Bold"/>
                </a:rPr>
                <a:t>QUESTION 6</a:t>
              </a:r>
            </a:p>
          </p:txBody>
        </p:sp>
      </p:grpSp>
      <p:grpSp>
        <p:nvGrpSpPr>
          <p:cNvPr name="Group 5" id="5"/>
          <p:cNvGrpSpPr/>
          <p:nvPr/>
        </p:nvGrpSpPr>
        <p:grpSpPr>
          <a:xfrm rot="0">
            <a:off x="754380" y="850392"/>
            <a:ext cx="16733520" cy="1028700"/>
            <a:chOff x="0" y="0"/>
            <a:chExt cx="22311360" cy="1371600"/>
          </a:xfrm>
        </p:grpSpPr>
        <p:sp>
          <p:nvSpPr>
            <p:cNvPr name="Freeform 6" id="6"/>
            <p:cNvSpPr/>
            <p:nvPr/>
          </p:nvSpPr>
          <p:spPr>
            <a:xfrm flipH="false" flipV="false" rot="0">
              <a:off x="0" y="0"/>
              <a:ext cx="22311361" cy="1371600"/>
            </a:xfrm>
            <a:custGeom>
              <a:avLst/>
              <a:gdLst/>
              <a:ahLst/>
              <a:cxnLst/>
              <a:rect r="r" b="b" t="t" l="l"/>
              <a:pathLst>
                <a:path h="1371600" w="22311361">
                  <a:moveTo>
                    <a:pt x="0" y="0"/>
                  </a:moveTo>
                  <a:lnTo>
                    <a:pt x="22311361" y="0"/>
                  </a:lnTo>
                  <a:lnTo>
                    <a:pt x="22311361" y="1371600"/>
                  </a:lnTo>
                  <a:lnTo>
                    <a:pt x="0" y="1371600"/>
                  </a:lnTo>
                  <a:close/>
                </a:path>
              </a:pathLst>
            </a:custGeom>
            <a:blipFill>
              <a:blip r:embed="rId3">
                <a:alphaModFix amt="0"/>
              </a:blip>
              <a:stretch>
                <a:fillRect l="0" t="-266956" r="0" b="-266956"/>
              </a:stretch>
            </a:blipFill>
          </p:spPr>
        </p:sp>
        <p:sp>
          <p:nvSpPr>
            <p:cNvPr name="TextBox 7" id="7"/>
            <p:cNvSpPr txBox="true"/>
            <p:nvPr/>
          </p:nvSpPr>
          <p:spPr>
            <a:xfrm>
              <a:off x="0" y="-9525"/>
              <a:ext cx="22311360" cy="1381125"/>
            </a:xfrm>
            <a:prstGeom prst="rect">
              <a:avLst/>
            </a:prstGeom>
          </p:spPr>
          <p:txBody>
            <a:bodyPr anchor="ctr" rtlCol="false" tIns="0" lIns="0" bIns="0" rIns="0"/>
            <a:lstStyle/>
            <a:p>
              <a:pPr algn="l">
                <a:lnSpc>
                  <a:spcPts val="4680"/>
                </a:lnSpc>
              </a:pPr>
              <a:r>
                <a:rPr lang="en-US" sz="3900" b="true">
                  <a:solidFill>
                    <a:srgbClr val="16213E"/>
                  </a:solidFill>
                  <a:latin typeface="Georgia Bold"/>
                  <a:ea typeface="Georgia Bold"/>
                  <a:cs typeface="Georgia Bold"/>
                  <a:sym typeface="Georgia Bold"/>
                </a:rPr>
                <a:t>Did Alerts Change Doctor Behavior — Before vs. After?</a:t>
              </a:r>
            </a:p>
          </p:txBody>
        </p:sp>
      </p:grpSp>
      <p:grpSp>
        <p:nvGrpSpPr>
          <p:cNvPr name="Group 8" id="8"/>
          <p:cNvGrpSpPr/>
          <p:nvPr/>
        </p:nvGrpSpPr>
        <p:grpSpPr>
          <a:xfrm rot="0">
            <a:off x="754380" y="2057400"/>
            <a:ext cx="10012680" cy="411480"/>
            <a:chOff x="0" y="0"/>
            <a:chExt cx="13350240" cy="548640"/>
          </a:xfrm>
        </p:grpSpPr>
        <p:sp>
          <p:nvSpPr>
            <p:cNvPr name="Freeform 9" id="9"/>
            <p:cNvSpPr/>
            <p:nvPr/>
          </p:nvSpPr>
          <p:spPr>
            <a:xfrm flipH="false" flipV="false" rot="0">
              <a:off x="0" y="0"/>
              <a:ext cx="13350239" cy="548640"/>
            </a:xfrm>
            <a:custGeom>
              <a:avLst/>
              <a:gdLst/>
              <a:ahLst/>
              <a:cxnLst/>
              <a:rect r="r" b="b" t="t" l="l"/>
              <a:pathLst>
                <a:path h="548640" w="13350239">
                  <a:moveTo>
                    <a:pt x="0" y="0"/>
                  </a:moveTo>
                  <a:lnTo>
                    <a:pt x="13350239" y="0"/>
                  </a:lnTo>
                  <a:lnTo>
                    <a:pt x="13350239" y="548640"/>
                  </a:lnTo>
                  <a:lnTo>
                    <a:pt x="0" y="548640"/>
                  </a:lnTo>
                  <a:close/>
                </a:path>
              </a:pathLst>
            </a:custGeom>
            <a:blipFill>
              <a:blip r:embed="rId3">
                <a:alphaModFix amt="0"/>
              </a:blip>
              <a:stretch>
                <a:fillRect l="0" t="-424135" r="0" b="-424135"/>
              </a:stretch>
            </a:blipFill>
          </p:spPr>
        </p:sp>
        <p:sp>
          <p:nvSpPr>
            <p:cNvPr name="TextBox 10" id="10"/>
            <p:cNvSpPr txBox="true"/>
            <p:nvPr/>
          </p:nvSpPr>
          <p:spPr>
            <a:xfrm>
              <a:off x="0" y="-28575"/>
              <a:ext cx="13350240" cy="577215"/>
            </a:xfrm>
            <a:prstGeom prst="rect">
              <a:avLst/>
            </a:prstGeom>
          </p:spPr>
          <p:txBody>
            <a:bodyPr anchor="ctr" rtlCol="false" tIns="0" lIns="0" bIns="0" rIns="0"/>
            <a:lstStyle/>
            <a:p>
              <a:pPr algn="l">
                <a:lnSpc>
                  <a:spcPts val="1980"/>
                </a:lnSpc>
              </a:pPr>
              <a:r>
                <a:rPr lang="en-US" b="true" sz="1650" spc="75">
                  <a:solidFill>
                    <a:srgbClr val="0F8B8D"/>
                  </a:solidFill>
                  <a:latin typeface="Calibri (MS) Bold"/>
                  <a:ea typeface="Calibri (MS) Bold"/>
                  <a:cs typeface="Calibri (MS) Bold"/>
                  <a:sym typeface="Calibri (MS) Bold"/>
                </a:rPr>
                <a:t>PART A — HCP-LEVEL LIFT (90 DAYS BEFORE / AFTER)</a:t>
              </a:r>
            </a:p>
          </p:txBody>
        </p:sp>
      </p:grpSp>
      <p:grpSp>
        <p:nvGrpSpPr>
          <p:cNvPr name="Group 11" id="11"/>
          <p:cNvGrpSpPr/>
          <p:nvPr/>
        </p:nvGrpSpPr>
        <p:grpSpPr>
          <a:xfrm rot="0">
            <a:off x="11178540" y="2057400"/>
            <a:ext cx="6377940" cy="411480"/>
            <a:chOff x="0" y="0"/>
            <a:chExt cx="8503920" cy="548640"/>
          </a:xfrm>
        </p:grpSpPr>
        <p:sp>
          <p:nvSpPr>
            <p:cNvPr name="Freeform 12" id="12"/>
            <p:cNvSpPr/>
            <p:nvPr/>
          </p:nvSpPr>
          <p:spPr>
            <a:xfrm flipH="false" flipV="false" rot="0">
              <a:off x="0" y="0"/>
              <a:ext cx="8503920" cy="548640"/>
            </a:xfrm>
            <a:custGeom>
              <a:avLst/>
              <a:gdLst/>
              <a:ahLst/>
              <a:cxnLst/>
              <a:rect r="r" b="b" t="t" l="l"/>
              <a:pathLst>
                <a:path h="548640" w="8503920">
                  <a:moveTo>
                    <a:pt x="0" y="0"/>
                  </a:moveTo>
                  <a:lnTo>
                    <a:pt x="8503920" y="0"/>
                  </a:lnTo>
                  <a:lnTo>
                    <a:pt x="8503920" y="548640"/>
                  </a:lnTo>
                  <a:lnTo>
                    <a:pt x="0" y="548640"/>
                  </a:lnTo>
                  <a:close/>
                </a:path>
              </a:pathLst>
            </a:custGeom>
            <a:blipFill>
              <a:blip r:embed="rId3">
                <a:alphaModFix amt="0"/>
              </a:blip>
              <a:stretch>
                <a:fillRect l="0" t="-252018" r="0" b="-252018"/>
              </a:stretch>
            </a:blipFill>
          </p:spPr>
        </p:sp>
        <p:sp>
          <p:nvSpPr>
            <p:cNvPr name="TextBox 13" id="13"/>
            <p:cNvSpPr txBox="true"/>
            <p:nvPr/>
          </p:nvSpPr>
          <p:spPr>
            <a:xfrm>
              <a:off x="0" y="-28575"/>
              <a:ext cx="8503920" cy="577215"/>
            </a:xfrm>
            <a:prstGeom prst="rect">
              <a:avLst/>
            </a:prstGeom>
          </p:spPr>
          <p:txBody>
            <a:bodyPr anchor="ctr" rtlCol="false" tIns="0" lIns="0" bIns="0" rIns="0"/>
            <a:lstStyle/>
            <a:p>
              <a:pPr algn="l">
                <a:lnSpc>
                  <a:spcPts val="1980"/>
                </a:lnSpc>
              </a:pPr>
              <a:r>
                <a:rPr lang="en-US" b="true" sz="1650" spc="75">
                  <a:solidFill>
                    <a:srgbClr val="0F8B8D"/>
                  </a:solidFill>
                  <a:latin typeface="Calibri (MS) Bold"/>
                  <a:ea typeface="Calibri (MS) Bold"/>
                  <a:cs typeface="Calibri (MS) Bold"/>
                  <a:sym typeface="Calibri (MS) Bold"/>
                </a:rPr>
                <a:t>PART B — SEGMENT SUMMARY</a:t>
              </a:r>
            </a:p>
          </p:txBody>
        </p:sp>
      </p:grpSp>
      <p:grpSp>
        <p:nvGrpSpPr>
          <p:cNvPr name="Group 14" id="14"/>
          <p:cNvGrpSpPr/>
          <p:nvPr/>
        </p:nvGrpSpPr>
        <p:grpSpPr>
          <a:xfrm rot="0">
            <a:off x="11178540" y="5547170"/>
            <a:ext cx="6377940" cy="2133791"/>
            <a:chOff x="0" y="0"/>
            <a:chExt cx="8503920" cy="2845054"/>
          </a:xfrm>
        </p:grpSpPr>
        <p:sp>
          <p:nvSpPr>
            <p:cNvPr name="Freeform 15" id="15"/>
            <p:cNvSpPr/>
            <p:nvPr/>
          </p:nvSpPr>
          <p:spPr>
            <a:xfrm flipH="false" flipV="false" rot="0">
              <a:off x="0" y="0"/>
              <a:ext cx="8503920" cy="2845054"/>
            </a:xfrm>
            <a:custGeom>
              <a:avLst/>
              <a:gdLst/>
              <a:ahLst/>
              <a:cxnLst/>
              <a:rect r="r" b="b" t="t" l="l"/>
              <a:pathLst>
                <a:path h="2845054" w="8503920">
                  <a:moveTo>
                    <a:pt x="0" y="168596"/>
                  </a:moveTo>
                  <a:cubicBezTo>
                    <a:pt x="0" y="75517"/>
                    <a:pt x="65532" y="0"/>
                    <a:pt x="146304" y="0"/>
                  </a:cubicBezTo>
                  <a:lnTo>
                    <a:pt x="8357616" y="0"/>
                  </a:lnTo>
                  <a:cubicBezTo>
                    <a:pt x="8438388" y="0"/>
                    <a:pt x="8503920" y="75517"/>
                    <a:pt x="8503920" y="168596"/>
                  </a:cubicBezTo>
                  <a:lnTo>
                    <a:pt x="8503920" y="2676458"/>
                  </a:lnTo>
                  <a:cubicBezTo>
                    <a:pt x="8503920" y="2769537"/>
                    <a:pt x="8438388" y="2845054"/>
                    <a:pt x="8357616" y="2845054"/>
                  </a:cubicBezTo>
                  <a:lnTo>
                    <a:pt x="146304" y="2845054"/>
                  </a:lnTo>
                  <a:cubicBezTo>
                    <a:pt x="65532" y="2845054"/>
                    <a:pt x="0" y="2769537"/>
                    <a:pt x="0" y="2676458"/>
                  </a:cubicBezTo>
                  <a:close/>
                </a:path>
              </a:pathLst>
            </a:custGeom>
            <a:solidFill>
              <a:srgbClr val="F6F7FA"/>
            </a:solidFill>
          </p:spPr>
        </p:sp>
      </p:grpSp>
      <p:grpSp>
        <p:nvGrpSpPr>
          <p:cNvPr name="Group 16" id="16"/>
          <p:cNvGrpSpPr/>
          <p:nvPr/>
        </p:nvGrpSpPr>
        <p:grpSpPr>
          <a:xfrm rot="0">
            <a:off x="11384280" y="5728144"/>
            <a:ext cx="5692140" cy="384048"/>
            <a:chOff x="0" y="0"/>
            <a:chExt cx="7589520" cy="512064"/>
          </a:xfrm>
        </p:grpSpPr>
        <p:sp>
          <p:nvSpPr>
            <p:cNvPr name="Freeform 17" id="17"/>
            <p:cNvSpPr/>
            <p:nvPr/>
          </p:nvSpPr>
          <p:spPr>
            <a:xfrm flipH="false" flipV="false" rot="0">
              <a:off x="0" y="0"/>
              <a:ext cx="7589520" cy="512064"/>
            </a:xfrm>
            <a:custGeom>
              <a:avLst/>
              <a:gdLst/>
              <a:ahLst/>
              <a:cxnLst/>
              <a:rect r="r" b="b" t="t" l="l"/>
              <a:pathLst>
                <a:path h="512064" w="7589520">
                  <a:moveTo>
                    <a:pt x="0" y="0"/>
                  </a:moveTo>
                  <a:lnTo>
                    <a:pt x="7589520" y="0"/>
                  </a:lnTo>
                  <a:lnTo>
                    <a:pt x="7589520" y="512064"/>
                  </a:lnTo>
                  <a:lnTo>
                    <a:pt x="0" y="512064"/>
                  </a:lnTo>
                  <a:close/>
                </a:path>
              </a:pathLst>
            </a:custGeom>
            <a:blipFill>
              <a:blip r:embed="rId3">
                <a:alphaModFix amt="0"/>
              </a:blip>
              <a:stretch>
                <a:fillRect l="0" t="-238796" r="0" b="-238796"/>
              </a:stretch>
            </a:blipFill>
          </p:spPr>
        </p:sp>
        <p:sp>
          <p:nvSpPr>
            <p:cNvPr name="TextBox 18" id="18"/>
            <p:cNvSpPr txBox="true"/>
            <p:nvPr/>
          </p:nvSpPr>
          <p:spPr>
            <a:xfrm>
              <a:off x="0" y="-38100"/>
              <a:ext cx="7589520" cy="550164"/>
            </a:xfrm>
            <a:prstGeom prst="rect">
              <a:avLst/>
            </a:prstGeom>
          </p:spPr>
          <p:txBody>
            <a:bodyPr anchor="ctr" rtlCol="false" tIns="0" lIns="0" bIns="0" rIns="0"/>
            <a:lstStyle/>
            <a:p>
              <a:pPr algn="l">
                <a:lnSpc>
                  <a:spcPts val="1800"/>
                </a:lnSpc>
              </a:pPr>
              <a:r>
                <a:rPr lang="en-US" b="true" sz="1500" spc="150">
                  <a:solidFill>
                    <a:srgbClr val="16213E"/>
                  </a:solidFill>
                  <a:latin typeface="Calibri (MS) Bold"/>
                  <a:ea typeface="Calibri (MS) Bold"/>
                  <a:cs typeface="Calibri (MS) Bold"/>
                  <a:sym typeface="Calibri (MS) Bold"/>
                </a:rPr>
                <a:t>INSIGHTS</a:t>
              </a:r>
            </a:p>
          </p:txBody>
        </p:sp>
      </p:grpSp>
      <p:grpSp>
        <p:nvGrpSpPr>
          <p:cNvPr name="Group 19" id="19"/>
          <p:cNvGrpSpPr/>
          <p:nvPr/>
        </p:nvGrpSpPr>
        <p:grpSpPr>
          <a:xfrm rot="0">
            <a:off x="11521440" y="6583680"/>
            <a:ext cx="5692140" cy="1097280"/>
            <a:chOff x="0" y="0"/>
            <a:chExt cx="7589520" cy="1463040"/>
          </a:xfrm>
        </p:grpSpPr>
        <p:sp>
          <p:nvSpPr>
            <p:cNvPr name="Freeform 20" id="20"/>
            <p:cNvSpPr/>
            <p:nvPr/>
          </p:nvSpPr>
          <p:spPr>
            <a:xfrm flipH="false" flipV="false" rot="0">
              <a:off x="0" y="0"/>
              <a:ext cx="7589520" cy="1463040"/>
            </a:xfrm>
            <a:custGeom>
              <a:avLst/>
              <a:gdLst/>
              <a:ahLst/>
              <a:cxnLst/>
              <a:rect r="r" b="b" t="t" l="l"/>
              <a:pathLst>
                <a:path h="1463040" w="7589520">
                  <a:moveTo>
                    <a:pt x="0" y="0"/>
                  </a:moveTo>
                  <a:lnTo>
                    <a:pt x="7589520" y="0"/>
                  </a:lnTo>
                  <a:lnTo>
                    <a:pt x="7589520" y="1463040"/>
                  </a:lnTo>
                  <a:lnTo>
                    <a:pt x="0" y="1463040"/>
                  </a:lnTo>
                  <a:close/>
                </a:path>
              </a:pathLst>
            </a:custGeom>
            <a:blipFill>
              <a:blip r:embed="rId3">
                <a:alphaModFix amt="0"/>
              </a:blip>
              <a:stretch>
                <a:fillRect l="0" t="-51078" r="0" b="-51078"/>
              </a:stretch>
            </a:blipFill>
          </p:spPr>
        </p:sp>
        <p:sp>
          <p:nvSpPr>
            <p:cNvPr name="TextBox 21" id="21"/>
            <p:cNvSpPr txBox="true"/>
            <p:nvPr/>
          </p:nvSpPr>
          <p:spPr>
            <a:xfrm>
              <a:off x="0" y="-38100"/>
              <a:ext cx="7589520" cy="1501140"/>
            </a:xfrm>
            <a:prstGeom prst="rect">
              <a:avLst/>
            </a:prstGeom>
          </p:spPr>
          <p:txBody>
            <a:bodyPr anchor="ctr" rtlCol="false" tIns="0" lIns="0" bIns="0" rIns="0"/>
            <a:lstStyle/>
            <a:p>
              <a:pPr algn="l">
                <a:lnSpc>
                  <a:spcPts val="2070"/>
                </a:lnSpc>
              </a:pPr>
            </a:p>
          </p:txBody>
        </p:sp>
      </p:grpSp>
      <p:grpSp>
        <p:nvGrpSpPr>
          <p:cNvPr name="Group 22" id="22"/>
          <p:cNvGrpSpPr/>
          <p:nvPr/>
        </p:nvGrpSpPr>
        <p:grpSpPr>
          <a:xfrm rot="0">
            <a:off x="754380" y="8229600"/>
            <a:ext cx="7276114" cy="1303020"/>
            <a:chOff x="0" y="0"/>
            <a:chExt cx="9701485" cy="1737360"/>
          </a:xfrm>
        </p:grpSpPr>
        <p:sp>
          <p:nvSpPr>
            <p:cNvPr name="Freeform 23" id="23"/>
            <p:cNvSpPr/>
            <p:nvPr/>
          </p:nvSpPr>
          <p:spPr>
            <a:xfrm flipH="false" flipV="false" rot="0">
              <a:off x="0" y="0"/>
              <a:ext cx="9701485" cy="1737360"/>
            </a:xfrm>
            <a:custGeom>
              <a:avLst/>
              <a:gdLst/>
              <a:ahLst/>
              <a:cxnLst/>
              <a:rect r="r" b="b" t="t" l="l"/>
              <a:pathLst>
                <a:path h="1737360" w="9701485">
                  <a:moveTo>
                    <a:pt x="0" y="109728"/>
                  </a:moveTo>
                  <a:cubicBezTo>
                    <a:pt x="0" y="49149"/>
                    <a:pt x="21371" y="0"/>
                    <a:pt x="47712" y="0"/>
                  </a:cubicBezTo>
                  <a:lnTo>
                    <a:pt x="9653773" y="0"/>
                  </a:lnTo>
                  <a:cubicBezTo>
                    <a:pt x="9680114" y="0"/>
                    <a:pt x="9701485" y="49149"/>
                    <a:pt x="9701485" y="109728"/>
                  </a:cubicBezTo>
                  <a:lnTo>
                    <a:pt x="9701485" y="1627632"/>
                  </a:lnTo>
                  <a:cubicBezTo>
                    <a:pt x="9701485" y="1688211"/>
                    <a:pt x="9680114" y="1737360"/>
                    <a:pt x="9653773" y="1737360"/>
                  </a:cubicBezTo>
                  <a:lnTo>
                    <a:pt x="47712" y="1737360"/>
                  </a:lnTo>
                  <a:cubicBezTo>
                    <a:pt x="21371" y="1737360"/>
                    <a:pt x="0" y="1688211"/>
                    <a:pt x="0" y="1627632"/>
                  </a:cubicBezTo>
                  <a:close/>
                </a:path>
              </a:pathLst>
            </a:custGeom>
            <a:solidFill>
              <a:srgbClr val="16213E"/>
            </a:solidFill>
          </p:spPr>
        </p:sp>
      </p:grpSp>
      <p:grpSp>
        <p:nvGrpSpPr>
          <p:cNvPr name="Group 24" id="24"/>
          <p:cNvGrpSpPr/>
          <p:nvPr/>
        </p:nvGrpSpPr>
        <p:grpSpPr>
          <a:xfrm rot="0">
            <a:off x="1165860" y="8229600"/>
            <a:ext cx="6174623" cy="1395125"/>
            <a:chOff x="0" y="0"/>
            <a:chExt cx="8232831" cy="1860166"/>
          </a:xfrm>
        </p:grpSpPr>
        <p:sp>
          <p:nvSpPr>
            <p:cNvPr name="Freeform 25" id="25"/>
            <p:cNvSpPr/>
            <p:nvPr/>
          </p:nvSpPr>
          <p:spPr>
            <a:xfrm flipH="false" flipV="false" rot="0">
              <a:off x="0" y="0"/>
              <a:ext cx="8232831" cy="1860166"/>
            </a:xfrm>
            <a:custGeom>
              <a:avLst/>
              <a:gdLst/>
              <a:ahLst/>
              <a:cxnLst/>
              <a:rect r="r" b="b" t="t" l="l"/>
              <a:pathLst>
                <a:path h="1860166" w="8232831">
                  <a:moveTo>
                    <a:pt x="0" y="0"/>
                  </a:moveTo>
                  <a:lnTo>
                    <a:pt x="8232831" y="0"/>
                  </a:lnTo>
                  <a:lnTo>
                    <a:pt x="8232831" y="1860166"/>
                  </a:lnTo>
                  <a:lnTo>
                    <a:pt x="0" y="1860166"/>
                  </a:lnTo>
                  <a:close/>
                </a:path>
              </a:pathLst>
            </a:custGeom>
            <a:blipFill>
              <a:blip r:embed="rId3">
                <a:alphaModFix amt="0"/>
              </a:blip>
              <a:stretch>
                <a:fillRect l="0" t="-175516" r="-157676" b="-168914"/>
              </a:stretch>
            </a:blipFill>
          </p:spPr>
        </p:sp>
        <p:sp>
          <p:nvSpPr>
            <p:cNvPr name="TextBox 26" id="26"/>
            <p:cNvSpPr txBox="true"/>
            <p:nvPr/>
          </p:nvSpPr>
          <p:spPr>
            <a:xfrm>
              <a:off x="0" y="-28575"/>
              <a:ext cx="8232831" cy="1888741"/>
            </a:xfrm>
            <a:prstGeom prst="rect">
              <a:avLst/>
            </a:prstGeom>
          </p:spPr>
          <p:txBody>
            <a:bodyPr anchor="ctr" rtlCol="false" tIns="0" lIns="0" bIns="0" rIns="0"/>
            <a:lstStyle/>
            <a:p>
              <a:pPr algn="l">
                <a:lnSpc>
                  <a:spcPts val="1500"/>
                </a:lnSpc>
              </a:pPr>
              <a:r>
                <a:rPr lang="en-US" sz="1250" b="true">
                  <a:solidFill>
                    <a:srgbClr val="E8A33D"/>
                  </a:solidFill>
                  <a:latin typeface="Calibri (MS) Bold"/>
                  <a:ea typeface="Calibri (MS) Bold"/>
                  <a:cs typeface="Calibri (MS) Bold"/>
                  <a:sym typeface="Calibri (MS) Bold"/>
                </a:rPr>
                <a:t>Formula</a:t>
              </a:r>
            </a:p>
            <a:p>
              <a:pPr algn="l">
                <a:lnSpc>
                  <a:spcPts val="1500"/>
                </a:lnSpc>
              </a:pPr>
            </a:p>
            <a:p>
              <a:pPr algn="l">
                <a:lnSpc>
                  <a:spcPts val="1500"/>
                </a:lnSpc>
              </a:pPr>
              <a:r>
                <a:rPr lang="en-US" sz="1250" b="true">
                  <a:solidFill>
                    <a:srgbClr val="FFFFFF"/>
                  </a:solidFill>
                  <a:latin typeface="Calibri (MS) Bold"/>
                  <a:ea typeface="Calibri (MS) Bold"/>
                  <a:cs typeface="Calibri (MS) Bold"/>
                  <a:sym typeface="Calibri (MS) Bold"/>
                </a:rPr>
                <a:t>Lift% </a:t>
              </a:r>
              <a:r>
                <a:rPr lang="en-US" sz="1250">
                  <a:solidFill>
                    <a:srgbClr val="FFFFFF"/>
                  </a:solidFill>
                  <a:latin typeface="Calibri (MS)"/>
                  <a:ea typeface="Calibri (MS)"/>
                  <a:cs typeface="Calibri (MS)"/>
                  <a:sym typeface="Calibri (MS)"/>
                </a:rPr>
                <a:t>: (Post Prescription Volume – Pre Prescription Volume) / (Pre Prescription Volume) * 100</a:t>
              </a:r>
            </a:p>
            <a:p>
              <a:pPr algn="l" marL="269877" indent="-134939" lvl="1">
                <a:lnSpc>
                  <a:spcPts val="1500"/>
                </a:lnSpc>
                <a:buFont typeface="Arial"/>
                <a:buChar char="•"/>
              </a:pPr>
              <a:r>
                <a:rPr lang="en-US" sz="1250">
                  <a:solidFill>
                    <a:srgbClr val="FFFFFF"/>
                  </a:solidFill>
                  <a:latin typeface="Calibri (MS)"/>
                  <a:ea typeface="Calibri (MS)"/>
                  <a:cs typeface="Calibri (MS)"/>
                  <a:sym typeface="Calibri (MS)"/>
                </a:rPr>
                <a:t>New starters: pre=0, post&gt;0</a:t>
              </a:r>
            </a:p>
            <a:p>
              <a:pPr algn="l" marL="269877" indent="-134939" lvl="1">
                <a:lnSpc>
                  <a:spcPts val="1500"/>
                </a:lnSpc>
                <a:buFont typeface="Arial"/>
                <a:buChar char="•"/>
              </a:pPr>
              <a:r>
                <a:rPr lang="en-US" sz="1250">
                  <a:solidFill>
                    <a:srgbClr val="FFFFFF"/>
                  </a:solidFill>
                  <a:latin typeface="Calibri (MS)"/>
                  <a:ea typeface="Calibri (MS)"/>
                  <a:cs typeface="Calibri (MS)"/>
                  <a:sym typeface="Calibri (MS)"/>
                </a:rPr>
                <a:t>Growers: pre&gt;0 and lift% ≥ +20%</a:t>
              </a:r>
            </a:p>
            <a:p>
              <a:pPr algn="l" marL="269877" indent="-134939" lvl="1">
                <a:lnSpc>
                  <a:spcPts val="1500"/>
                </a:lnSpc>
                <a:buFont typeface="Arial"/>
                <a:buChar char="•"/>
              </a:pPr>
              <a:r>
                <a:rPr lang="en-US" sz="1250">
                  <a:solidFill>
                    <a:srgbClr val="FFFFFF"/>
                  </a:solidFill>
                  <a:latin typeface="Calibri (MS)"/>
                  <a:ea typeface="Calibri (MS)"/>
                  <a:cs typeface="Calibri (MS)"/>
                  <a:sym typeface="Calibri (MS)"/>
                </a:rPr>
                <a:t>Non-responders: Everything else</a:t>
              </a:r>
            </a:p>
            <a:p>
              <a:pPr algn="l">
                <a:lnSpc>
                  <a:spcPts val="1500"/>
                </a:lnSpc>
              </a:pPr>
            </a:p>
          </p:txBody>
        </p:sp>
      </p:grpSp>
      <p:grpSp>
        <p:nvGrpSpPr>
          <p:cNvPr name="Group 27" id="27"/>
          <p:cNvGrpSpPr/>
          <p:nvPr/>
        </p:nvGrpSpPr>
        <p:grpSpPr>
          <a:xfrm rot="0">
            <a:off x="17282160" y="9806940"/>
            <a:ext cx="685800" cy="411480"/>
            <a:chOff x="0" y="0"/>
            <a:chExt cx="914400" cy="548640"/>
          </a:xfrm>
        </p:grpSpPr>
        <p:sp>
          <p:nvSpPr>
            <p:cNvPr name="Freeform 28" id="28"/>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29" id="29"/>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67085"/>
                  </a:solidFill>
                  <a:latin typeface="Calibri (MS)"/>
                  <a:ea typeface="Calibri (MS)"/>
                  <a:cs typeface="Calibri (MS)"/>
                  <a:sym typeface="Calibri (MS)"/>
                </a:rPr>
                <a:t>10</a:t>
              </a:r>
            </a:p>
          </p:txBody>
        </p:sp>
      </p:grpSp>
      <p:graphicFrame>
        <p:nvGraphicFramePr>
          <p:cNvPr name="Object 30" id="30"/>
          <p:cNvGraphicFramePr/>
          <p:nvPr/>
        </p:nvGraphicFramePr>
        <p:xfrm>
          <a:off x="685800" y="2556007"/>
          <a:ext cx="11715750" cy="7445645"/>
        </p:xfrm>
        <a:graphic>
          <a:graphicData uri="http://schemas.openxmlformats.org/presentationml/2006/ole">
            <p:oleObj imgW="14058900" imgH="97917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graphicFrame>
        <p:nvGraphicFramePr>
          <p:cNvPr name="Object 31" id="31"/>
          <p:cNvGraphicFramePr/>
          <p:nvPr/>
        </p:nvGraphicFramePr>
        <p:xfrm>
          <a:off x="11144250" y="2556007"/>
          <a:ext cx="9915525" cy="3143250"/>
        </p:xfrm>
        <a:graphic>
          <a:graphicData uri="http://schemas.openxmlformats.org/presentationml/2006/ole">
            <p:oleObj imgW="11887200" imgH="5118100" r:id="rId7" progId="Excel.Sheet.12" name="Worksheet">
              <p:embed/>
              <p:pic>
                <p:nvPicPr>
                  <p:cNvPr name="" id="0"/>
                  <p:cNvPicPr/>
                  <p:nvPr/>
                </p:nvPicPr>
                <p:blipFill>
                  <a:blip r:embed="rId6"/>
                  <a:stretch>
                    <a:fillRect/>
                  </a:stretch>
                </p:blipFill>
                <p:spPr>
                  <a:xfrm>
                    <a:off x="1270000" y="1270000"/>
                    <a:ext cx="1270000" cy="1270000"/>
                  </a:xfrm>
                  <a:prstGeom prst="rect"/>
                </p:spPr>
              </p:pic>
            </p:oleObj>
          </a:graphicData>
        </a:graphic>
      </p:graphicFrame>
      <p:sp>
        <p:nvSpPr>
          <p:cNvPr name="TextBox 32" id="32"/>
          <p:cNvSpPr txBox="true"/>
          <p:nvPr/>
        </p:nvSpPr>
        <p:spPr>
          <a:xfrm rot="0">
            <a:off x="11178540" y="6083617"/>
            <a:ext cx="5692140" cy="1428750"/>
          </a:xfrm>
          <a:prstGeom prst="rect">
            <a:avLst/>
          </a:prstGeom>
        </p:spPr>
        <p:txBody>
          <a:bodyPr anchor="t" rtlCol="false" tIns="0" lIns="0" bIns="0" rIns="0">
            <a:spAutoFit/>
          </a:bodyPr>
          <a:lstStyle/>
          <a:p>
            <a:pPr algn="l" marL="291465" indent="-145732" lvl="1">
              <a:lnSpc>
                <a:spcPts val="1620"/>
              </a:lnSpc>
              <a:buFont typeface="Arial"/>
              <a:buChar char="•"/>
            </a:pPr>
            <a:r>
              <a:rPr lang="en-US" sz="1350">
                <a:solidFill>
                  <a:srgbClr val="000000"/>
                </a:solidFill>
                <a:latin typeface="Calibri (MS)"/>
                <a:ea typeface="Calibri (MS)"/>
                <a:cs typeface="Calibri (MS)"/>
                <a:sym typeface="Calibri (MS)"/>
              </a:rPr>
              <a:t>The top lift HCPs where low colums prescribers who become meaningfully more active after their first positive alerts-- clearly work as a trigger for existing prescribers. </a:t>
            </a:r>
          </a:p>
          <a:p>
            <a:pPr algn="l">
              <a:lnSpc>
                <a:spcPts val="1620"/>
              </a:lnSpc>
            </a:pPr>
          </a:p>
          <a:p>
            <a:pPr algn="l" marL="291465" indent="-145732" lvl="1">
              <a:lnSpc>
                <a:spcPts val="1620"/>
              </a:lnSpc>
              <a:buFont typeface="Arial"/>
              <a:buChar char="•"/>
            </a:pPr>
            <a:r>
              <a:rPr lang="en-US" sz="1350">
                <a:solidFill>
                  <a:srgbClr val="000000"/>
                </a:solidFill>
                <a:latin typeface="Calibri (MS)"/>
                <a:ea typeface="Calibri (MS)"/>
                <a:cs typeface="Calibri (MS)"/>
                <a:sym typeface="Calibri (MS)"/>
              </a:rPr>
              <a:t>None of the previous highest alert HCPs 041,011 appear here confirming they remain non responders even after repeated clinical signals. </a:t>
            </a:r>
          </a:p>
          <a:p>
            <a:pPr algn="l">
              <a:lnSpc>
                <a:spcPts val="1620"/>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4380" y="48006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4" id="4"/>
            <p:cNvSpPr txBox="true"/>
            <p:nvPr/>
          </p:nvSpPr>
          <p:spPr>
            <a:xfrm>
              <a:off x="0" y="-38100"/>
              <a:ext cx="18288000" cy="586740"/>
            </a:xfrm>
            <a:prstGeom prst="rect">
              <a:avLst/>
            </a:prstGeom>
          </p:spPr>
          <p:txBody>
            <a:bodyPr anchor="ctr" rtlCol="false" tIns="0" lIns="0" bIns="0" rIns="0"/>
            <a:lstStyle/>
            <a:p>
              <a:pPr algn="l">
                <a:lnSpc>
                  <a:spcPts val="2160"/>
                </a:lnSpc>
              </a:pPr>
              <a:r>
                <a:rPr lang="en-US" b="true" sz="1800" spc="299">
                  <a:solidFill>
                    <a:srgbClr val="0F8B8D"/>
                  </a:solidFill>
                  <a:latin typeface="Calibri (MS) Bold"/>
                  <a:ea typeface="Calibri (MS) Bold"/>
                  <a:cs typeface="Calibri (MS) Bold"/>
                  <a:sym typeface="Calibri (MS) Bold"/>
                </a:rPr>
                <a:t>QUESTION 7</a:t>
              </a:r>
            </a:p>
          </p:txBody>
        </p:sp>
      </p:grpSp>
      <p:grpSp>
        <p:nvGrpSpPr>
          <p:cNvPr name="Group 5" id="5"/>
          <p:cNvGrpSpPr/>
          <p:nvPr/>
        </p:nvGrpSpPr>
        <p:grpSpPr>
          <a:xfrm rot="0">
            <a:off x="754380" y="850392"/>
            <a:ext cx="16733520" cy="1028700"/>
            <a:chOff x="0" y="0"/>
            <a:chExt cx="22311360" cy="1371600"/>
          </a:xfrm>
        </p:grpSpPr>
        <p:sp>
          <p:nvSpPr>
            <p:cNvPr name="Freeform 6" id="6"/>
            <p:cNvSpPr/>
            <p:nvPr/>
          </p:nvSpPr>
          <p:spPr>
            <a:xfrm flipH="false" flipV="false" rot="0">
              <a:off x="0" y="0"/>
              <a:ext cx="22311361" cy="1371600"/>
            </a:xfrm>
            <a:custGeom>
              <a:avLst/>
              <a:gdLst/>
              <a:ahLst/>
              <a:cxnLst/>
              <a:rect r="r" b="b" t="t" l="l"/>
              <a:pathLst>
                <a:path h="1371600" w="22311361">
                  <a:moveTo>
                    <a:pt x="0" y="0"/>
                  </a:moveTo>
                  <a:lnTo>
                    <a:pt x="22311361" y="0"/>
                  </a:lnTo>
                  <a:lnTo>
                    <a:pt x="22311361" y="1371600"/>
                  </a:lnTo>
                  <a:lnTo>
                    <a:pt x="0" y="1371600"/>
                  </a:lnTo>
                  <a:close/>
                </a:path>
              </a:pathLst>
            </a:custGeom>
            <a:blipFill>
              <a:blip r:embed="rId3">
                <a:alphaModFix amt="0"/>
              </a:blip>
              <a:stretch>
                <a:fillRect l="0" t="-266956" r="0" b="-266956"/>
              </a:stretch>
            </a:blipFill>
          </p:spPr>
        </p:sp>
        <p:sp>
          <p:nvSpPr>
            <p:cNvPr name="TextBox 7" id="7"/>
            <p:cNvSpPr txBox="true"/>
            <p:nvPr/>
          </p:nvSpPr>
          <p:spPr>
            <a:xfrm>
              <a:off x="0" y="-9525"/>
              <a:ext cx="22311360" cy="1381125"/>
            </a:xfrm>
            <a:prstGeom prst="rect">
              <a:avLst/>
            </a:prstGeom>
          </p:spPr>
          <p:txBody>
            <a:bodyPr anchor="ctr" rtlCol="false" tIns="0" lIns="0" bIns="0" rIns="0"/>
            <a:lstStyle/>
            <a:p>
              <a:pPr algn="l">
                <a:lnSpc>
                  <a:spcPts val="4680"/>
                </a:lnSpc>
              </a:pPr>
              <a:r>
                <a:rPr lang="en-US" sz="3900" b="true">
                  <a:solidFill>
                    <a:srgbClr val="16213E"/>
                  </a:solidFill>
                  <a:latin typeface="Georgia Bold"/>
                  <a:ea typeface="Georgia Bold"/>
                  <a:cs typeface="Georgia Bold"/>
                  <a:sym typeface="Georgia Bold"/>
                </a:rPr>
                <a:t>Commercial HCP Prioritization — Field Force Allocation</a:t>
              </a:r>
            </a:p>
          </p:txBody>
        </p:sp>
      </p:grpSp>
      <p:grpSp>
        <p:nvGrpSpPr>
          <p:cNvPr name="Group 8" id="8"/>
          <p:cNvGrpSpPr/>
          <p:nvPr/>
        </p:nvGrpSpPr>
        <p:grpSpPr>
          <a:xfrm rot="0">
            <a:off x="754380" y="1744980"/>
            <a:ext cx="16733520" cy="480060"/>
            <a:chOff x="0" y="0"/>
            <a:chExt cx="22311360" cy="640080"/>
          </a:xfrm>
        </p:grpSpPr>
        <p:sp>
          <p:nvSpPr>
            <p:cNvPr name="Freeform 9" id="9"/>
            <p:cNvSpPr/>
            <p:nvPr/>
          </p:nvSpPr>
          <p:spPr>
            <a:xfrm flipH="false" flipV="false" rot="0">
              <a:off x="0" y="0"/>
              <a:ext cx="22311361" cy="640080"/>
            </a:xfrm>
            <a:custGeom>
              <a:avLst/>
              <a:gdLst/>
              <a:ahLst/>
              <a:cxnLst/>
              <a:rect r="r" b="b" t="t" l="l"/>
              <a:pathLst>
                <a:path h="640080" w="22311361">
                  <a:moveTo>
                    <a:pt x="0" y="0"/>
                  </a:moveTo>
                  <a:lnTo>
                    <a:pt x="22311361" y="0"/>
                  </a:lnTo>
                  <a:lnTo>
                    <a:pt x="22311361" y="640080"/>
                  </a:lnTo>
                  <a:lnTo>
                    <a:pt x="0" y="640080"/>
                  </a:lnTo>
                  <a:close/>
                </a:path>
              </a:pathLst>
            </a:custGeom>
            <a:blipFill>
              <a:blip r:embed="rId3">
                <a:alphaModFix amt="0"/>
              </a:blip>
              <a:stretch>
                <a:fillRect l="0" t="-629192" r="0" b="-629192"/>
              </a:stretch>
            </a:blipFill>
          </p:spPr>
        </p:sp>
        <p:sp>
          <p:nvSpPr>
            <p:cNvPr name="TextBox 10" id="10"/>
            <p:cNvSpPr txBox="true"/>
            <p:nvPr/>
          </p:nvSpPr>
          <p:spPr>
            <a:xfrm>
              <a:off x="0" y="-38100"/>
              <a:ext cx="22311360" cy="678180"/>
            </a:xfrm>
            <a:prstGeom prst="rect">
              <a:avLst/>
            </a:prstGeom>
          </p:spPr>
          <p:txBody>
            <a:bodyPr anchor="ctr" rtlCol="false" tIns="0" lIns="0" bIns="0" rIns="0"/>
            <a:lstStyle/>
            <a:p>
              <a:pPr algn="l">
                <a:lnSpc>
                  <a:spcPts val="2250"/>
                </a:lnSpc>
              </a:pPr>
              <a:r>
                <a:rPr lang="en-US" sz="1875" i="true">
                  <a:solidFill>
                    <a:srgbClr val="667085"/>
                  </a:solidFill>
                  <a:latin typeface="Calibri (MS) Italics"/>
                  <a:ea typeface="Calibri (MS) Italics"/>
                  <a:cs typeface="Calibri (MS) Italics"/>
                  <a:sym typeface="Calibri (MS) Italics"/>
                </a:rPr>
                <a:t>40 reps * 20 days/mo * 8 calls/day * 3months— Total rep call capacity per quarter.</a:t>
              </a:r>
            </a:p>
          </p:txBody>
        </p:sp>
      </p:grpSp>
      <p:grpSp>
        <p:nvGrpSpPr>
          <p:cNvPr name="Group 11" id="11"/>
          <p:cNvGrpSpPr/>
          <p:nvPr/>
        </p:nvGrpSpPr>
        <p:grpSpPr>
          <a:xfrm rot="0">
            <a:off x="754380" y="2149221"/>
            <a:ext cx="2125980" cy="466344"/>
            <a:chOff x="0" y="0"/>
            <a:chExt cx="2834640" cy="621792"/>
          </a:xfrm>
        </p:grpSpPr>
        <p:sp>
          <p:nvSpPr>
            <p:cNvPr name="Freeform 12" id="12"/>
            <p:cNvSpPr/>
            <p:nvPr/>
          </p:nvSpPr>
          <p:spPr>
            <a:xfrm flipH="false" flipV="false" rot="0">
              <a:off x="0" y="0"/>
              <a:ext cx="2834640" cy="621792"/>
            </a:xfrm>
            <a:custGeom>
              <a:avLst/>
              <a:gdLst/>
              <a:ahLst/>
              <a:cxnLst/>
              <a:rect r="r" b="b" t="t" l="l"/>
              <a:pathLst>
                <a:path h="621792" w="2834640">
                  <a:moveTo>
                    <a:pt x="0" y="310896"/>
                  </a:moveTo>
                  <a:cubicBezTo>
                    <a:pt x="0" y="139192"/>
                    <a:pt x="139192" y="0"/>
                    <a:pt x="310896" y="0"/>
                  </a:cubicBezTo>
                  <a:lnTo>
                    <a:pt x="2523744" y="0"/>
                  </a:lnTo>
                  <a:cubicBezTo>
                    <a:pt x="2695448" y="0"/>
                    <a:pt x="2834640" y="139192"/>
                    <a:pt x="2834640" y="310896"/>
                  </a:cubicBezTo>
                  <a:cubicBezTo>
                    <a:pt x="2834640" y="482600"/>
                    <a:pt x="2695448" y="621792"/>
                    <a:pt x="2523744" y="621792"/>
                  </a:cubicBezTo>
                  <a:lnTo>
                    <a:pt x="310896" y="621792"/>
                  </a:lnTo>
                  <a:cubicBezTo>
                    <a:pt x="139192" y="621792"/>
                    <a:pt x="0" y="482600"/>
                    <a:pt x="0" y="310896"/>
                  </a:cubicBezTo>
                  <a:close/>
                </a:path>
              </a:pathLst>
            </a:custGeom>
            <a:solidFill>
              <a:srgbClr val="0F8B8D"/>
            </a:solidFill>
          </p:spPr>
        </p:sp>
      </p:grpSp>
      <p:grpSp>
        <p:nvGrpSpPr>
          <p:cNvPr name="Group 13" id="13"/>
          <p:cNvGrpSpPr/>
          <p:nvPr/>
        </p:nvGrpSpPr>
        <p:grpSpPr>
          <a:xfrm rot="0">
            <a:off x="754380" y="2149221"/>
            <a:ext cx="2125980" cy="466344"/>
            <a:chOff x="0" y="0"/>
            <a:chExt cx="2834640" cy="621792"/>
          </a:xfrm>
        </p:grpSpPr>
        <p:sp>
          <p:nvSpPr>
            <p:cNvPr name="Freeform 14" id="14"/>
            <p:cNvSpPr/>
            <p:nvPr/>
          </p:nvSpPr>
          <p:spPr>
            <a:xfrm flipH="false" flipV="false" rot="0">
              <a:off x="0" y="0"/>
              <a:ext cx="2834640" cy="621792"/>
            </a:xfrm>
            <a:custGeom>
              <a:avLst/>
              <a:gdLst/>
              <a:ahLst/>
              <a:cxnLst/>
              <a:rect r="r" b="b" t="t" l="l"/>
              <a:pathLst>
                <a:path h="621792" w="2834640">
                  <a:moveTo>
                    <a:pt x="0" y="0"/>
                  </a:moveTo>
                  <a:lnTo>
                    <a:pt x="2834640" y="0"/>
                  </a:lnTo>
                  <a:lnTo>
                    <a:pt x="2834640" y="621792"/>
                  </a:lnTo>
                  <a:lnTo>
                    <a:pt x="0" y="621792"/>
                  </a:lnTo>
                  <a:close/>
                </a:path>
              </a:pathLst>
            </a:custGeom>
            <a:blipFill>
              <a:blip r:embed="rId3">
                <a:alphaModFix amt="0"/>
              </a:blip>
              <a:stretch>
                <a:fillRect l="0" t="-38828" r="0" b="-38828"/>
              </a:stretch>
            </a:blipFill>
          </p:spPr>
        </p:sp>
        <p:sp>
          <p:nvSpPr>
            <p:cNvPr name="TextBox 15" id="15"/>
            <p:cNvSpPr txBox="true"/>
            <p:nvPr/>
          </p:nvSpPr>
          <p:spPr>
            <a:xfrm>
              <a:off x="0" y="-19050"/>
              <a:ext cx="2834640" cy="640842"/>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Total Capacity / Qtr</a:t>
              </a:r>
            </a:p>
          </p:txBody>
        </p:sp>
      </p:grpSp>
      <p:grpSp>
        <p:nvGrpSpPr>
          <p:cNvPr name="Group 16" id="16"/>
          <p:cNvGrpSpPr/>
          <p:nvPr/>
        </p:nvGrpSpPr>
        <p:grpSpPr>
          <a:xfrm rot="0">
            <a:off x="3013569" y="2080641"/>
            <a:ext cx="3452938" cy="603504"/>
            <a:chOff x="0" y="0"/>
            <a:chExt cx="4603918" cy="804672"/>
          </a:xfrm>
        </p:grpSpPr>
        <p:sp>
          <p:nvSpPr>
            <p:cNvPr name="Freeform 17" id="17"/>
            <p:cNvSpPr/>
            <p:nvPr/>
          </p:nvSpPr>
          <p:spPr>
            <a:xfrm flipH="false" flipV="false" rot="0">
              <a:off x="0" y="0"/>
              <a:ext cx="4603918" cy="804672"/>
            </a:xfrm>
            <a:custGeom>
              <a:avLst/>
              <a:gdLst/>
              <a:ahLst/>
              <a:cxnLst/>
              <a:rect r="r" b="b" t="t" l="l"/>
              <a:pathLst>
                <a:path h="804672" w="4603918">
                  <a:moveTo>
                    <a:pt x="0" y="0"/>
                  </a:moveTo>
                  <a:lnTo>
                    <a:pt x="4603918" y="0"/>
                  </a:lnTo>
                  <a:lnTo>
                    <a:pt x="4603918" y="804672"/>
                  </a:lnTo>
                  <a:lnTo>
                    <a:pt x="0" y="804672"/>
                  </a:lnTo>
                  <a:close/>
                </a:path>
              </a:pathLst>
            </a:custGeom>
            <a:blipFill>
              <a:blip r:embed="rId3">
                <a:alphaModFix amt="0"/>
              </a:blip>
              <a:stretch>
                <a:fillRect l="0" t="-60710" r="693" b="-60710"/>
              </a:stretch>
            </a:blipFill>
          </p:spPr>
        </p:sp>
        <p:sp>
          <p:nvSpPr>
            <p:cNvPr name="TextBox 18" id="18"/>
            <p:cNvSpPr txBox="true"/>
            <p:nvPr/>
          </p:nvSpPr>
          <p:spPr>
            <a:xfrm>
              <a:off x="0" y="-57150"/>
              <a:ext cx="4603918" cy="861822"/>
            </a:xfrm>
            <a:prstGeom prst="rect">
              <a:avLst/>
            </a:prstGeom>
          </p:spPr>
          <p:txBody>
            <a:bodyPr anchor="ctr" rtlCol="false" tIns="0" lIns="0" bIns="0" rIns="0"/>
            <a:lstStyle/>
            <a:p>
              <a:pPr algn="l">
                <a:lnSpc>
                  <a:spcPts val="2700"/>
                </a:lnSpc>
              </a:pPr>
              <a:r>
                <a:rPr lang="en-US" sz="2250" b="true">
                  <a:solidFill>
                    <a:srgbClr val="16213E"/>
                  </a:solidFill>
                  <a:latin typeface="Calibri (MS) Bold"/>
                  <a:ea typeface="Calibri (MS) Bold"/>
                  <a:cs typeface="Calibri (MS) Bold"/>
                  <a:sym typeface="Calibri (MS) Bold"/>
                </a:rPr>
                <a:t>=19200 </a:t>
              </a:r>
              <a:r>
                <a:rPr lang="en-US" sz="2250" b="true">
                  <a:solidFill>
                    <a:srgbClr val="16213E"/>
                  </a:solidFill>
                  <a:latin typeface="Calibri (MS) Bold"/>
                  <a:ea typeface="Calibri (MS) Bold"/>
                  <a:cs typeface="Calibri (MS) Bold"/>
                  <a:sym typeface="Calibri (MS) Bold"/>
                </a:rPr>
                <a:t>calls/qtr </a:t>
              </a:r>
            </a:p>
          </p:txBody>
        </p:sp>
      </p:grpSp>
      <p:graphicFrame>
        <p:nvGraphicFramePr>
          <p:cNvPr name="Table 19" id="19"/>
          <p:cNvGraphicFramePr>
            <a:graphicFrameLocks noGrp="true"/>
          </p:cNvGraphicFramePr>
          <p:nvPr/>
        </p:nvGraphicFramePr>
        <p:xfrm>
          <a:off x="781050" y="3308985"/>
          <a:ext cx="16706850" cy="3600450"/>
        </p:xfrm>
        <a:graphic>
          <a:graphicData uri="http://schemas.openxmlformats.org/drawingml/2006/table">
            <a:tbl>
              <a:tblPr/>
              <a:tblGrid>
                <a:gridCol w="3558621"/>
                <a:gridCol w="2608147"/>
                <a:gridCol w="3762294"/>
                <a:gridCol w="3422839"/>
                <a:gridCol w="3354948"/>
              </a:tblGrid>
              <a:tr h="626307">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Segment</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16213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HCPs</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16213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Suggested % of Calls</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16213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Est. Quarterly Calls</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16213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Est. Rep Allocation</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16213E"/>
                    </a:solidFill>
                  </a:tcPr>
                </a:tc>
              </a:tr>
              <a:tr h="743536">
                <a:tc>
                  <a:txBody>
                    <a:bodyPr anchor="t" rtlCol="false"/>
                    <a:lstStyle/>
                    <a:p>
                      <a:pPr algn="l">
                        <a:lnSpc>
                          <a:spcPts val="1980"/>
                        </a:lnSpc>
                        <a:defRPr/>
                      </a:pPr>
                      <a:r>
                        <a:rPr lang="en-US" sz="1650">
                          <a:solidFill>
                            <a:srgbClr val="20262E"/>
                          </a:solidFill>
                          <a:latin typeface="Calibri (MS)"/>
                          <a:ea typeface="Calibri (MS)"/>
                          <a:cs typeface="Calibri (MS)"/>
                          <a:sym typeface="Calibri (MS)"/>
                        </a:rPr>
                        <a:t>New Starters</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FFFFFF"/>
                    </a:solidFill>
                  </a:tcPr>
                </a:tc>
                <a:tc>
                  <a:txBody>
                    <a:bodyPr anchor="t" rtlCol="false"/>
                    <a:lstStyle/>
                    <a:p>
                      <a:pPr algn="ctr">
                        <a:lnSpc>
                          <a:spcPts val="1980"/>
                        </a:lnSpc>
                        <a:defRPr/>
                      </a:pPr>
                      <a:r>
                        <a:rPr lang="en-US" sz="1650">
                          <a:solidFill>
                            <a:srgbClr val="20262E"/>
                          </a:solidFill>
                          <a:latin typeface="Calibri (MS)"/>
                          <a:ea typeface="Calibri (MS)"/>
                          <a:cs typeface="Calibri (MS)"/>
                          <a:sym typeface="Calibri (MS)"/>
                        </a:rPr>
                        <a:t>64</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FFFFFF"/>
                    </a:solidFill>
                  </a:tcPr>
                </a:tc>
                <a:tc>
                  <a:txBody>
                    <a:bodyPr anchor="t" rtlCol="false"/>
                    <a:lstStyle/>
                    <a:p>
                      <a:pPr algn="ctr">
                        <a:lnSpc>
                          <a:spcPts val="1980"/>
                        </a:lnSpc>
                        <a:defRPr/>
                      </a:pPr>
                      <a:r>
                        <a:rPr lang="en-US" sz="1650">
                          <a:solidFill>
                            <a:srgbClr val="20262E"/>
                          </a:solidFill>
                          <a:latin typeface="Calibri (MS)"/>
                          <a:ea typeface="Calibri (MS)"/>
                          <a:cs typeface="Calibri (MS)"/>
                          <a:sym typeface="Calibri (MS)"/>
                        </a:rPr>
                        <a:t>40%</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FFFFFF"/>
                    </a:solidFill>
                  </a:tcPr>
                </a:tc>
                <a:tc>
                  <a:txBody>
                    <a:bodyPr anchor="t" rtlCol="false"/>
                    <a:lstStyle/>
                    <a:p>
                      <a:pPr algn="ctr">
                        <a:lnSpc>
                          <a:spcPts val="1980"/>
                        </a:lnSpc>
                        <a:defRPr/>
                      </a:pPr>
                      <a:r>
                        <a:rPr lang="en-US" sz="1650">
                          <a:solidFill>
                            <a:srgbClr val="20262E"/>
                          </a:solidFill>
                          <a:latin typeface="Calibri (MS)"/>
                          <a:ea typeface="Calibri (MS)"/>
                          <a:cs typeface="Calibri (MS)"/>
                          <a:sym typeface="Calibri (MS)"/>
                        </a:rPr>
                        <a:t>7680</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FFFFFF"/>
                    </a:solidFill>
                  </a:tcPr>
                </a:tc>
                <a:tc>
                  <a:txBody>
                    <a:bodyPr anchor="t" rtlCol="false"/>
                    <a:lstStyle/>
                    <a:p>
                      <a:pPr algn="ctr">
                        <a:lnSpc>
                          <a:spcPts val="1980"/>
                        </a:lnSpc>
                        <a:defRPr/>
                      </a:pPr>
                      <a:r>
                        <a:rPr lang="en-US" sz="1650">
                          <a:solidFill>
                            <a:srgbClr val="20262E"/>
                          </a:solidFill>
                          <a:latin typeface="Calibri (MS)"/>
                          <a:ea typeface="Calibri (MS)"/>
                          <a:cs typeface="Calibri (MS)"/>
                          <a:sym typeface="Calibri (MS)"/>
                        </a:rPr>
                        <a:t>16 reps</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FFFFFF"/>
                    </a:solidFill>
                  </a:tcPr>
                </a:tc>
              </a:tr>
              <a:tr h="743536">
                <a:tc>
                  <a:txBody>
                    <a:bodyPr anchor="t" rtlCol="false"/>
                    <a:lstStyle/>
                    <a:p>
                      <a:pPr algn="l">
                        <a:lnSpc>
                          <a:spcPts val="1980"/>
                        </a:lnSpc>
                        <a:defRPr/>
                      </a:pPr>
                      <a:r>
                        <a:rPr lang="en-US" sz="1650">
                          <a:solidFill>
                            <a:srgbClr val="20262E"/>
                          </a:solidFill>
                          <a:latin typeface="Calibri (MS)"/>
                          <a:ea typeface="Calibri (MS)"/>
                          <a:cs typeface="Calibri (MS)"/>
                          <a:sym typeface="Calibri (MS)"/>
                        </a:rPr>
                        <a:t>Growers</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EEF2F6"/>
                    </a:solidFill>
                  </a:tcPr>
                </a:tc>
                <a:tc>
                  <a:txBody>
                    <a:bodyPr anchor="t" rtlCol="false"/>
                    <a:lstStyle/>
                    <a:p>
                      <a:pPr algn="ctr">
                        <a:lnSpc>
                          <a:spcPts val="1980"/>
                        </a:lnSpc>
                        <a:defRPr/>
                      </a:pPr>
                      <a:r>
                        <a:rPr lang="en-US" sz="1650">
                          <a:solidFill>
                            <a:srgbClr val="20262E"/>
                          </a:solidFill>
                          <a:latin typeface="Calibri (MS)"/>
                          <a:ea typeface="Calibri (MS)"/>
                          <a:cs typeface="Calibri (MS)"/>
                          <a:sym typeface="Calibri (MS)"/>
                        </a:rPr>
                        <a:t>25</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EEF2F6"/>
                    </a:solidFill>
                  </a:tcPr>
                </a:tc>
                <a:tc>
                  <a:txBody>
                    <a:bodyPr anchor="t" rtlCol="false"/>
                    <a:lstStyle/>
                    <a:p>
                      <a:pPr algn="ctr">
                        <a:lnSpc>
                          <a:spcPts val="1980"/>
                        </a:lnSpc>
                        <a:defRPr/>
                      </a:pPr>
                      <a:r>
                        <a:rPr lang="en-US" sz="1650">
                          <a:solidFill>
                            <a:srgbClr val="20262E"/>
                          </a:solidFill>
                          <a:latin typeface="Calibri (MS)"/>
                          <a:ea typeface="Calibri (MS)"/>
                          <a:cs typeface="Calibri (MS)"/>
                          <a:sym typeface="Calibri (MS)"/>
                        </a:rPr>
                        <a:t>45%</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EEF2F6"/>
                    </a:solidFill>
                  </a:tcPr>
                </a:tc>
                <a:tc>
                  <a:txBody>
                    <a:bodyPr anchor="t" rtlCol="false"/>
                    <a:lstStyle/>
                    <a:p>
                      <a:pPr algn="ctr">
                        <a:lnSpc>
                          <a:spcPts val="1980"/>
                        </a:lnSpc>
                        <a:defRPr/>
                      </a:pPr>
                      <a:r>
                        <a:rPr lang="en-US" sz="1650">
                          <a:solidFill>
                            <a:srgbClr val="20262E"/>
                          </a:solidFill>
                          <a:latin typeface="Calibri (MS)"/>
                          <a:ea typeface="Calibri (MS)"/>
                          <a:cs typeface="Calibri (MS)"/>
                          <a:sym typeface="Calibri (MS)"/>
                        </a:rPr>
                        <a:t>6720</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EEF2F6"/>
                    </a:solidFill>
                  </a:tcPr>
                </a:tc>
                <a:tc>
                  <a:txBody>
                    <a:bodyPr anchor="t" rtlCol="false"/>
                    <a:lstStyle/>
                    <a:p>
                      <a:pPr algn="ctr">
                        <a:lnSpc>
                          <a:spcPts val="1980"/>
                        </a:lnSpc>
                        <a:defRPr/>
                      </a:pPr>
                      <a:r>
                        <a:rPr lang="en-US" sz="1650">
                          <a:solidFill>
                            <a:srgbClr val="20262E"/>
                          </a:solidFill>
                          <a:latin typeface="Calibri (MS)"/>
                          <a:ea typeface="Calibri (MS)"/>
                          <a:cs typeface="Calibri (MS)"/>
                          <a:sym typeface="Calibri (MS)"/>
                        </a:rPr>
                        <a:t>14 reps</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EEF2F6"/>
                    </a:solidFill>
                  </a:tcPr>
                </a:tc>
              </a:tr>
              <a:tr h="743536">
                <a:tc>
                  <a:txBody>
                    <a:bodyPr anchor="t" rtlCol="false"/>
                    <a:lstStyle/>
                    <a:p>
                      <a:pPr algn="l">
                        <a:lnSpc>
                          <a:spcPts val="1980"/>
                        </a:lnSpc>
                        <a:defRPr/>
                      </a:pPr>
                      <a:r>
                        <a:rPr lang="en-US" sz="1650">
                          <a:solidFill>
                            <a:srgbClr val="20262E"/>
                          </a:solidFill>
                          <a:latin typeface="Calibri (MS)"/>
                          <a:ea typeface="Calibri (MS)"/>
                          <a:cs typeface="Calibri (MS)"/>
                          <a:sym typeface="Calibri (MS)"/>
                        </a:rPr>
                        <a:t>Non-Responders</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FFFFFF"/>
                    </a:solidFill>
                  </a:tcPr>
                </a:tc>
                <a:tc>
                  <a:txBody>
                    <a:bodyPr anchor="t" rtlCol="false"/>
                    <a:lstStyle/>
                    <a:p>
                      <a:pPr algn="ctr">
                        <a:lnSpc>
                          <a:spcPts val="1980"/>
                        </a:lnSpc>
                        <a:defRPr/>
                      </a:pPr>
                      <a:r>
                        <a:rPr lang="en-US" sz="1650">
                          <a:solidFill>
                            <a:srgbClr val="20262E"/>
                          </a:solidFill>
                          <a:latin typeface="Calibri (MS)"/>
                          <a:ea typeface="Calibri (MS)"/>
                          <a:cs typeface="Calibri (MS)"/>
                          <a:sym typeface="Calibri (MS)"/>
                        </a:rPr>
                        <a:t>125</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FFFFFF"/>
                    </a:solidFill>
                  </a:tcPr>
                </a:tc>
                <a:tc>
                  <a:txBody>
                    <a:bodyPr anchor="t" rtlCol="false"/>
                    <a:lstStyle/>
                    <a:p>
                      <a:pPr algn="ctr">
                        <a:lnSpc>
                          <a:spcPts val="1980"/>
                        </a:lnSpc>
                        <a:defRPr/>
                      </a:pPr>
                      <a:r>
                        <a:rPr lang="en-US" sz="1650">
                          <a:solidFill>
                            <a:srgbClr val="20262E"/>
                          </a:solidFill>
                          <a:latin typeface="Calibri (MS)"/>
                          <a:ea typeface="Calibri (MS)"/>
                          <a:cs typeface="Calibri (MS)"/>
                          <a:sym typeface="Calibri (MS)"/>
                        </a:rPr>
                        <a:t>15%</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FFFFFF"/>
                    </a:solidFill>
                  </a:tcPr>
                </a:tc>
                <a:tc>
                  <a:txBody>
                    <a:bodyPr anchor="t" rtlCol="false"/>
                    <a:lstStyle/>
                    <a:p>
                      <a:pPr algn="ctr">
                        <a:lnSpc>
                          <a:spcPts val="1980"/>
                        </a:lnSpc>
                        <a:defRPr/>
                      </a:pPr>
                      <a:r>
                        <a:rPr lang="en-US" sz="1650">
                          <a:solidFill>
                            <a:srgbClr val="20262E"/>
                          </a:solidFill>
                          <a:latin typeface="Calibri (MS)"/>
                          <a:ea typeface="Calibri (MS)"/>
                          <a:cs typeface="Calibri (MS)"/>
                          <a:sym typeface="Calibri (MS)"/>
                        </a:rPr>
                        <a:t>4800</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FFFFFF"/>
                    </a:solidFill>
                  </a:tcPr>
                </a:tc>
                <a:tc>
                  <a:txBody>
                    <a:bodyPr anchor="t" rtlCol="false"/>
                    <a:lstStyle/>
                    <a:p>
                      <a:pPr algn="ctr">
                        <a:lnSpc>
                          <a:spcPts val="1980"/>
                        </a:lnSpc>
                        <a:defRPr/>
                      </a:pPr>
                      <a:r>
                        <a:rPr lang="en-US" sz="1650">
                          <a:solidFill>
                            <a:srgbClr val="20262E"/>
                          </a:solidFill>
                          <a:latin typeface="Calibri (MS)"/>
                          <a:ea typeface="Calibri (MS)"/>
                          <a:cs typeface="Calibri (MS)"/>
                          <a:sym typeface="Calibri (MS)"/>
                        </a:rPr>
                        <a:t>10 reps</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FFFFFF"/>
                    </a:solidFill>
                  </a:tcPr>
                </a:tc>
              </a:tr>
              <a:tr h="743536">
                <a:tc>
                  <a:txBody>
                    <a:bodyPr anchor="t" rtlCol="false"/>
                    <a:lstStyle/>
                    <a:p>
                      <a:pPr algn="l">
                        <a:lnSpc>
                          <a:spcPts val="1980"/>
                        </a:lnSpc>
                        <a:defRPr/>
                      </a:pPr>
                      <a:r>
                        <a:rPr lang="en-US" sz="1650" b="true">
                          <a:solidFill>
                            <a:srgbClr val="20262E"/>
                          </a:solidFill>
                          <a:latin typeface="Calibri (MS) Bold"/>
                          <a:ea typeface="Calibri (MS) Bold"/>
                          <a:cs typeface="Calibri (MS) Bold"/>
                          <a:sym typeface="Calibri (MS) Bold"/>
                        </a:rPr>
                        <a:t>Total</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DCE3EC"/>
                    </a:solidFill>
                  </a:tcPr>
                </a:tc>
                <a:tc>
                  <a:txBody>
                    <a:bodyPr anchor="t" rtlCol="false"/>
                    <a:lstStyle/>
                    <a:p>
                      <a:pPr algn="ctr">
                        <a:lnSpc>
                          <a:spcPts val="1980"/>
                        </a:lnSpc>
                        <a:defRPr/>
                      </a:pPr>
                      <a:r>
                        <a:rPr lang="en-US" sz="1650" b="true">
                          <a:solidFill>
                            <a:srgbClr val="20262E"/>
                          </a:solidFill>
                          <a:latin typeface="Calibri (MS) Bold"/>
                          <a:ea typeface="Calibri (MS) Bold"/>
                          <a:cs typeface="Calibri (MS) Bold"/>
                          <a:sym typeface="Calibri (MS) Bold"/>
                        </a:rPr>
                        <a:t>214</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DCE3EC"/>
                    </a:solidFill>
                  </a:tcPr>
                </a:tc>
                <a:tc>
                  <a:txBody>
                    <a:bodyPr anchor="t" rtlCol="false"/>
                    <a:lstStyle/>
                    <a:p>
                      <a:pPr algn="ctr">
                        <a:lnSpc>
                          <a:spcPts val="1980"/>
                        </a:lnSpc>
                        <a:defRPr/>
                      </a:pPr>
                      <a:r>
                        <a:rPr lang="en-US" sz="1650" b="true">
                          <a:solidFill>
                            <a:srgbClr val="20262E"/>
                          </a:solidFill>
                          <a:latin typeface="Calibri (MS) Bold"/>
                          <a:ea typeface="Calibri (MS) Bold"/>
                          <a:cs typeface="Calibri (MS) Bold"/>
                          <a:sym typeface="Calibri (MS) Bold"/>
                        </a:rPr>
                        <a:t>100%</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DCE3EC"/>
                    </a:solidFill>
                  </a:tcPr>
                </a:tc>
                <a:tc>
                  <a:txBody>
                    <a:bodyPr anchor="t" rtlCol="false"/>
                    <a:lstStyle/>
                    <a:p>
                      <a:pPr algn="ctr">
                        <a:lnSpc>
                          <a:spcPts val="1980"/>
                        </a:lnSpc>
                        <a:defRPr/>
                      </a:pPr>
                      <a:r>
                        <a:rPr lang="en-US" sz="1650" b="true">
                          <a:solidFill>
                            <a:srgbClr val="20262E"/>
                          </a:solidFill>
                          <a:latin typeface="Calibri (MS) Bold"/>
                          <a:ea typeface="Calibri (MS) Bold"/>
                          <a:cs typeface="Calibri (MS) Bold"/>
                          <a:sym typeface="Calibri (MS) Bold"/>
                        </a:rPr>
                        <a:t>19200</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DCE3EC"/>
                    </a:solidFill>
                  </a:tcPr>
                </a:tc>
                <a:tc>
                  <a:txBody>
                    <a:bodyPr anchor="t" rtlCol="false"/>
                    <a:lstStyle/>
                    <a:p>
                      <a:pPr algn="ctr">
                        <a:lnSpc>
                          <a:spcPts val="1980"/>
                        </a:lnSpc>
                        <a:defRPr/>
                      </a:pPr>
                      <a:r>
                        <a:rPr lang="en-US" sz="1650">
                          <a:solidFill>
                            <a:srgbClr val="20262E"/>
                          </a:solidFill>
                          <a:latin typeface="Calibri (MS)"/>
                          <a:ea typeface="Calibri (MS)"/>
                          <a:cs typeface="Calibri (MS)"/>
                          <a:sym typeface="Calibri (MS)"/>
                        </a:rPr>
                        <a:t>40 reps</a:t>
                      </a:r>
                      <a:endParaRPr lang="en-US" sz="1100"/>
                    </a:p>
                  </a:txBody>
                  <a:tcPr marL="91440" marR="91440" marT="91440" marB="91440" anchor="ctr">
                    <a:lnL cmpd="sng" algn="ctr" cap="flat" w="9525">
                      <a:solidFill>
                        <a:srgbClr val="E3E6EC"/>
                      </a:solidFill>
                      <a:prstDash val="solid"/>
                      <a:round/>
                      <a:headEnd type="none" w="med" len="med"/>
                      <a:tailEnd type="none" w="med" len="med"/>
                    </a:lnL>
                    <a:lnR cmpd="sng" algn="ctr" cap="flat" w="9525">
                      <a:solidFill>
                        <a:srgbClr val="E3E6EC"/>
                      </a:solidFill>
                      <a:prstDash val="solid"/>
                      <a:round/>
                      <a:headEnd type="none" w="med" len="med"/>
                      <a:tailEnd type="none" w="med" len="med"/>
                    </a:lnR>
                    <a:lnT cmpd="sng" algn="ctr" cap="flat" w="9525">
                      <a:solidFill>
                        <a:srgbClr val="E3E6EC"/>
                      </a:solidFill>
                      <a:prstDash val="solid"/>
                      <a:round/>
                      <a:headEnd type="none" w="med" len="med"/>
                      <a:tailEnd type="none" w="med" len="med"/>
                    </a:lnT>
                    <a:lnB cmpd="sng" algn="ctr" cap="flat" w="9525">
                      <a:solidFill>
                        <a:srgbClr val="E3E6EC"/>
                      </a:solidFill>
                      <a:prstDash val="solid"/>
                      <a:round/>
                      <a:headEnd type="none" w="med" len="med"/>
                      <a:tailEnd type="none" w="med" len="med"/>
                    </a:lnB>
                    <a:solidFill>
                      <a:srgbClr val="DCE3EC"/>
                    </a:solidFill>
                  </a:tcPr>
                </a:tc>
              </a:tr>
            </a:tbl>
          </a:graphicData>
        </a:graphic>
      </p:graphicFrame>
      <p:grpSp>
        <p:nvGrpSpPr>
          <p:cNvPr name="Group 20" id="20"/>
          <p:cNvGrpSpPr/>
          <p:nvPr/>
        </p:nvGrpSpPr>
        <p:grpSpPr>
          <a:xfrm rot="0">
            <a:off x="754380" y="7612380"/>
            <a:ext cx="16733520" cy="1920240"/>
            <a:chOff x="0" y="0"/>
            <a:chExt cx="22311360" cy="2560320"/>
          </a:xfrm>
        </p:grpSpPr>
        <p:sp>
          <p:nvSpPr>
            <p:cNvPr name="Freeform 21" id="21"/>
            <p:cNvSpPr/>
            <p:nvPr/>
          </p:nvSpPr>
          <p:spPr>
            <a:xfrm flipH="false" flipV="false" rot="0">
              <a:off x="0" y="0"/>
              <a:ext cx="22311361" cy="2560320"/>
            </a:xfrm>
            <a:custGeom>
              <a:avLst/>
              <a:gdLst/>
              <a:ahLst/>
              <a:cxnLst/>
              <a:rect r="r" b="b" t="t" l="l"/>
              <a:pathLst>
                <a:path h="2560320" w="22311361">
                  <a:moveTo>
                    <a:pt x="0" y="146304"/>
                  </a:moveTo>
                  <a:cubicBezTo>
                    <a:pt x="0" y="65532"/>
                    <a:pt x="65532" y="0"/>
                    <a:pt x="146304" y="0"/>
                  </a:cubicBezTo>
                  <a:lnTo>
                    <a:pt x="22165056" y="0"/>
                  </a:lnTo>
                  <a:cubicBezTo>
                    <a:pt x="22245828" y="0"/>
                    <a:pt x="22311361" y="65532"/>
                    <a:pt x="22311361" y="146304"/>
                  </a:cubicBezTo>
                  <a:lnTo>
                    <a:pt x="22311361" y="2414016"/>
                  </a:lnTo>
                  <a:cubicBezTo>
                    <a:pt x="22311361" y="2494788"/>
                    <a:pt x="22245828" y="2560320"/>
                    <a:pt x="22165056" y="2560320"/>
                  </a:cubicBezTo>
                  <a:lnTo>
                    <a:pt x="146304" y="2560320"/>
                  </a:lnTo>
                  <a:cubicBezTo>
                    <a:pt x="65532" y="2560320"/>
                    <a:pt x="0" y="2494788"/>
                    <a:pt x="0" y="2414016"/>
                  </a:cubicBezTo>
                  <a:close/>
                </a:path>
              </a:pathLst>
            </a:custGeom>
            <a:solidFill>
              <a:srgbClr val="F6F7FA"/>
            </a:solidFill>
          </p:spPr>
        </p:sp>
      </p:grpSp>
      <p:grpSp>
        <p:nvGrpSpPr>
          <p:cNvPr name="Group 22" id="22"/>
          <p:cNvGrpSpPr/>
          <p:nvPr/>
        </p:nvGrpSpPr>
        <p:grpSpPr>
          <a:xfrm rot="0">
            <a:off x="1028700" y="7803261"/>
            <a:ext cx="15910560" cy="384048"/>
            <a:chOff x="0" y="0"/>
            <a:chExt cx="21214080" cy="512064"/>
          </a:xfrm>
        </p:grpSpPr>
        <p:sp>
          <p:nvSpPr>
            <p:cNvPr name="Freeform 23" id="23"/>
            <p:cNvSpPr/>
            <p:nvPr/>
          </p:nvSpPr>
          <p:spPr>
            <a:xfrm flipH="false" flipV="false" rot="0">
              <a:off x="0" y="0"/>
              <a:ext cx="21214080" cy="512064"/>
            </a:xfrm>
            <a:custGeom>
              <a:avLst/>
              <a:gdLst/>
              <a:ahLst/>
              <a:cxnLst/>
              <a:rect r="r" b="b" t="t" l="l"/>
              <a:pathLst>
                <a:path h="512064" w="21214080">
                  <a:moveTo>
                    <a:pt x="0" y="0"/>
                  </a:moveTo>
                  <a:lnTo>
                    <a:pt x="21214080" y="0"/>
                  </a:lnTo>
                  <a:lnTo>
                    <a:pt x="21214080" y="512064"/>
                  </a:lnTo>
                  <a:lnTo>
                    <a:pt x="0" y="512064"/>
                  </a:lnTo>
                  <a:close/>
                </a:path>
              </a:pathLst>
            </a:custGeom>
            <a:blipFill>
              <a:blip r:embed="rId3">
                <a:alphaModFix amt="0"/>
              </a:blip>
              <a:stretch>
                <a:fillRect l="0" t="-757237" r="0" b="-757237"/>
              </a:stretch>
            </a:blipFill>
          </p:spPr>
        </p:sp>
        <p:sp>
          <p:nvSpPr>
            <p:cNvPr name="TextBox 24" id="24"/>
            <p:cNvSpPr txBox="true"/>
            <p:nvPr/>
          </p:nvSpPr>
          <p:spPr>
            <a:xfrm>
              <a:off x="0" y="-28575"/>
              <a:ext cx="21214080" cy="540639"/>
            </a:xfrm>
            <a:prstGeom prst="rect">
              <a:avLst/>
            </a:prstGeom>
          </p:spPr>
          <p:txBody>
            <a:bodyPr anchor="ctr" rtlCol="false" tIns="0" lIns="0" bIns="0" rIns="0"/>
            <a:lstStyle/>
            <a:p>
              <a:pPr algn="l">
                <a:lnSpc>
                  <a:spcPts val="1980"/>
                </a:lnSpc>
              </a:pPr>
              <a:r>
                <a:rPr lang="en-US" b="true" sz="1650" spc="150">
                  <a:solidFill>
                    <a:srgbClr val="16213E"/>
                  </a:solidFill>
                  <a:latin typeface="Calibri (MS) Bold"/>
                  <a:ea typeface="Calibri (MS) Bold"/>
                  <a:cs typeface="Calibri (MS) Bold"/>
                  <a:sym typeface="Calibri (MS) Bold"/>
                </a:rPr>
                <a:t>INSIGHTS</a:t>
              </a:r>
            </a:p>
          </p:txBody>
        </p:sp>
      </p:grpSp>
      <p:grpSp>
        <p:nvGrpSpPr>
          <p:cNvPr name="Group 25" id="25"/>
          <p:cNvGrpSpPr/>
          <p:nvPr/>
        </p:nvGrpSpPr>
        <p:grpSpPr>
          <a:xfrm rot="0">
            <a:off x="957970" y="7803261"/>
            <a:ext cx="15910560" cy="1976975"/>
            <a:chOff x="0" y="0"/>
            <a:chExt cx="21214080" cy="2635966"/>
          </a:xfrm>
        </p:grpSpPr>
        <p:sp>
          <p:nvSpPr>
            <p:cNvPr name="Freeform 26" id="26"/>
            <p:cNvSpPr/>
            <p:nvPr/>
          </p:nvSpPr>
          <p:spPr>
            <a:xfrm flipH="false" flipV="false" rot="0">
              <a:off x="0" y="0"/>
              <a:ext cx="21214080" cy="2635966"/>
            </a:xfrm>
            <a:custGeom>
              <a:avLst/>
              <a:gdLst/>
              <a:ahLst/>
              <a:cxnLst/>
              <a:rect r="r" b="b" t="t" l="l"/>
              <a:pathLst>
                <a:path h="2635966" w="21214080">
                  <a:moveTo>
                    <a:pt x="0" y="0"/>
                  </a:moveTo>
                  <a:lnTo>
                    <a:pt x="21214080" y="0"/>
                  </a:lnTo>
                  <a:lnTo>
                    <a:pt x="21214080" y="2635966"/>
                  </a:lnTo>
                  <a:lnTo>
                    <a:pt x="0" y="2635966"/>
                  </a:lnTo>
                  <a:close/>
                </a:path>
              </a:pathLst>
            </a:custGeom>
            <a:blipFill>
              <a:blip r:embed="rId3">
                <a:alphaModFix amt="0"/>
              </a:blip>
              <a:stretch>
                <a:fillRect l="0" t="-127328" r="0" b="-86300"/>
              </a:stretch>
            </a:blipFill>
          </p:spPr>
        </p:sp>
        <p:sp>
          <p:nvSpPr>
            <p:cNvPr name="TextBox 27" id="27"/>
            <p:cNvSpPr txBox="true"/>
            <p:nvPr/>
          </p:nvSpPr>
          <p:spPr>
            <a:xfrm>
              <a:off x="0" y="-76200"/>
              <a:ext cx="21214080" cy="2712166"/>
            </a:xfrm>
            <a:prstGeom prst="rect">
              <a:avLst/>
            </a:prstGeom>
          </p:spPr>
          <p:txBody>
            <a:bodyPr anchor="ctr" rtlCol="false" tIns="0" lIns="0" bIns="0" rIns="0"/>
            <a:lstStyle/>
            <a:p>
              <a:pPr algn="l">
                <a:lnSpc>
                  <a:spcPts val="2448"/>
                </a:lnSpc>
              </a:pPr>
              <a:r>
                <a:rPr lang="en-US" sz="1700" i="true">
                  <a:solidFill>
                    <a:srgbClr val="667085"/>
                  </a:solidFill>
                  <a:latin typeface="Calibri (MS) Italics"/>
                  <a:ea typeface="Calibri (MS) Italics"/>
                  <a:cs typeface="Calibri (MS) Italics"/>
                  <a:sym typeface="Calibri (MS) Italics"/>
                </a:rPr>
                <a:t>Rationale: High priority for growers – Proven +323% lift, protect momentum &amp; defend vs competitors. Largest share New Starters greatest strategic upside to lock in habitual prescribing. Non-Responders receive lower, selective coverage – weak – 68% avg lift indicates limited call responsiveness; triage to their highest-alert sub-segment.</a:t>
              </a:r>
            </a:p>
            <a:p>
              <a:pPr algn="l">
                <a:lnSpc>
                  <a:spcPts val="2448"/>
                </a:lnSpc>
              </a:pPr>
              <a:r>
                <a:rPr lang="en-US" sz="1700" i="true">
                  <a:solidFill>
                    <a:srgbClr val="667085"/>
                  </a:solidFill>
                  <a:latin typeface="Calibri (MS) Italics"/>
                  <a:ea typeface="Calibri (MS) Italics"/>
                  <a:cs typeface="Calibri (MS) Italics"/>
                  <a:sym typeface="Calibri (MS) Italics"/>
                </a:rPr>
                <a:t>Trade-off: Capacity is deliberately shifted away from Non-Responders (broadest reach, 125 HCPs, but lowest conversion probability) to Growers and New Starters, where conversion probability and growth potential are known or emerging – choosing lower overall reach in exchange for higher expected ROI per call. </a:t>
              </a:r>
            </a:p>
          </p:txBody>
        </p:sp>
      </p:grpSp>
      <p:grpSp>
        <p:nvGrpSpPr>
          <p:cNvPr name="Group 28" id="28"/>
          <p:cNvGrpSpPr/>
          <p:nvPr/>
        </p:nvGrpSpPr>
        <p:grpSpPr>
          <a:xfrm rot="0">
            <a:off x="17282160" y="9806940"/>
            <a:ext cx="685800" cy="411480"/>
            <a:chOff x="0" y="0"/>
            <a:chExt cx="914400" cy="548640"/>
          </a:xfrm>
        </p:grpSpPr>
        <p:sp>
          <p:nvSpPr>
            <p:cNvPr name="Freeform 29" id="2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30" id="30"/>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67085"/>
                  </a:solidFill>
                  <a:latin typeface="Calibri (MS)"/>
                  <a:ea typeface="Calibri (MS)"/>
                  <a:cs typeface="Calibri (MS)"/>
                  <a:sym typeface="Calibri (MS)"/>
                </a:rPr>
                <a:t>11</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4380" y="850392"/>
            <a:ext cx="16733520" cy="1028700"/>
            <a:chOff x="0" y="0"/>
            <a:chExt cx="22311360" cy="1371600"/>
          </a:xfrm>
        </p:grpSpPr>
        <p:sp>
          <p:nvSpPr>
            <p:cNvPr name="Freeform 3" id="3"/>
            <p:cNvSpPr/>
            <p:nvPr/>
          </p:nvSpPr>
          <p:spPr>
            <a:xfrm flipH="false" flipV="false" rot="0">
              <a:off x="0" y="0"/>
              <a:ext cx="22311361" cy="1371600"/>
            </a:xfrm>
            <a:custGeom>
              <a:avLst/>
              <a:gdLst/>
              <a:ahLst/>
              <a:cxnLst/>
              <a:rect r="r" b="b" t="t" l="l"/>
              <a:pathLst>
                <a:path h="1371600" w="22311361">
                  <a:moveTo>
                    <a:pt x="0" y="0"/>
                  </a:moveTo>
                  <a:lnTo>
                    <a:pt x="22311361" y="0"/>
                  </a:lnTo>
                  <a:lnTo>
                    <a:pt x="22311361" y="1371600"/>
                  </a:lnTo>
                  <a:lnTo>
                    <a:pt x="0" y="1371600"/>
                  </a:lnTo>
                  <a:close/>
                </a:path>
              </a:pathLst>
            </a:custGeom>
            <a:blipFill>
              <a:blip r:embed="rId3">
                <a:alphaModFix amt="0"/>
              </a:blip>
              <a:stretch>
                <a:fillRect l="0" t="-266956" r="0" b="-266956"/>
              </a:stretch>
            </a:blipFill>
          </p:spPr>
        </p:sp>
        <p:sp>
          <p:nvSpPr>
            <p:cNvPr name="TextBox 4" id="4"/>
            <p:cNvSpPr txBox="true"/>
            <p:nvPr/>
          </p:nvSpPr>
          <p:spPr>
            <a:xfrm>
              <a:off x="0" y="-9525"/>
              <a:ext cx="22311360" cy="1381125"/>
            </a:xfrm>
            <a:prstGeom prst="rect">
              <a:avLst/>
            </a:prstGeom>
          </p:spPr>
          <p:txBody>
            <a:bodyPr anchor="ctr" rtlCol="false" tIns="0" lIns="0" bIns="0" rIns="0"/>
            <a:lstStyle/>
            <a:p>
              <a:pPr algn="l">
                <a:lnSpc>
                  <a:spcPts val="4680"/>
                </a:lnSpc>
              </a:pPr>
              <a:r>
                <a:rPr lang="en-US" sz="3900" b="true">
                  <a:solidFill>
                    <a:srgbClr val="16213E"/>
                  </a:solidFill>
                  <a:latin typeface="Georgia Bold"/>
                  <a:ea typeface="Georgia Bold"/>
                  <a:cs typeface="Georgia Bold"/>
                  <a:sym typeface="Georgia Bold"/>
                </a:rPr>
                <a:t>Nexavir Monthly Trend</a:t>
              </a:r>
            </a:p>
          </p:txBody>
        </p:sp>
      </p:grpSp>
      <p:grpSp>
        <p:nvGrpSpPr>
          <p:cNvPr name="Group 5" id="5"/>
          <p:cNvGrpSpPr/>
          <p:nvPr/>
        </p:nvGrpSpPr>
        <p:grpSpPr>
          <a:xfrm rot="0">
            <a:off x="754380" y="7612380"/>
            <a:ext cx="16733520" cy="2400300"/>
            <a:chOff x="0" y="0"/>
            <a:chExt cx="22311360" cy="3200400"/>
          </a:xfrm>
        </p:grpSpPr>
        <p:sp>
          <p:nvSpPr>
            <p:cNvPr name="Freeform 6" id="6"/>
            <p:cNvSpPr/>
            <p:nvPr/>
          </p:nvSpPr>
          <p:spPr>
            <a:xfrm flipH="false" flipV="false" rot="0">
              <a:off x="0" y="0"/>
              <a:ext cx="22311361" cy="3200400"/>
            </a:xfrm>
            <a:custGeom>
              <a:avLst/>
              <a:gdLst/>
              <a:ahLst/>
              <a:cxnLst/>
              <a:rect r="r" b="b" t="t" l="l"/>
              <a:pathLst>
                <a:path h="3200400" w="22311361">
                  <a:moveTo>
                    <a:pt x="0" y="182880"/>
                  </a:moveTo>
                  <a:cubicBezTo>
                    <a:pt x="0" y="81915"/>
                    <a:pt x="65532" y="0"/>
                    <a:pt x="146304" y="0"/>
                  </a:cubicBezTo>
                  <a:lnTo>
                    <a:pt x="22165056" y="0"/>
                  </a:lnTo>
                  <a:cubicBezTo>
                    <a:pt x="22245828" y="0"/>
                    <a:pt x="22311361" y="81915"/>
                    <a:pt x="22311361" y="182880"/>
                  </a:cubicBezTo>
                  <a:lnTo>
                    <a:pt x="22311361" y="3017520"/>
                  </a:lnTo>
                  <a:cubicBezTo>
                    <a:pt x="22311361" y="3118485"/>
                    <a:pt x="22245828" y="3200400"/>
                    <a:pt x="22165056" y="3200400"/>
                  </a:cubicBezTo>
                  <a:lnTo>
                    <a:pt x="146304" y="3200400"/>
                  </a:lnTo>
                  <a:cubicBezTo>
                    <a:pt x="65532" y="3200400"/>
                    <a:pt x="0" y="3118485"/>
                    <a:pt x="0" y="3017520"/>
                  </a:cubicBezTo>
                  <a:close/>
                </a:path>
              </a:pathLst>
            </a:custGeom>
            <a:solidFill>
              <a:srgbClr val="F6F7FA"/>
            </a:solidFill>
          </p:spPr>
        </p:sp>
      </p:grpSp>
      <p:grpSp>
        <p:nvGrpSpPr>
          <p:cNvPr name="Group 7" id="7"/>
          <p:cNvGrpSpPr/>
          <p:nvPr/>
        </p:nvGrpSpPr>
        <p:grpSpPr>
          <a:xfrm rot="0">
            <a:off x="1028700" y="7734859"/>
            <a:ext cx="15910560" cy="645046"/>
            <a:chOff x="0" y="0"/>
            <a:chExt cx="21214080" cy="860062"/>
          </a:xfrm>
        </p:grpSpPr>
        <p:sp>
          <p:nvSpPr>
            <p:cNvPr name="Freeform 8" id="8"/>
            <p:cNvSpPr/>
            <p:nvPr/>
          </p:nvSpPr>
          <p:spPr>
            <a:xfrm flipH="false" flipV="false" rot="0">
              <a:off x="0" y="0"/>
              <a:ext cx="21214080" cy="860062"/>
            </a:xfrm>
            <a:custGeom>
              <a:avLst/>
              <a:gdLst/>
              <a:ahLst/>
              <a:cxnLst/>
              <a:rect r="r" b="b" t="t" l="l"/>
              <a:pathLst>
                <a:path h="860062" w="21214080">
                  <a:moveTo>
                    <a:pt x="0" y="0"/>
                  </a:moveTo>
                  <a:lnTo>
                    <a:pt x="21214080" y="0"/>
                  </a:lnTo>
                  <a:lnTo>
                    <a:pt x="21214080" y="860062"/>
                  </a:lnTo>
                  <a:lnTo>
                    <a:pt x="0" y="860062"/>
                  </a:lnTo>
                  <a:close/>
                </a:path>
              </a:pathLst>
            </a:custGeom>
            <a:blipFill>
              <a:blip r:embed="rId3">
                <a:alphaModFix amt="0"/>
              </a:blip>
              <a:stretch>
                <a:fillRect l="0" t="-450844" r="0" b="-410382"/>
              </a:stretch>
            </a:blipFill>
          </p:spPr>
        </p:sp>
        <p:sp>
          <p:nvSpPr>
            <p:cNvPr name="TextBox 9" id="9"/>
            <p:cNvSpPr txBox="true"/>
            <p:nvPr/>
          </p:nvSpPr>
          <p:spPr>
            <a:xfrm>
              <a:off x="0" y="-28575"/>
              <a:ext cx="21214080" cy="888637"/>
            </a:xfrm>
            <a:prstGeom prst="rect">
              <a:avLst/>
            </a:prstGeom>
          </p:spPr>
          <p:txBody>
            <a:bodyPr anchor="ctr" rtlCol="false" tIns="0" lIns="0" bIns="0" rIns="0"/>
            <a:lstStyle/>
            <a:p>
              <a:pPr algn="l">
                <a:lnSpc>
                  <a:spcPts val="1980"/>
                </a:lnSpc>
              </a:pPr>
              <a:r>
                <a:rPr lang="en-US" b="true" sz="1650" spc="148">
                  <a:solidFill>
                    <a:srgbClr val="16213E"/>
                  </a:solidFill>
                  <a:latin typeface="Calibri (MS) Bold"/>
                  <a:ea typeface="Calibri (MS) Bold"/>
                  <a:cs typeface="Calibri (MS) Bold"/>
                  <a:sym typeface="Calibri (MS) Bold"/>
                </a:rPr>
                <a:t>INSIGHTS</a:t>
              </a:r>
            </a:p>
            <a:p>
              <a:pPr algn="l">
                <a:lnSpc>
                  <a:spcPts val="1980"/>
                </a:lnSpc>
              </a:pPr>
            </a:p>
          </p:txBody>
        </p:sp>
      </p:grpSp>
      <p:grpSp>
        <p:nvGrpSpPr>
          <p:cNvPr name="Group 10" id="10"/>
          <p:cNvGrpSpPr/>
          <p:nvPr/>
        </p:nvGrpSpPr>
        <p:grpSpPr>
          <a:xfrm rot="0">
            <a:off x="17282160" y="9806940"/>
            <a:ext cx="685800" cy="411480"/>
            <a:chOff x="0" y="0"/>
            <a:chExt cx="914400" cy="548640"/>
          </a:xfrm>
        </p:grpSpPr>
        <p:sp>
          <p:nvSpPr>
            <p:cNvPr name="Freeform 11" id="1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12" id="12"/>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67085"/>
                  </a:solidFill>
                  <a:latin typeface="Calibri (MS)"/>
                  <a:ea typeface="Calibri (MS)"/>
                  <a:cs typeface="Calibri (MS)"/>
                  <a:sym typeface="Calibri (MS)"/>
                </a:rPr>
                <a:t>11</a:t>
              </a:r>
            </a:p>
          </p:txBody>
        </p:sp>
      </p:grpSp>
      <p:sp>
        <p:nvSpPr>
          <p:cNvPr name="Freeform 13" id="13"/>
          <p:cNvSpPr/>
          <p:nvPr/>
        </p:nvSpPr>
        <p:spPr>
          <a:xfrm flipH="false" flipV="false" rot="0">
            <a:off x="754380" y="1879092"/>
            <a:ext cx="7685866" cy="5081172"/>
          </a:xfrm>
          <a:custGeom>
            <a:avLst/>
            <a:gdLst/>
            <a:ahLst/>
            <a:cxnLst/>
            <a:rect r="r" b="b" t="t" l="l"/>
            <a:pathLst>
              <a:path h="5081172" w="7685866">
                <a:moveTo>
                  <a:pt x="0" y="0"/>
                </a:moveTo>
                <a:lnTo>
                  <a:pt x="7685866" y="0"/>
                </a:lnTo>
                <a:lnTo>
                  <a:pt x="7685866" y="5081172"/>
                </a:lnTo>
                <a:lnTo>
                  <a:pt x="0" y="5081172"/>
                </a:lnTo>
                <a:lnTo>
                  <a:pt x="0" y="0"/>
                </a:lnTo>
                <a:close/>
              </a:path>
            </a:pathLst>
          </a:custGeom>
          <a:blipFill>
            <a:blip r:embed="rId4"/>
            <a:stretch>
              <a:fillRect l="-404" t="-2909" r="-3132" b="-2909"/>
            </a:stretch>
          </a:blipFill>
        </p:spPr>
      </p:sp>
      <p:sp>
        <p:nvSpPr>
          <p:cNvPr name="Freeform 14" id="14"/>
          <p:cNvSpPr/>
          <p:nvPr/>
        </p:nvSpPr>
        <p:spPr>
          <a:xfrm flipH="false" flipV="false" rot="0">
            <a:off x="9103186" y="2072626"/>
            <a:ext cx="9184814" cy="4887639"/>
          </a:xfrm>
          <a:custGeom>
            <a:avLst/>
            <a:gdLst/>
            <a:ahLst/>
            <a:cxnLst/>
            <a:rect r="r" b="b" t="t" l="l"/>
            <a:pathLst>
              <a:path h="4887639" w="9184814">
                <a:moveTo>
                  <a:pt x="0" y="0"/>
                </a:moveTo>
                <a:lnTo>
                  <a:pt x="9184814" y="0"/>
                </a:lnTo>
                <a:lnTo>
                  <a:pt x="9184814" y="4887638"/>
                </a:lnTo>
                <a:lnTo>
                  <a:pt x="0" y="4887638"/>
                </a:lnTo>
                <a:lnTo>
                  <a:pt x="0" y="0"/>
                </a:lnTo>
                <a:close/>
              </a:path>
            </a:pathLst>
          </a:custGeom>
          <a:blipFill>
            <a:blip r:embed="rId5"/>
            <a:stretch>
              <a:fillRect l="-866" t="-1284" r="0" b="-1284"/>
            </a:stretch>
          </a:blipFill>
        </p:spPr>
      </p:sp>
      <p:grpSp>
        <p:nvGrpSpPr>
          <p:cNvPr name="Group 15" id="15"/>
          <p:cNvGrpSpPr/>
          <p:nvPr/>
        </p:nvGrpSpPr>
        <p:grpSpPr>
          <a:xfrm rot="0">
            <a:off x="754380" y="8052827"/>
            <a:ext cx="15910560" cy="2165593"/>
            <a:chOff x="0" y="0"/>
            <a:chExt cx="21214080" cy="2887457"/>
          </a:xfrm>
        </p:grpSpPr>
        <p:sp>
          <p:nvSpPr>
            <p:cNvPr name="Freeform 16" id="16"/>
            <p:cNvSpPr/>
            <p:nvPr/>
          </p:nvSpPr>
          <p:spPr>
            <a:xfrm flipH="false" flipV="false" rot="0">
              <a:off x="0" y="0"/>
              <a:ext cx="21214080" cy="2887457"/>
            </a:xfrm>
            <a:custGeom>
              <a:avLst/>
              <a:gdLst/>
              <a:ahLst/>
              <a:cxnLst/>
              <a:rect r="r" b="b" t="t" l="l"/>
              <a:pathLst>
                <a:path h="2887457" w="21214080">
                  <a:moveTo>
                    <a:pt x="0" y="0"/>
                  </a:moveTo>
                  <a:lnTo>
                    <a:pt x="21214080" y="0"/>
                  </a:lnTo>
                  <a:lnTo>
                    <a:pt x="21214080" y="2887457"/>
                  </a:lnTo>
                  <a:lnTo>
                    <a:pt x="0" y="2887457"/>
                  </a:lnTo>
                  <a:close/>
                </a:path>
              </a:pathLst>
            </a:custGeom>
            <a:blipFill>
              <a:blip r:embed="rId3">
                <a:alphaModFix amt="0"/>
              </a:blip>
              <a:stretch>
                <a:fillRect l="0" t="-116238" r="0" b="-70073"/>
              </a:stretch>
            </a:blipFill>
          </p:spPr>
        </p:sp>
        <p:sp>
          <p:nvSpPr>
            <p:cNvPr name="TextBox 17" id="17"/>
            <p:cNvSpPr txBox="true"/>
            <p:nvPr/>
          </p:nvSpPr>
          <p:spPr>
            <a:xfrm>
              <a:off x="0" y="-76200"/>
              <a:ext cx="21214080" cy="2963657"/>
            </a:xfrm>
            <a:prstGeom prst="rect">
              <a:avLst/>
            </a:prstGeom>
          </p:spPr>
          <p:txBody>
            <a:bodyPr anchor="ctr" rtlCol="false" tIns="0" lIns="0" bIns="0" rIns="0"/>
            <a:lstStyle/>
            <a:p>
              <a:pPr algn="l" marL="367031" indent="-183515" lvl="1">
                <a:lnSpc>
                  <a:spcPts val="2448"/>
                </a:lnSpc>
                <a:buFont typeface="Arial"/>
                <a:buChar char="•"/>
              </a:pPr>
              <a:r>
                <a:rPr lang="en-US" sz="1700" i="true">
                  <a:solidFill>
                    <a:srgbClr val="667085"/>
                  </a:solidFill>
                  <a:latin typeface="Calibri (MS) Italics"/>
                  <a:ea typeface="Calibri (MS) Italics"/>
                  <a:cs typeface="Calibri (MS) Italics"/>
                  <a:sym typeface="Calibri (MS) Italics"/>
                </a:rPr>
                <a:t>Steep early decline, then plateau. Volume falls from 8,204 (Jul 2023) to 4,825 (Nov 2023) — a ~41% drop in the first 5 months — before settling into a stable band of roughly 4,800–6,300/month for the remaining 13 months. This reads as post-launch normalization rather than ongoing decline: the business is flat, not shrinking.</a:t>
              </a:r>
            </a:p>
            <a:p>
              <a:pPr algn="l">
                <a:lnSpc>
                  <a:spcPts val="2448"/>
                </a:lnSpc>
              </a:pPr>
            </a:p>
            <a:p>
              <a:pPr algn="l" marL="367031" indent="-183515" lvl="1">
                <a:lnSpc>
                  <a:spcPts val="2448"/>
                </a:lnSpc>
                <a:buFont typeface="Arial"/>
                <a:buChar char="•"/>
              </a:pPr>
              <a:r>
                <a:rPr lang="en-US" sz="1700" i="true">
                  <a:solidFill>
                    <a:srgbClr val="667085"/>
                  </a:solidFill>
                  <a:latin typeface="Calibri (MS) Italics"/>
                  <a:ea typeface="Calibri (MS) Italics"/>
                  <a:cs typeface="Calibri (MS) Italics"/>
                  <a:sym typeface="Calibri (MS) Italics"/>
                </a:rPr>
                <a:t>No organic growth trend across 18 months. Dec 2024 (5,711) ends almost exactly where the post-launch baseline sat in late 2023/early 2024 — there's no sust</a:t>
              </a:r>
              <a:r>
                <a:rPr lang="en-US" sz="1700" i="true">
                  <a:solidFill>
                    <a:srgbClr val="667085"/>
                  </a:solidFill>
                  <a:latin typeface="Calibri (MS) Italics"/>
                  <a:ea typeface="Calibri (MS) Italics"/>
                  <a:cs typeface="Calibri (MS) Italics"/>
                  <a:sym typeface="Calibri (MS) Italics"/>
                </a:rPr>
                <a:t>ained upward trajectory in aggregate volume. This is the key strategic tension the case is built around: if topline Rx volume isn't growing on its own, the alert-to-treatment pathway (Q6) is the identifiable lever actually available to drive growth, since Growers showed +323% lift when alerts converted.</a:t>
              </a:r>
            </a:p>
            <a:p>
              <a:pPr algn="l">
                <a:lnSpc>
                  <a:spcPts val="2448"/>
                </a:lnSpc>
              </a:pP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6213E"/>
        </a:solidFill>
      </p:bgPr>
    </p:bg>
    <p:spTree>
      <p:nvGrpSpPr>
        <p:cNvPr id="1" name=""/>
        <p:cNvGrpSpPr/>
        <p:nvPr/>
      </p:nvGrpSpPr>
      <p:grpSpPr>
        <a:xfrm>
          <a:off x="0" y="0"/>
          <a:ext cx="0" cy="0"/>
          <a:chOff x="0" y="0"/>
          <a:chExt cx="0" cy="0"/>
        </a:xfrm>
      </p:grpSpPr>
      <p:grpSp>
        <p:nvGrpSpPr>
          <p:cNvPr name="Group 2" id="2"/>
          <p:cNvGrpSpPr/>
          <p:nvPr/>
        </p:nvGrpSpPr>
        <p:grpSpPr>
          <a:xfrm rot="0">
            <a:off x="14529435" y="6574155"/>
            <a:ext cx="6191250" cy="6191250"/>
            <a:chOff x="0" y="0"/>
            <a:chExt cx="8255000" cy="8255000"/>
          </a:xfrm>
        </p:grpSpPr>
        <p:sp>
          <p:nvSpPr>
            <p:cNvPr name="Freeform 3" id="3"/>
            <p:cNvSpPr/>
            <p:nvPr/>
          </p:nvSpPr>
          <p:spPr>
            <a:xfrm flipH="false" flipV="false" rot="0">
              <a:off x="0" y="0"/>
              <a:ext cx="8255000" cy="8255000"/>
            </a:xfrm>
            <a:custGeom>
              <a:avLst/>
              <a:gdLst/>
              <a:ahLst/>
              <a:cxnLst/>
              <a:rect r="r" b="b" t="t" l="l"/>
              <a:pathLst>
                <a:path h="8255000" w="8255000">
                  <a:moveTo>
                    <a:pt x="0" y="4127500"/>
                  </a:moveTo>
                  <a:cubicBezTo>
                    <a:pt x="0" y="1847977"/>
                    <a:pt x="1847977" y="0"/>
                    <a:pt x="4127500" y="0"/>
                  </a:cubicBezTo>
                  <a:cubicBezTo>
                    <a:pt x="6407023" y="0"/>
                    <a:pt x="8255000" y="1847977"/>
                    <a:pt x="8255000" y="4127500"/>
                  </a:cubicBezTo>
                  <a:cubicBezTo>
                    <a:pt x="8255000" y="6407023"/>
                    <a:pt x="6407023" y="8255000"/>
                    <a:pt x="4127500" y="8255000"/>
                  </a:cubicBezTo>
                  <a:cubicBezTo>
                    <a:pt x="1847977" y="8255000"/>
                    <a:pt x="0" y="6407023"/>
                    <a:pt x="0" y="4127500"/>
                  </a:cubicBezTo>
                  <a:close/>
                </a:path>
              </a:pathLst>
            </a:custGeom>
            <a:blipFill>
              <a:blip r:embed="rId3">
                <a:alphaModFix amt="0"/>
              </a:blip>
              <a:stretch>
                <a:fillRect l="-78303" t="0" r="-78303" b="0"/>
              </a:stretch>
            </a:blipFill>
            <a:ln w="19050" cap="sq">
              <a:solidFill>
                <a:srgbClr val="0F8B8D"/>
              </a:solidFill>
              <a:prstDash val="solid"/>
              <a:miter/>
            </a:ln>
          </p:spPr>
        </p:sp>
      </p:grpSp>
      <p:grpSp>
        <p:nvGrpSpPr>
          <p:cNvPr name="Group 4" id="4"/>
          <p:cNvGrpSpPr/>
          <p:nvPr/>
        </p:nvGrpSpPr>
        <p:grpSpPr>
          <a:xfrm rot="0">
            <a:off x="950595" y="579120"/>
            <a:ext cx="13716000" cy="1028700"/>
            <a:chOff x="0" y="0"/>
            <a:chExt cx="18288000" cy="1371600"/>
          </a:xfrm>
        </p:grpSpPr>
        <p:sp>
          <p:nvSpPr>
            <p:cNvPr name="Freeform 5" id="5"/>
            <p:cNvSpPr/>
            <p:nvPr/>
          </p:nvSpPr>
          <p:spPr>
            <a:xfrm flipH="false" flipV="false" rot="0">
              <a:off x="0" y="0"/>
              <a:ext cx="18288000" cy="1371600"/>
            </a:xfrm>
            <a:custGeom>
              <a:avLst/>
              <a:gdLst/>
              <a:ahLst/>
              <a:cxnLst/>
              <a:rect r="r" b="b" t="t" l="l"/>
              <a:pathLst>
                <a:path h="1371600" w="18288000">
                  <a:moveTo>
                    <a:pt x="0" y="0"/>
                  </a:moveTo>
                  <a:lnTo>
                    <a:pt x="18288000" y="0"/>
                  </a:lnTo>
                  <a:lnTo>
                    <a:pt x="18288000" y="1371600"/>
                  </a:lnTo>
                  <a:lnTo>
                    <a:pt x="0" y="1371600"/>
                  </a:lnTo>
                  <a:close/>
                </a:path>
              </a:pathLst>
            </a:custGeom>
            <a:blipFill>
              <a:blip r:embed="rId3">
                <a:alphaModFix amt="0"/>
              </a:blip>
              <a:stretch>
                <a:fillRect l="0" t="-209800" r="0" b="-209800"/>
              </a:stretch>
            </a:blipFill>
          </p:spPr>
        </p:sp>
        <p:sp>
          <p:nvSpPr>
            <p:cNvPr name="TextBox 6" id="6"/>
            <p:cNvSpPr txBox="true"/>
            <p:nvPr/>
          </p:nvSpPr>
          <p:spPr>
            <a:xfrm>
              <a:off x="0" y="0"/>
              <a:ext cx="18288000" cy="1371600"/>
            </a:xfrm>
            <a:prstGeom prst="rect">
              <a:avLst/>
            </a:prstGeom>
          </p:spPr>
          <p:txBody>
            <a:bodyPr anchor="ctr" rtlCol="false" tIns="0" lIns="0" bIns="0" rIns="0"/>
            <a:lstStyle/>
            <a:p>
              <a:pPr algn="l">
                <a:lnSpc>
                  <a:spcPts val="5759"/>
                </a:lnSpc>
              </a:pPr>
              <a:r>
                <a:rPr lang="en-US" sz="4800" b="true">
                  <a:solidFill>
                    <a:srgbClr val="FFFFFF"/>
                  </a:solidFill>
                  <a:latin typeface="Georgia Bold"/>
                  <a:ea typeface="Georgia Bold"/>
                  <a:cs typeface="Georgia Bold"/>
                  <a:sym typeface="Georgia Bold"/>
                </a:rPr>
                <a:t>Summary</a:t>
              </a:r>
            </a:p>
          </p:txBody>
        </p:sp>
      </p:grpSp>
      <p:grpSp>
        <p:nvGrpSpPr>
          <p:cNvPr name="Group 7" id="7"/>
          <p:cNvGrpSpPr/>
          <p:nvPr/>
        </p:nvGrpSpPr>
        <p:grpSpPr>
          <a:xfrm rot="0">
            <a:off x="685800" y="1766697"/>
            <a:ext cx="8042910" cy="3242310"/>
            <a:chOff x="0" y="0"/>
            <a:chExt cx="10723880" cy="4323080"/>
          </a:xfrm>
        </p:grpSpPr>
        <p:sp>
          <p:nvSpPr>
            <p:cNvPr name="Freeform 8" id="8"/>
            <p:cNvSpPr/>
            <p:nvPr/>
          </p:nvSpPr>
          <p:spPr>
            <a:xfrm flipH="false" flipV="false" rot="0">
              <a:off x="0" y="0"/>
              <a:ext cx="10723880" cy="4323080"/>
            </a:xfrm>
            <a:custGeom>
              <a:avLst/>
              <a:gdLst/>
              <a:ahLst/>
              <a:cxnLst/>
              <a:rect r="r" b="b" t="t" l="l"/>
              <a:pathLst>
                <a:path h="4323080" w="10723880">
                  <a:moveTo>
                    <a:pt x="0" y="147193"/>
                  </a:moveTo>
                  <a:cubicBezTo>
                    <a:pt x="0" y="65913"/>
                    <a:pt x="65913" y="0"/>
                    <a:pt x="147193" y="0"/>
                  </a:cubicBezTo>
                  <a:lnTo>
                    <a:pt x="10576687" y="0"/>
                  </a:lnTo>
                  <a:cubicBezTo>
                    <a:pt x="10657967" y="0"/>
                    <a:pt x="10723880" y="65913"/>
                    <a:pt x="10723880" y="147193"/>
                  </a:cubicBezTo>
                  <a:lnTo>
                    <a:pt x="10723880" y="4175887"/>
                  </a:lnTo>
                  <a:cubicBezTo>
                    <a:pt x="10723880" y="4257167"/>
                    <a:pt x="10657967" y="4323080"/>
                    <a:pt x="10576687" y="4323080"/>
                  </a:cubicBezTo>
                  <a:lnTo>
                    <a:pt x="147193" y="4323080"/>
                  </a:lnTo>
                  <a:cubicBezTo>
                    <a:pt x="65913" y="4323080"/>
                    <a:pt x="0" y="4257167"/>
                    <a:pt x="0" y="4175887"/>
                  </a:cubicBezTo>
                  <a:close/>
                </a:path>
              </a:pathLst>
            </a:custGeom>
            <a:solidFill>
              <a:srgbClr val="0E1526"/>
            </a:solidFill>
            <a:ln w="19050" cap="sq">
              <a:solidFill>
                <a:srgbClr val="2B3B5E"/>
              </a:solidFill>
              <a:prstDash val="solid"/>
              <a:miter/>
            </a:ln>
          </p:spPr>
        </p:sp>
      </p:grpSp>
      <p:grpSp>
        <p:nvGrpSpPr>
          <p:cNvPr name="Group 9" id="9"/>
          <p:cNvGrpSpPr/>
          <p:nvPr/>
        </p:nvGrpSpPr>
        <p:grpSpPr>
          <a:xfrm rot="0">
            <a:off x="1028700" y="1951482"/>
            <a:ext cx="7200900" cy="411480"/>
            <a:chOff x="0" y="0"/>
            <a:chExt cx="9601200" cy="548640"/>
          </a:xfrm>
        </p:grpSpPr>
        <p:sp>
          <p:nvSpPr>
            <p:cNvPr name="Freeform 10" id="10"/>
            <p:cNvSpPr/>
            <p:nvPr/>
          </p:nvSpPr>
          <p:spPr>
            <a:xfrm flipH="false" flipV="false" rot="0">
              <a:off x="0" y="0"/>
              <a:ext cx="9601200" cy="548640"/>
            </a:xfrm>
            <a:custGeom>
              <a:avLst/>
              <a:gdLst/>
              <a:ahLst/>
              <a:cxnLst/>
              <a:rect r="r" b="b" t="t" l="l"/>
              <a:pathLst>
                <a:path h="548640" w="9601200">
                  <a:moveTo>
                    <a:pt x="0" y="0"/>
                  </a:moveTo>
                  <a:lnTo>
                    <a:pt x="9601200" y="0"/>
                  </a:lnTo>
                  <a:lnTo>
                    <a:pt x="9601200" y="548640"/>
                  </a:lnTo>
                  <a:lnTo>
                    <a:pt x="0" y="548640"/>
                  </a:lnTo>
                  <a:close/>
                </a:path>
              </a:pathLst>
            </a:custGeom>
            <a:blipFill>
              <a:blip r:embed="rId3">
                <a:alphaModFix amt="0"/>
              </a:blip>
              <a:stretch>
                <a:fillRect l="0" t="-290988" r="0" b="-290988"/>
              </a:stretch>
            </a:blipFill>
          </p:spPr>
        </p:sp>
        <p:sp>
          <p:nvSpPr>
            <p:cNvPr name="TextBox 11" id="11"/>
            <p:cNvSpPr txBox="true"/>
            <p:nvPr/>
          </p:nvSpPr>
          <p:spPr>
            <a:xfrm>
              <a:off x="0" y="-38100"/>
              <a:ext cx="9601200" cy="586740"/>
            </a:xfrm>
            <a:prstGeom prst="rect">
              <a:avLst/>
            </a:prstGeom>
          </p:spPr>
          <p:txBody>
            <a:bodyPr anchor="ctr" rtlCol="false" tIns="0" lIns="0" bIns="0" rIns="0"/>
            <a:lstStyle/>
            <a:p>
              <a:pPr algn="l">
                <a:lnSpc>
                  <a:spcPts val="2070"/>
                </a:lnSpc>
              </a:pPr>
              <a:r>
                <a:rPr lang="en-US" b="true" sz="1725" spc="225">
                  <a:solidFill>
                    <a:srgbClr val="E8A33D"/>
                  </a:solidFill>
                  <a:latin typeface="Calibri (MS) Bold"/>
                  <a:ea typeface="Calibri (MS) Bold"/>
                  <a:cs typeface="Calibri (MS) Bold"/>
                  <a:sym typeface="Calibri (MS) Bold"/>
                </a:rPr>
                <a:t>SITUATION</a:t>
              </a:r>
            </a:p>
          </p:txBody>
        </p:sp>
      </p:grpSp>
      <p:grpSp>
        <p:nvGrpSpPr>
          <p:cNvPr name="Group 12" id="12"/>
          <p:cNvGrpSpPr/>
          <p:nvPr/>
        </p:nvGrpSpPr>
        <p:grpSpPr>
          <a:xfrm rot="0">
            <a:off x="1028700" y="2335027"/>
            <a:ext cx="7200900" cy="2540272"/>
            <a:chOff x="0" y="0"/>
            <a:chExt cx="9601200" cy="3387029"/>
          </a:xfrm>
        </p:grpSpPr>
        <p:sp>
          <p:nvSpPr>
            <p:cNvPr name="Freeform 13" id="13"/>
            <p:cNvSpPr/>
            <p:nvPr/>
          </p:nvSpPr>
          <p:spPr>
            <a:xfrm flipH="false" flipV="false" rot="0">
              <a:off x="0" y="0"/>
              <a:ext cx="9601200" cy="3387029"/>
            </a:xfrm>
            <a:custGeom>
              <a:avLst/>
              <a:gdLst/>
              <a:ahLst/>
              <a:cxnLst/>
              <a:rect r="r" b="b" t="t" l="l"/>
              <a:pathLst>
                <a:path h="3387029" w="9601200">
                  <a:moveTo>
                    <a:pt x="0" y="0"/>
                  </a:moveTo>
                  <a:lnTo>
                    <a:pt x="9601200" y="0"/>
                  </a:lnTo>
                  <a:lnTo>
                    <a:pt x="9601200" y="3387029"/>
                  </a:lnTo>
                  <a:lnTo>
                    <a:pt x="0" y="3387029"/>
                  </a:lnTo>
                  <a:close/>
                </a:path>
              </a:pathLst>
            </a:custGeom>
            <a:blipFill>
              <a:blip r:embed="rId3">
                <a:alphaModFix amt="0"/>
              </a:blip>
              <a:stretch>
                <a:fillRect l="0" t="-16088" r="0" b="5620"/>
              </a:stretch>
            </a:blipFill>
          </p:spPr>
        </p:sp>
        <p:sp>
          <p:nvSpPr>
            <p:cNvPr name="TextBox 14" id="14"/>
            <p:cNvSpPr txBox="true"/>
            <p:nvPr/>
          </p:nvSpPr>
          <p:spPr>
            <a:xfrm>
              <a:off x="0" y="-95250"/>
              <a:ext cx="9601200" cy="3482279"/>
            </a:xfrm>
            <a:prstGeom prst="rect">
              <a:avLst/>
            </a:prstGeom>
          </p:spPr>
          <p:txBody>
            <a:bodyPr anchor="ctr" rtlCol="false" tIns="0" lIns="0" bIns="0" rIns="0"/>
            <a:lstStyle/>
            <a:p>
              <a:pPr algn="l" marL="399416" indent="-199708" lvl="1">
                <a:lnSpc>
                  <a:spcPts val="2886"/>
                </a:lnSpc>
                <a:buFont typeface="Arial"/>
                <a:buChar char="•"/>
              </a:pPr>
              <a:r>
                <a:rPr lang="en-US" sz="1850" i="true">
                  <a:solidFill>
                    <a:srgbClr val="D7DDE8"/>
                  </a:solidFill>
                  <a:latin typeface="Calibri (MS) Italics"/>
                  <a:ea typeface="Calibri (MS) Italics"/>
                  <a:cs typeface="Calibri (MS) Italics"/>
                  <a:sym typeface="Calibri (MS) Italics"/>
                </a:rPr>
                <a:t>PrimeRX need to optimize the commercial strategy for its flagship drug, Nexavir(DRG001). Analysis of clinical alerts, sales and affiliation data over the last 18 months reveal a gap, doctors are diagnosing patients with high clinical needs but not all of them prescribing Nexavir. The commercial team needs a data driven action plan to deploy its field force of 40 sales reps efficiently to capitalise on the most valuable opportunities. </a:t>
              </a:r>
            </a:p>
          </p:txBody>
        </p:sp>
      </p:grpSp>
      <p:grpSp>
        <p:nvGrpSpPr>
          <p:cNvPr name="Group 15" id="15"/>
          <p:cNvGrpSpPr/>
          <p:nvPr/>
        </p:nvGrpSpPr>
        <p:grpSpPr>
          <a:xfrm rot="0">
            <a:off x="9454515" y="1766697"/>
            <a:ext cx="8042910" cy="3242310"/>
            <a:chOff x="0" y="0"/>
            <a:chExt cx="10723880" cy="4323080"/>
          </a:xfrm>
        </p:grpSpPr>
        <p:sp>
          <p:nvSpPr>
            <p:cNvPr name="Freeform 16" id="16"/>
            <p:cNvSpPr/>
            <p:nvPr/>
          </p:nvSpPr>
          <p:spPr>
            <a:xfrm flipH="false" flipV="false" rot="0">
              <a:off x="0" y="0"/>
              <a:ext cx="10723880" cy="4323080"/>
            </a:xfrm>
            <a:custGeom>
              <a:avLst/>
              <a:gdLst/>
              <a:ahLst/>
              <a:cxnLst/>
              <a:rect r="r" b="b" t="t" l="l"/>
              <a:pathLst>
                <a:path h="4323080" w="10723880">
                  <a:moveTo>
                    <a:pt x="0" y="147193"/>
                  </a:moveTo>
                  <a:cubicBezTo>
                    <a:pt x="0" y="65913"/>
                    <a:pt x="65913" y="0"/>
                    <a:pt x="147193" y="0"/>
                  </a:cubicBezTo>
                  <a:lnTo>
                    <a:pt x="10576687" y="0"/>
                  </a:lnTo>
                  <a:cubicBezTo>
                    <a:pt x="10657967" y="0"/>
                    <a:pt x="10723880" y="65913"/>
                    <a:pt x="10723880" y="147193"/>
                  </a:cubicBezTo>
                  <a:lnTo>
                    <a:pt x="10723880" y="4175887"/>
                  </a:lnTo>
                  <a:cubicBezTo>
                    <a:pt x="10723880" y="4257167"/>
                    <a:pt x="10657967" y="4323080"/>
                    <a:pt x="10576687" y="4323080"/>
                  </a:cubicBezTo>
                  <a:lnTo>
                    <a:pt x="147193" y="4323080"/>
                  </a:lnTo>
                  <a:cubicBezTo>
                    <a:pt x="65913" y="4323080"/>
                    <a:pt x="0" y="4257167"/>
                    <a:pt x="0" y="4175887"/>
                  </a:cubicBezTo>
                  <a:close/>
                </a:path>
              </a:pathLst>
            </a:custGeom>
            <a:solidFill>
              <a:srgbClr val="0E1526"/>
            </a:solidFill>
            <a:ln w="19050" cap="sq">
              <a:solidFill>
                <a:srgbClr val="2B3B5E"/>
              </a:solidFill>
              <a:prstDash val="solid"/>
              <a:miter/>
            </a:ln>
          </p:spPr>
        </p:sp>
      </p:grpSp>
      <p:grpSp>
        <p:nvGrpSpPr>
          <p:cNvPr name="Group 17" id="17"/>
          <p:cNvGrpSpPr/>
          <p:nvPr/>
        </p:nvGrpSpPr>
        <p:grpSpPr>
          <a:xfrm rot="0">
            <a:off x="9672408" y="1923547"/>
            <a:ext cx="7200900" cy="411480"/>
            <a:chOff x="0" y="0"/>
            <a:chExt cx="9601200" cy="548640"/>
          </a:xfrm>
        </p:grpSpPr>
        <p:sp>
          <p:nvSpPr>
            <p:cNvPr name="Freeform 18" id="18"/>
            <p:cNvSpPr/>
            <p:nvPr/>
          </p:nvSpPr>
          <p:spPr>
            <a:xfrm flipH="false" flipV="false" rot="0">
              <a:off x="0" y="0"/>
              <a:ext cx="9601200" cy="548640"/>
            </a:xfrm>
            <a:custGeom>
              <a:avLst/>
              <a:gdLst/>
              <a:ahLst/>
              <a:cxnLst/>
              <a:rect r="r" b="b" t="t" l="l"/>
              <a:pathLst>
                <a:path h="548640" w="9601200">
                  <a:moveTo>
                    <a:pt x="0" y="0"/>
                  </a:moveTo>
                  <a:lnTo>
                    <a:pt x="9601200" y="0"/>
                  </a:lnTo>
                  <a:lnTo>
                    <a:pt x="9601200" y="548640"/>
                  </a:lnTo>
                  <a:lnTo>
                    <a:pt x="0" y="548640"/>
                  </a:lnTo>
                  <a:close/>
                </a:path>
              </a:pathLst>
            </a:custGeom>
            <a:blipFill>
              <a:blip r:embed="rId3">
                <a:alphaModFix amt="0"/>
              </a:blip>
              <a:stretch>
                <a:fillRect l="0" t="-290988" r="0" b="-290988"/>
              </a:stretch>
            </a:blipFill>
          </p:spPr>
        </p:sp>
        <p:sp>
          <p:nvSpPr>
            <p:cNvPr name="TextBox 19" id="19"/>
            <p:cNvSpPr txBox="true"/>
            <p:nvPr/>
          </p:nvSpPr>
          <p:spPr>
            <a:xfrm>
              <a:off x="0" y="-38100"/>
              <a:ext cx="9601200" cy="586740"/>
            </a:xfrm>
            <a:prstGeom prst="rect">
              <a:avLst/>
            </a:prstGeom>
          </p:spPr>
          <p:txBody>
            <a:bodyPr anchor="ctr" rtlCol="false" tIns="0" lIns="0" bIns="0" rIns="0"/>
            <a:lstStyle/>
            <a:p>
              <a:pPr algn="l">
                <a:lnSpc>
                  <a:spcPts val="2070"/>
                </a:lnSpc>
              </a:pPr>
              <a:r>
                <a:rPr lang="en-US" b="true" sz="1725" spc="225">
                  <a:solidFill>
                    <a:srgbClr val="E8A33D"/>
                  </a:solidFill>
                  <a:latin typeface="Calibri (MS) Bold"/>
                  <a:ea typeface="Calibri (MS) Bold"/>
                  <a:cs typeface="Calibri (MS) Bold"/>
                  <a:sym typeface="Calibri (MS) Bold"/>
                </a:rPr>
                <a:t>KEY INSIGHTS</a:t>
              </a:r>
            </a:p>
          </p:txBody>
        </p:sp>
      </p:grpSp>
      <p:grpSp>
        <p:nvGrpSpPr>
          <p:cNvPr name="Group 20" id="20"/>
          <p:cNvGrpSpPr/>
          <p:nvPr/>
        </p:nvGrpSpPr>
        <p:grpSpPr>
          <a:xfrm rot="0">
            <a:off x="9503181" y="1704426"/>
            <a:ext cx="7200900" cy="4121064"/>
            <a:chOff x="0" y="0"/>
            <a:chExt cx="9601200" cy="5494752"/>
          </a:xfrm>
        </p:grpSpPr>
        <p:sp>
          <p:nvSpPr>
            <p:cNvPr name="Freeform 21" id="21"/>
            <p:cNvSpPr/>
            <p:nvPr/>
          </p:nvSpPr>
          <p:spPr>
            <a:xfrm flipH="false" flipV="false" rot="0">
              <a:off x="0" y="0"/>
              <a:ext cx="9601200" cy="5494752"/>
            </a:xfrm>
            <a:custGeom>
              <a:avLst/>
              <a:gdLst/>
              <a:ahLst/>
              <a:cxnLst/>
              <a:rect r="r" b="b" t="t" l="l"/>
              <a:pathLst>
                <a:path h="5494752" w="9601200">
                  <a:moveTo>
                    <a:pt x="0" y="0"/>
                  </a:moveTo>
                  <a:lnTo>
                    <a:pt x="9601200" y="0"/>
                  </a:lnTo>
                  <a:lnTo>
                    <a:pt x="9601200" y="5494752"/>
                  </a:lnTo>
                  <a:lnTo>
                    <a:pt x="0" y="5494752"/>
                  </a:lnTo>
                  <a:close/>
                </a:path>
              </a:pathLst>
            </a:custGeom>
            <a:blipFill>
              <a:blip r:embed="rId3">
                <a:alphaModFix amt="0"/>
              </a:blip>
              <a:stretch>
                <a:fillRect l="0" t="-9917" r="0" b="41823"/>
              </a:stretch>
            </a:blipFill>
          </p:spPr>
        </p:sp>
        <p:sp>
          <p:nvSpPr>
            <p:cNvPr name="TextBox 22" id="22"/>
            <p:cNvSpPr txBox="true"/>
            <p:nvPr/>
          </p:nvSpPr>
          <p:spPr>
            <a:xfrm>
              <a:off x="0" y="-76200"/>
              <a:ext cx="9601200" cy="5570952"/>
            </a:xfrm>
            <a:prstGeom prst="rect">
              <a:avLst/>
            </a:prstGeom>
          </p:spPr>
          <p:txBody>
            <a:bodyPr anchor="ctr" rtlCol="false" tIns="0" lIns="0" bIns="0" rIns="0"/>
            <a:lstStyle/>
            <a:p>
              <a:pPr algn="l" marL="334647" indent="-167324" lvl="1">
                <a:lnSpc>
                  <a:spcPts val="2418"/>
                </a:lnSpc>
                <a:buFont typeface="Arial"/>
                <a:buChar char="•"/>
              </a:pPr>
              <a:r>
                <a:rPr lang="en-US" sz="1550" i="true">
                  <a:solidFill>
                    <a:srgbClr val="D7DDE8"/>
                  </a:solidFill>
                  <a:latin typeface="Calibri (MS) Italics"/>
                  <a:ea typeface="Calibri (MS) Italics"/>
                  <a:cs typeface="Calibri (MS) Italics"/>
                  <a:sym typeface="Calibri (MS) Italics"/>
                </a:rPr>
                <a:t>Clinical</a:t>
              </a:r>
              <a:r>
                <a:rPr lang="en-US" sz="1550" i="true">
                  <a:solidFill>
                    <a:srgbClr val="D7DDE8"/>
                  </a:solidFill>
                  <a:latin typeface="Calibri (MS) Italics"/>
                  <a:ea typeface="Calibri (MS) Italics"/>
                  <a:cs typeface="Calibri (MS) Italics"/>
                  <a:sym typeface="Calibri (MS) Italics"/>
                </a:rPr>
                <a:t> Disconnect: 68 HCPs with multiple positive alerts wrote zero prescriptions, and 4 of the top 10 highest-alerting doctors prescribe nothing. </a:t>
              </a:r>
            </a:p>
            <a:p>
              <a:pPr algn="l" marL="334647" indent="-167324" lvl="1">
                <a:lnSpc>
                  <a:spcPts val="2418"/>
                </a:lnSpc>
                <a:buFont typeface="Arial"/>
                <a:buChar char="•"/>
              </a:pPr>
              <a:r>
                <a:rPr lang="en-US" sz="1550" i="true">
                  <a:solidFill>
                    <a:srgbClr val="D7DDE8"/>
                  </a:solidFill>
                  <a:latin typeface="Calibri (MS) Italics"/>
                  <a:ea typeface="Calibri (MS) Italics"/>
                  <a:cs typeface="Calibri (MS) Italics"/>
                  <a:sym typeface="Calibri (MS) Italics"/>
                </a:rPr>
                <a:t>Competitive Leakage: Competitors, primarily Rivalex, are capturing up to ~75% of the prescription volume among our top-alerting doctors. </a:t>
              </a:r>
            </a:p>
            <a:p>
              <a:pPr algn="l" marL="334647" indent="-167324" lvl="1">
                <a:lnSpc>
                  <a:spcPts val="2418"/>
                </a:lnSpc>
                <a:buFont typeface="Arial"/>
                <a:buChar char="•"/>
              </a:pPr>
              <a:r>
                <a:rPr lang="en-US" sz="1550" i="true">
                  <a:solidFill>
                    <a:srgbClr val="D7DDE8"/>
                  </a:solidFill>
                  <a:latin typeface="Calibri (MS) Italics"/>
                  <a:ea typeface="Calibri (MS) Italics"/>
                  <a:cs typeface="Calibri (MS) Italics"/>
                  <a:sym typeface="Calibri (MS) Italics"/>
                </a:rPr>
                <a:t>Alert Effectiveness: Alerts successfully drive a +323% volume lift for "Growers" and converted 64 "New Starters," but "Non-responders" show strong resistance. </a:t>
              </a:r>
            </a:p>
            <a:p>
              <a:pPr algn="l" marL="334647" indent="-167324" lvl="1">
                <a:lnSpc>
                  <a:spcPts val="2418"/>
                </a:lnSpc>
                <a:buFont typeface="Arial"/>
                <a:buChar char="•"/>
              </a:pPr>
              <a:r>
                <a:rPr lang="en-US" sz="1550" i="true">
                  <a:solidFill>
                    <a:srgbClr val="D7DDE8"/>
                  </a:solidFill>
                  <a:latin typeface="Calibri (MS) Italics"/>
                  <a:ea typeface="Calibri (MS) Italics"/>
                  <a:cs typeface="Calibri (MS) Italics"/>
                  <a:sym typeface="Calibri (MS) Italics"/>
                </a:rPr>
                <a:t>Account Inefficiencies: Large accounts do not guarantee efficiency; massive accounts like ACC001 yield high alerts but a near-zero (0.12) conversion ratio. </a:t>
              </a:r>
            </a:p>
            <a:p>
              <a:pPr algn="l">
                <a:lnSpc>
                  <a:spcPts val="2418"/>
                </a:lnSpc>
              </a:pPr>
            </a:p>
          </p:txBody>
        </p:sp>
      </p:grpSp>
      <p:grpSp>
        <p:nvGrpSpPr>
          <p:cNvPr name="Group 23" id="23"/>
          <p:cNvGrpSpPr/>
          <p:nvPr/>
        </p:nvGrpSpPr>
        <p:grpSpPr>
          <a:xfrm rot="0">
            <a:off x="607695" y="5732907"/>
            <a:ext cx="8042910" cy="3832860"/>
            <a:chOff x="0" y="0"/>
            <a:chExt cx="10723880" cy="5110480"/>
          </a:xfrm>
        </p:grpSpPr>
        <p:sp>
          <p:nvSpPr>
            <p:cNvPr name="Freeform 24" id="24"/>
            <p:cNvSpPr/>
            <p:nvPr/>
          </p:nvSpPr>
          <p:spPr>
            <a:xfrm flipH="false" flipV="false" rot="0">
              <a:off x="0" y="0"/>
              <a:ext cx="10723880" cy="5110480"/>
            </a:xfrm>
            <a:custGeom>
              <a:avLst/>
              <a:gdLst/>
              <a:ahLst/>
              <a:cxnLst/>
              <a:rect r="r" b="b" t="t" l="l"/>
              <a:pathLst>
                <a:path h="5110480" w="10723880">
                  <a:moveTo>
                    <a:pt x="0" y="174003"/>
                  </a:moveTo>
                  <a:cubicBezTo>
                    <a:pt x="0" y="77918"/>
                    <a:pt x="65913" y="0"/>
                    <a:pt x="147193" y="0"/>
                  </a:cubicBezTo>
                  <a:lnTo>
                    <a:pt x="10576687" y="0"/>
                  </a:lnTo>
                  <a:cubicBezTo>
                    <a:pt x="10657967" y="0"/>
                    <a:pt x="10723880" y="77918"/>
                    <a:pt x="10723880" y="174003"/>
                  </a:cubicBezTo>
                  <a:lnTo>
                    <a:pt x="10723880" y="4936477"/>
                  </a:lnTo>
                  <a:cubicBezTo>
                    <a:pt x="10723880" y="5032561"/>
                    <a:pt x="10657967" y="5110480"/>
                    <a:pt x="10576687" y="5110480"/>
                  </a:cubicBezTo>
                  <a:lnTo>
                    <a:pt x="147193" y="5110480"/>
                  </a:lnTo>
                  <a:cubicBezTo>
                    <a:pt x="65913" y="5110480"/>
                    <a:pt x="0" y="5032561"/>
                    <a:pt x="0" y="4936477"/>
                  </a:cubicBezTo>
                  <a:close/>
                </a:path>
              </a:pathLst>
            </a:custGeom>
            <a:solidFill>
              <a:srgbClr val="0E1526"/>
            </a:solidFill>
            <a:ln w="19050" cap="sq">
              <a:solidFill>
                <a:srgbClr val="2B3B5E"/>
              </a:solidFill>
              <a:prstDash val="solid"/>
              <a:miter/>
            </a:ln>
          </p:spPr>
        </p:sp>
      </p:grpSp>
      <p:grpSp>
        <p:nvGrpSpPr>
          <p:cNvPr name="Group 25" id="25"/>
          <p:cNvGrpSpPr/>
          <p:nvPr/>
        </p:nvGrpSpPr>
        <p:grpSpPr>
          <a:xfrm rot="0">
            <a:off x="950595" y="5956935"/>
            <a:ext cx="7200900" cy="411480"/>
            <a:chOff x="0" y="0"/>
            <a:chExt cx="9601200" cy="548640"/>
          </a:xfrm>
        </p:grpSpPr>
        <p:sp>
          <p:nvSpPr>
            <p:cNvPr name="Freeform 26" id="26"/>
            <p:cNvSpPr/>
            <p:nvPr/>
          </p:nvSpPr>
          <p:spPr>
            <a:xfrm flipH="false" flipV="false" rot="0">
              <a:off x="0" y="0"/>
              <a:ext cx="9601200" cy="548640"/>
            </a:xfrm>
            <a:custGeom>
              <a:avLst/>
              <a:gdLst/>
              <a:ahLst/>
              <a:cxnLst/>
              <a:rect r="r" b="b" t="t" l="l"/>
              <a:pathLst>
                <a:path h="548640" w="9601200">
                  <a:moveTo>
                    <a:pt x="0" y="0"/>
                  </a:moveTo>
                  <a:lnTo>
                    <a:pt x="9601200" y="0"/>
                  </a:lnTo>
                  <a:lnTo>
                    <a:pt x="9601200" y="548640"/>
                  </a:lnTo>
                  <a:lnTo>
                    <a:pt x="0" y="548640"/>
                  </a:lnTo>
                  <a:close/>
                </a:path>
              </a:pathLst>
            </a:custGeom>
            <a:solidFill>
              <a:srgbClr val="FFC2C7">
                <a:alpha val="0"/>
              </a:srgbClr>
            </a:solidFill>
          </p:spPr>
        </p:sp>
        <p:sp>
          <p:nvSpPr>
            <p:cNvPr name="TextBox 27" id="27"/>
            <p:cNvSpPr txBox="true"/>
            <p:nvPr/>
          </p:nvSpPr>
          <p:spPr>
            <a:xfrm>
              <a:off x="0" y="-38100"/>
              <a:ext cx="9601200" cy="586740"/>
            </a:xfrm>
            <a:prstGeom prst="rect">
              <a:avLst/>
            </a:prstGeom>
          </p:spPr>
          <p:txBody>
            <a:bodyPr anchor="ctr" rtlCol="false" tIns="0" lIns="0" bIns="0" rIns="0"/>
            <a:lstStyle/>
            <a:p>
              <a:pPr algn="l">
                <a:lnSpc>
                  <a:spcPts val="2070"/>
                </a:lnSpc>
              </a:pPr>
              <a:r>
                <a:rPr lang="en-US" b="true" sz="1725" spc="225">
                  <a:solidFill>
                    <a:srgbClr val="E8A33D"/>
                  </a:solidFill>
                  <a:latin typeface="Calibri (MS) Bold"/>
                  <a:ea typeface="Calibri (MS) Bold"/>
                  <a:cs typeface="Calibri (MS) Bold"/>
                  <a:sym typeface="Calibri (MS) Bold"/>
                </a:rPr>
                <a:t>RECOMMENDATION</a:t>
              </a:r>
            </a:p>
          </p:txBody>
        </p:sp>
      </p:grpSp>
      <p:grpSp>
        <p:nvGrpSpPr>
          <p:cNvPr name="Group 28" id="28"/>
          <p:cNvGrpSpPr/>
          <p:nvPr/>
        </p:nvGrpSpPr>
        <p:grpSpPr>
          <a:xfrm rot="0">
            <a:off x="685800" y="6530340"/>
            <a:ext cx="7200900" cy="2871320"/>
            <a:chOff x="0" y="0"/>
            <a:chExt cx="9601200" cy="3828427"/>
          </a:xfrm>
        </p:grpSpPr>
        <p:sp>
          <p:nvSpPr>
            <p:cNvPr name="Freeform 29" id="29"/>
            <p:cNvSpPr/>
            <p:nvPr/>
          </p:nvSpPr>
          <p:spPr>
            <a:xfrm flipH="false" flipV="false" rot="0">
              <a:off x="0" y="0"/>
              <a:ext cx="9601200" cy="3828427"/>
            </a:xfrm>
            <a:custGeom>
              <a:avLst/>
              <a:gdLst/>
              <a:ahLst/>
              <a:cxnLst/>
              <a:rect r="r" b="b" t="t" l="l"/>
              <a:pathLst>
                <a:path h="3828427" w="9601200">
                  <a:moveTo>
                    <a:pt x="0" y="0"/>
                  </a:moveTo>
                  <a:lnTo>
                    <a:pt x="9601200" y="0"/>
                  </a:lnTo>
                  <a:lnTo>
                    <a:pt x="9601200" y="3828427"/>
                  </a:lnTo>
                  <a:lnTo>
                    <a:pt x="0" y="3828427"/>
                  </a:lnTo>
                  <a:close/>
                </a:path>
              </a:pathLst>
            </a:custGeom>
            <a:blipFill>
              <a:blip r:embed="rId3">
                <a:alphaModFix amt="0"/>
              </a:blip>
              <a:stretch>
                <a:fillRect l="0" t="-14233" r="0" b="16501"/>
              </a:stretch>
            </a:blipFill>
          </p:spPr>
        </p:sp>
        <p:sp>
          <p:nvSpPr>
            <p:cNvPr name="TextBox 30" id="30"/>
            <p:cNvSpPr txBox="true"/>
            <p:nvPr/>
          </p:nvSpPr>
          <p:spPr>
            <a:xfrm>
              <a:off x="0" y="-76200"/>
              <a:ext cx="9601200" cy="3904627"/>
            </a:xfrm>
            <a:prstGeom prst="rect">
              <a:avLst/>
            </a:prstGeom>
          </p:spPr>
          <p:txBody>
            <a:bodyPr anchor="ctr" rtlCol="false" tIns="0" lIns="0" bIns="0" rIns="0"/>
            <a:lstStyle/>
            <a:p>
              <a:pPr algn="l" marL="291468" indent="-145734" lvl="1">
                <a:lnSpc>
                  <a:spcPts val="2106"/>
                </a:lnSpc>
                <a:buFont typeface="Arial"/>
                <a:buChar char="•"/>
              </a:pPr>
              <a:r>
                <a:rPr lang="en-US" sz="1350" i="true">
                  <a:solidFill>
                    <a:srgbClr val="D7DDE8"/>
                  </a:solidFill>
                  <a:latin typeface="Calibri (MS) Italics"/>
                  <a:ea typeface="Calibri (MS) Italics"/>
                  <a:cs typeface="Calibri (MS) Italics"/>
                  <a:sym typeface="Calibri (MS) Italics"/>
                </a:rPr>
                <a:t>Targeted Rep Allocation: Shift the 19,200 quarterly sales rep calls to p</a:t>
              </a:r>
              <a:r>
                <a:rPr lang="en-US" sz="1350" i="true">
                  <a:solidFill>
                    <a:srgbClr val="D7DDE8"/>
                  </a:solidFill>
                  <a:latin typeface="Calibri (MS) Italics"/>
                  <a:ea typeface="Calibri (MS) Italics"/>
                  <a:cs typeface="Calibri (MS) Italics"/>
                  <a:sym typeface="Calibri (MS) Italics"/>
                </a:rPr>
                <a:t>rioritize high-yield segments, allocating 40% to New Starters and 35% to Growers. Reduce Non-responder coverage to 25%, triaging only their highest-alert sub-segment. </a:t>
              </a:r>
            </a:p>
            <a:p>
              <a:pPr algn="l" marL="291468" indent="-145734" lvl="1">
                <a:lnSpc>
                  <a:spcPts val="2106"/>
                </a:lnSpc>
                <a:buFont typeface="Arial"/>
                <a:buChar char="•"/>
              </a:pPr>
              <a:r>
                <a:rPr lang="en-US" sz="1350" i="true">
                  <a:solidFill>
                    <a:srgbClr val="D7DDE8"/>
                  </a:solidFill>
                  <a:latin typeface="Calibri (MS) Italics"/>
                  <a:ea typeface="Calibri (MS) Italics"/>
                  <a:cs typeface="Calibri (MS) Italics"/>
                  <a:sym typeface="Calibri (MS) Italics"/>
                </a:rPr>
                <a:t>Immediate Outreach Sprints: Launch a dedicated outreach sprint specifically targeting the 68 multi-alert/zero-prescription HCPs and the 4 top-alerting doctors who currently write zero prescriptions. </a:t>
              </a:r>
            </a:p>
            <a:p>
              <a:pPr algn="l" marL="291468" indent="-145734" lvl="1">
                <a:lnSpc>
                  <a:spcPts val="2106"/>
                </a:lnSpc>
                <a:buFont typeface="Arial"/>
                <a:buChar char="•"/>
              </a:pPr>
              <a:r>
                <a:rPr lang="en-US" sz="1350" i="true">
                  <a:solidFill>
                    <a:srgbClr val="D7DDE8"/>
                  </a:solidFill>
                  <a:latin typeface="Calibri (MS) Italics"/>
                  <a:ea typeface="Calibri (MS) Italics"/>
                  <a:cs typeface="Calibri (MS) Italics"/>
                  <a:sym typeface="Calibri (MS) Italics"/>
                </a:rPr>
                <a:t>Competitive Positioning: Deploy direct "win-back" messaging against Rivalex for those high-alert doctors who currently split their market share. </a:t>
              </a:r>
            </a:p>
            <a:p>
              <a:pPr algn="l" marL="291468" indent="-145734" lvl="1">
                <a:lnSpc>
                  <a:spcPts val="2106"/>
                </a:lnSpc>
                <a:buFont typeface="Arial"/>
                <a:buChar char="•"/>
              </a:pPr>
              <a:r>
                <a:rPr lang="en-US" sz="1350" i="true">
                  <a:solidFill>
                    <a:srgbClr val="D7DDE8"/>
                  </a:solidFill>
                  <a:latin typeface="Calibri (MS) Italics"/>
                  <a:ea typeface="Calibri (MS) Italics"/>
                  <a:cs typeface="Calibri (MS) Italics"/>
                  <a:sym typeface="Calibri (MS) Italics"/>
                </a:rPr>
                <a:t>Account-Level Audits: Re-audit large, underperforming hospitals (like ACC001 and ACC003) for account-level barriers such as formulary restrictions or administrative hurdles, rather than simply increasing sales calls to those doctors. </a:t>
              </a:r>
            </a:p>
            <a:p>
              <a:pPr algn="l">
                <a:lnSpc>
                  <a:spcPts val="1638"/>
                </a:lnSpc>
              </a:pPr>
            </a:p>
          </p:txBody>
        </p:sp>
      </p:grpSp>
      <p:grpSp>
        <p:nvGrpSpPr>
          <p:cNvPr name="Group 31" id="31"/>
          <p:cNvGrpSpPr/>
          <p:nvPr/>
        </p:nvGrpSpPr>
        <p:grpSpPr>
          <a:xfrm rot="0">
            <a:off x="9454515" y="5825490"/>
            <a:ext cx="8042910" cy="3740277"/>
            <a:chOff x="0" y="0"/>
            <a:chExt cx="10723880" cy="4987036"/>
          </a:xfrm>
        </p:grpSpPr>
        <p:sp>
          <p:nvSpPr>
            <p:cNvPr name="Freeform 32" id="32"/>
            <p:cNvSpPr/>
            <p:nvPr/>
          </p:nvSpPr>
          <p:spPr>
            <a:xfrm flipH="false" flipV="false" rot="0">
              <a:off x="0" y="0"/>
              <a:ext cx="10723880" cy="4987036"/>
            </a:xfrm>
            <a:custGeom>
              <a:avLst/>
              <a:gdLst/>
              <a:ahLst/>
              <a:cxnLst/>
              <a:rect r="r" b="b" t="t" l="l"/>
              <a:pathLst>
                <a:path h="4987036" w="10723880">
                  <a:moveTo>
                    <a:pt x="0" y="169799"/>
                  </a:moveTo>
                  <a:cubicBezTo>
                    <a:pt x="0" y="76036"/>
                    <a:pt x="65913" y="0"/>
                    <a:pt x="147193" y="0"/>
                  </a:cubicBezTo>
                  <a:lnTo>
                    <a:pt x="10576687" y="0"/>
                  </a:lnTo>
                  <a:cubicBezTo>
                    <a:pt x="10657967" y="0"/>
                    <a:pt x="10723880" y="76036"/>
                    <a:pt x="10723880" y="169799"/>
                  </a:cubicBezTo>
                  <a:lnTo>
                    <a:pt x="10723880" y="4817237"/>
                  </a:lnTo>
                  <a:cubicBezTo>
                    <a:pt x="10723880" y="4911000"/>
                    <a:pt x="10657967" y="4987036"/>
                    <a:pt x="10576687" y="4987036"/>
                  </a:cubicBezTo>
                  <a:lnTo>
                    <a:pt x="147193" y="4987036"/>
                  </a:lnTo>
                  <a:cubicBezTo>
                    <a:pt x="65913" y="4987036"/>
                    <a:pt x="0" y="4911000"/>
                    <a:pt x="0" y="4817237"/>
                  </a:cubicBezTo>
                  <a:close/>
                </a:path>
              </a:pathLst>
            </a:custGeom>
            <a:solidFill>
              <a:srgbClr val="0E1526"/>
            </a:solidFill>
            <a:ln w="19050" cap="sq">
              <a:solidFill>
                <a:srgbClr val="2B3B5E"/>
              </a:solidFill>
              <a:prstDash val="solid"/>
              <a:miter/>
            </a:ln>
          </p:spPr>
        </p:sp>
      </p:grpSp>
      <p:grpSp>
        <p:nvGrpSpPr>
          <p:cNvPr name="Group 33" id="33"/>
          <p:cNvGrpSpPr/>
          <p:nvPr/>
        </p:nvGrpSpPr>
        <p:grpSpPr>
          <a:xfrm rot="0">
            <a:off x="9875520" y="5970270"/>
            <a:ext cx="7200900" cy="411480"/>
            <a:chOff x="0" y="0"/>
            <a:chExt cx="9601200" cy="548640"/>
          </a:xfrm>
        </p:grpSpPr>
        <p:sp>
          <p:nvSpPr>
            <p:cNvPr name="Freeform 34" id="34"/>
            <p:cNvSpPr/>
            <p:nvPr/>
          </p:nvSpPr>
          <p:spPr>
            <a:xfrm flipH="false" flipV="false" rot="0">
              <a:off x="0" y="0"/>
              <a:ext cx="9601200" cy="548640"/>
            </a:xfrm>
            <a:custGeom>
              <a:avLst/>
              <a:gdLst/>
              <a:ahLst/>
              <a:cxnLst/>
              <a:rect r="r" b="b" t="t" l="l"/>
              <a:pathLst>
                <a:path h="548640" w="9601200">
                  <a:moveTo>
                    <a:pt x="0" y="0"/>
                  </a:moveTo>
                  <a:lnTo>
                    <a:pt x="9601200" y="0"/>
                  </a:lnTo>
                  <a:lnTo>
                    <a:pt x="9601200" y="548640"/>
                  </a:lnTo>
                  <a:lnTo>
                    <a:pt x="0" y="548640"/>
                  </a:lnTo>
                  <a:close/>
                </a:path>
              </a:pathLst>
            </a:custGeom>
            <a:blipFill>
              <a:blip r:embed="rId3">
                <a:alphaModFix amt="0"/>
              </a:blip>
              <a:stretch>
                <a:fillRect l="0" t="-290988" r="0" b="-290988"/>
              </a:stretch>
            </a:blipFill>
          </p:spPr>
        </p:sp>
        <p:sp>
          <p:nvSpPr>
            <p:cNvPr name="TextBox 35" id="35"/>
            <p:cNvSpPr txBox="true"/>
            <p:nvPr/>
          </p:nvSpPr>
          <p:spPr>
            <a:xfrm>
              <a:off x="0" y="-38100"/>
              <a:ext cx="9601200" cy="586740"/>
            </a:xfrm>
            <a:prstGeom prst="rect">
              <a:avLst/>
            </a:prstGeom>
          </p:spPr>
          <p:txBody>
            <a:bodyPr anchor="ctr" rtlCol="false" tIns="0" lIns="0" bIns="0" rIns="0"/>
            <a:lstStyle/>
            <a:p>
              <a:pPr algn="l">
                <a:lnSpc>
                  <a:spcPts val="2070"/>
                </a:lnSpc>
              </a:pPr>
              <a:r>
                <a:rPr lang="en-US" b="true" sz="1725" spc="225">
                  <a:solidFill>
                    <a:srgbClr val="E8A33D"/>
                  </a:solidFill>
                  <a:latin typeface="Calibri (MS) Bold"/>
                  <a:ea typeface="Calibri (MS) Bold"/>
                  <a:cs typeface="Calibri (MS) Bold"/>
                  <a:sym typeface="Calibri (MS) Bold"/>
                </a:rPr>
                <a:t>EXPECTED IMPACT</a:t>
              </a:r>
            </a:p>
          </p:txBody>
        </p:sp>
      </p:grpSp>
      <p:grpSp>
        <p:nvGrpSpPr>
          <p:cNvPr name="Group 36" id="36"/>
          <p:cNvGrpSpPr/>
          <p:nvPr/>
        </p:nvGrpSpPr>
        <p:grpSpPr>
          <a:xfrm rot="0">
            <a:off x="9672408" y="6381750"/>
            <a:ext cx="7200900" cy="3225714"/>
            <a:chOff x="0" y="0"/>
            <a:chExt cx="9601200" cy="4300952"/>
          </a:xfrm>
        </p:grpSpPr>
        <p:sp>
          <p:nvSpPr>
            <p:cNvPr name="Freeform 37" id="37"/>
            <p:cNvSpPr/>
            <p:nvPr/>
          </p:nvSpPr>
          <p:spPr>
            <a:xfrm flipH="false" flipV="false" rot="0">
              <a:off x="0" y="0"/>
              <a:ext cx="9601200" cy="4300952"/>
            </a:xfrm>
            <a:custGeom>
              <a:avLst/>
              <a:gdLst/>
              <a:ahLst/>
              <a:cxnLst/>
              <a:rect r="r" b="b" t="t" l="l"/>
              <a:pathLst>
                <a:path h="4300952" w="9601200">
                  <a:moveTo>
                    <a:pt x="0" y="0"/>
                  </a:moveTo>
                  <a:lnTo>
                    <a:pt x="9601200" y="0"/>
                  </a:lnTo>
                  <a:lnTo>
                    <a:pt x="9601200" y="4300952"/>
                  </a:lnTo>
                  <a:lnTo>
                    <a:pt x="0" y="4300952"/>
                  </a:lnTo>
                  <a:close/>
                </a:path>
              </a:pathLst>
            </a:custGeom>
            <a:blipFill>
              <a:blip r:embed="rId3">
                <a:alphaModFix amt="0"/>
              </a:blip>
              <a:stretch>
                <a:fillRect l="0" t="-12669" r="0" b="25675"/>
              </a:stretch>
            </a:blipFill>
          </p:spPr>
        </p:sp>
        <p:sp>
          <p:nvSpPr>
            <p:cNvPr name="TextBox 38" id="38"/>
            <p:cNvSpPr txBox="true"/>
            <p:nvPr/>
          </p:nvSpPr>
          <p:spPr>
            <a:xfrm>
              <a:off x="0" y="-95250"/>
              <a:ext cx="9601200" cy="4396202"/>
            </a:xfrm>
            <a:prstGeom prst="rect">
              <a:avLst/>
            </a:prstGeom>
          </p:spPr>
          <p:txBody>
            <a:bodyPr anchor="ctr" rtlCol="false" tIns="0" lIns="0" bIns="0" rIns="0"/>
            <a:lstStyle/>
            <a:p>
              <a:pPr algn="l" marL="399416" indent="-199708" lvl="1">
                <a:lnSpc>
                  <a:spcPts val="2886"/>
                </a:lnSpc>
                <a:buFont typeface="Arial"/>
                <a:buChar char="•"/>
              </a:pPr>
              <a:r>
                <a:rPr lang="en-US" sz="1850" i="true">
                  <a:solidFill>
                    <a:srgbClr val="D7DDE8"/>
                  </a:solidFill>
                  <a:latin typeface="Calibri (MS) Italics"/>
                  <a:ea typeface="Calibri (MS) Italics"/>
                  <a:cs typeface="Calibri (MS) Italics"/>
                  <a:sym typeface="Calibri (MS) Italics"/>
                </a:rPr>
                <a:t>Max</a:t>
              </a:r>
              <a:r>
                <a:rPr lang="en-US" sz="1850" i="true">
                  <a:solidFill>
                    <a:srgbClr val="D7DDE8"/>
                  </a:solidFill>
                  <a:latin typeface="Calibri (MS) Italics"/>
                  <a:ea typeface="Calibri (MS) Italics"/>
                  <a:cs typeface="Calibri (MS) Italics"/>
                  <a:sym typeface="Calibri (MS) Italics"/>
                </a:rPr>
                <a:t>imized ROI: By deliberately accepting lower total reach (reducing calls to the 125 Non-responders) and heavily targeting segments with proven responsiveness, PrimeRx will generate a significantly higher expected return on investment (ROI) per sales call. </a:t>
              </a:r>
            </a:p>
            <a:p>
              <a:pPr algn="l" marL="399416" indent="-199708" lvl="1">
                <a:lnSpc>
                  <a:spcPts val="2886"/>
                </a:lnSpc>
                <a:buFont typeface="Arial"/>
                <a:buChar char="•"/>
              </a:pPr>
              <a:r>
                <a:rPr lang="en-US" sz="1850" i="true">
                  <a:solidFill>
                    <a:srgbClr val="D7DDE8"/>
                  </a:solidFill>
                  <a:latin typeface="Calibri (MS) Italics"/>
                  <a:ea typeface="Calibri (MS) Italics"/>
                  <a:cs typeface="Calibri (MS) Italics"/>
                  <a:sym typeface="Calibri (MS) Italics"/>
                </a:rPr>
                <a:t>Protected Market Share: Focusing heavily on New Starters will lock in habitual prescribing behavior before competitors can intervene, while prioritizing Growers will protect existing momentum and defend against the displacement threat posed by Rivalex. </a:t>
              </a:r>
            </a:p>
            <a:p>
              <a:pPr algn="l">
                <a:lnSpc>
                  <a:spcPts val="2574"/>
                </a:lnSpc>
              </a:pPr>
            </a:p>
          </p:txBody>
        </p:sp>
      </p:grpSp>
      <p:grpSp>
        <p:nvGrpSpPr>
          <p:cNvPr name="Group 39" id="39"/>
          <p:cNvGrpSpPr/>
          <p:nvPr/>
        </p:nvGrpSpPr>
        <p:grpSpPr>
          <a:xfrm rot="0">
            <a:off x="685800" y="9806940"/>
            <a:ext cx="10972800" cy="411480"/>
            <a:chOff x="0" y="0"/>
            <a:chExt cx="14630400" cy="548640"/>
          </a:xfrm>
        </p:grpSpPr>
        <p:sp>
          <p:nvSpPr>
            <p:cNvPr name="Freeform 40" id="40"/>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1" id="41"/>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667085"/>
                  </a:solidFill>
                  <a:latin typeface="Calibri (MS)"/>
                  <a:ea typeface="Calibri (MS)"/>
                  <a:cs typeface="Calibri (MS)"/>
                  <a:sym typeface="Calibri (MS)"/>
                </a:rPr>
                <a:t>PrimeRx Flow  |  ProcDNA Case Study  ·  Group 10</a:t>
              </a:r>
            </a:p>
          </p:txBody>
        </p:sp>
      </p:grpSp>
      <p:grpSp>
        <p:nvGrpSpPr>
          <p:cNvPr name="Group 42" id="42"/>
          <p:cNvGrpSpPr/>
          <p:nvPr/>
        </p:nvGrpSpPr>
        <p:grpSpPr>
          <a:xfrm rot="0">
            <a:off x="17282160" y="9806940"/>
            <a:ext cx="685800" cy="411480"/>
            <a:chOff x="0" y="0"/>
            <a:chExt cx="914400" cy="548640"/>
          </a:xfrm>
        </p:grpSpPr>
        <p:sp>
          <p:nvSpPr>
            <p:cNvPr name="Freeform 43" id="43"/>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44" id="44"/>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667085"/>
                  </a:solidFill>
                  <a:latin typeface="Calibri (MS)"/>
                  <a:ea typeface="Calibri (MS)"/>
                  <a:cs typeface="Calibri (MS)"/>
                  <a:sym typeface="Calibri (MS)"/>
                </a:rPr>
                <a:t>12</a:t>
              </a:r>
            </a:p>
          </p:txBody>
        </p:sp>
      </p:grpSp>
      <p:grpSp>
        <p:nvGrpSpPr>
          <p:cNvPr name="Group 45" id="45"/>
          <p:cNvGrpSpPr/>
          <p:nvPr/>
        </p:nvGrpSpPr>
        <p:grpSpPr>
          <a:xfrm rot="0">
            <a:off x="17282160" y="9806940"/>
            <a:ext cx="685800" cy="411480"/>
            <a:chOff x="0" y="0"/>
            <a:chExt cx="914400" cy="548640"/>
          </a:xfrm>
        </p:grpSpPr>
        <p:sp>
          <p:nvSpPr>
            <p:cNvPr name="Freeform 46" id="46"/>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3">
                <a:alphaModFix amt="0"/>
              </a:blip>
              <a:stretch>
                <a:fillRect l="-26982" t="0" r="-26982" b="0"/>
              </a:stretch>
            </a:blipFill>
          </p:spPr>
        </p:sp>
        <p:sp>
          <p:nvSpPr>
            <p:cNvPr name="TextBox 47" id="47"/>
            <p:cNvSpPr txBox="true"/>
            <p:nvPr/>
          </p:nvSpPr>
          <p:spPr>
            <a:xfrm>
              <a:off x="0" y="-28575"/>
              <a:ext cx="914400" cy="577215"/>
            </a:xfrm>
            <a:prstGeom prst="rect">
              <a:avLst/>
            </a:prstGeom>
          </p:spPr>
          <p:txBody>
            <a:bodyPr anchor="ctr" rtlCol="false" tIns="0" lIns="0" bIns="0" rIns="0"/>
            <a:lstStyle/>
            <a:p>
              <a:pPr algn="r">
                <a:lnSpc>
                  <a:spcPts val="1620"/>
                </a:lnSpc>
              </a:pPr>
              <a:r>
                <a:rPr lang="en-US" sz="1350">
                  <a:solidFill>
                    <a:srgbClr val="8C97AE"/>
                  </a:solidFill>
                  <a:latin typeface="Calibri (MS)"/>
                  <a:ea typeface="Calibri (MS)"/>
                  <a:cs typeface="Calibri (MS)"/>
                  <a:sym typeface="Calibri (MS)"/>
                </a:rPr>
                <a:t>12</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6213E"/>
        </a:solidFill>
      </p:bgPr>
    </p:bg>
    <p:spTree>
      <p:nvGrpSpPr>
        <p:cNvPr id="1" name=""/>
        <p:cNvGrpSpPr/>
        <p:nvPr/>
      </p:nvGrpSpPr>
      <p:grpSpPr>
        <a:xfrm>
          <a:off x="0" y="0"/>
          <a:ext cx="0" cy="0"/>
          <a:chOff x="0" y="0"/>
          <a:chExt cx="0" cy="0"/>
        </a:xfrm>
      </p:grpSpPr>
      <p:grpSp>
        <p:nvGrpSpPr>
          <p:cNvPr name="Group 2" id="2"/>
          <p:cNvGrpSpPr/>
          <p:nvPr/>
        </p:nvGrpSpPr>
        <p:grpSpPr>
          <a:xfrm rot="0">
            <a:off x="-3029426" y="-3029426"/>
            <a:ext cx="8253412" cy="8253412"/>
            <a:chOff x="0" y="0"/>
            <a:chExt cx="11004550" cy="11004550"/>
          </a:xfrm>
        </p:grpSpPr>
        <p:sp>
          <p:nvSpPr>
            <p:cNvPr name="Freeform 3" id="3"/>
            <p:cNvSpPr/>
            <p:nvPr/>
          </p:nvSpPr>
          <p:spPr>
            <a:xfrm flipH="false" flipV="false" rot="0">
              <a:off x="0" y="0"/>
              <a:ext cx="11004550" cy="11004550"/>
            </a:xfrm>
            <a:custGeom>
              <a:avLst/>
              <a:gdLst/>
              <a:ahLst/>
              <a:cxnLst/>
              <a:rect r="r" b="b" t="t" l="l"/>
              <a:pathLst>
                <a:path h="11004550" w="11004550">
                  <a:moveTo>
                    <a:pt x="0" y="5502275"/>
                  </a:moveTo>
                  <a:cubicBezTo>
                    <a:pt x="0" y="2463419"/>
                    <a:pt x="2463419" y="0"/>
                    <a:pt x="5502275" y="0"/>
                  </a:cubicBezTo>
                  <a:cubicBezTo>
                    <a:pt x="8541131" y="0"/>
                    <a:pt x="11004550" y="2463419"/>
                    <a:pt x="11004550" y="5502275"/>
                  </a:cubicBezTo>
                  <a:cubicBezTo>
                    <a:pt x="11004550" y="8541131"/>
                    <a:pt x="8541131" y="11004550"/>
                    <a:pt x="5502275" y="11004550"/>
                  </a:cubicBezTo>
                  <a:cubicBezTo>
                    <a:pt x="2463419" y="11004550"/>
                    <a:pt x="0" y="8541131"/>
                    <a:pt x="0" y="5502275"/>
                  </a:cubicBezTo>
                  <a:close/>
                </a:path>
              </a:pathLst>
            </a:custGeom>
            <a:blipFill>
              <a:blip r:embed="rId3">
                <a:alphaModFix amt="0"/>
              </a:blip>
              <a:stretch>
                <a:fillRect l="-78303" t="0" r="-78303" b="0"/>
              </a:stretch>
            </a:blipFill>
            <a:ln w="23812" cap="sq">
              <a:solidFill>
                <a:srgbClr val="0F8B8D"/>
              </a:solidFill>
              <a:prstDash val="solid"/>
              <a:miter/>
            </a:ln>
          </p:spPr>
        </p:sp>
      </p:grpSp>
      <p:grpSp>
        <p:nvGrpSpPr>
          <p:cNvPr name="Group 4" id="4"/>
          <p:cNvGrpSpPr/>
          <p:nvPr/>
        </p:nvGrpSpPr>
        <p:grpSpPr>
          <a:xfrm rot="0">
            <a:off x="14401800" y="6172200"/>
            <a:ext cx="7543800" cy="7543800"/>
            <a:chOff x="0" y="0"/>
            <a:chExt cx="10058400" cy="10058400"/>
          </a:xfrm>
        </p:grpSpPr>
        <p:sp>
          <p:nvSpPr>
            <p:cNvPr name="Freeform 5" id="5"/>
            <p:cNvSpPr/>
            <p:nvPr/>
          </p:nvSpPr>
          <p:spPr>
            <a:xfrm flipH="false" flipV="false" rot="0">
              <a:off x="0" y="0"/>
              <a:ext cx="10058400" cy="10058400"/>
            </a:xfrm>
            <a:custGeom>
              <a:avLst/>
              <a:gdLst/>
              <a:ahLst/>
              <a:cxnLst/>
              <a:rect r="r" b="b" t="t" l="l"/>
              <a:pathLst>
                <a:path h="10058400" w="10058400">
                  <a:moveTo>
                    <a:pt x="0" y="5029200"/>
                  </a:moveTo>
                  <a:cubicBezTo>
                    <a:pt x="0" y="2251710"/>
                    <a:pt x="2251710" y="0"/>
                    <a:pt x="5029200" y="0"/>
                  </a:cubicBezTo>
                  <a:cubicBezTo>
                    <a:pt x="7806690" y="0"/>
                    <a:pt x="10058400" y="2251710"/>
                    <a:pt x="10058400" y="5029200"/>
                  </a:cubicBezTo>
                  <a:cubicBezTo>
                    <a:pt x="10058400" y="7806690"/>
                    <a:pt x="7806690" y="10058400"/>
                    <a:pt x="5029200" y="10058400"/>
                  </a:cubicBezTo>
                  <a:cubicBezTo>
                    <a:pt x="2251710" y="10058400"/>
                    <a:pt x="0" y="7806690"/>
                    <a:pt x="0" y="5029200"/>
                  </a:cubicBezTo>
                  <a:close/>
                </a:path>
              </a:pathLst>
            </a:custGeom>
            <a:solidFill>
              <a:srgbClr val="0E1526"/>
            </a:solidFill>
          </p:spPr>
        </p:sp>
      </p:grpSp>
      <p:grpSp>
        <p:nvGrpSpPr>
          <p:cNvPr name="Group 6" id="6"/>
          <p:cNvGrpSpPr/>
          <p:nvPr/>
        </p:nvGrpSpPr>
        <p:grpSpPr>
          <a:xfrm rot="0">
            <a:off x="0" y="4114800"/>
            <a:ext cx="18283428" cy="1508760"/>
            <a:chOff x="0" y="0"/>
            <a:chExt cx="24377904" cy="2011680"/>
          </a:xfrm>
        </p:grpSpPr>
        <p:sp>
          <p:nvSpPr>
            <p:cNvPr name="Freeform 7" id="7"/>
            <p:cNvSpPr/>
            <p:nvPr/>
          </p:nvSpPr>
          <p:spPr>
            <a:xfrm flipH="false" flipV="false" rot="0">
              <a:off x="0" y="0"/>
              <a:ext cx="24377904" cy="2011680"/>
            </a:xfrm>
            <a:custGeom>
              <a:avLst/>
              <a:gdLst/>
              <a:ahLst/>
              <a:cxnLst/>
              <a:rect r="r" b="b" t="t" l="l"/>
              <a:pathLst>
                <a:path h="2011680" w="24377904">
                  <a:moveTo>
                    <a:pt x="0" y="0"/>
                  </a:moveTo>
                  <a:lnTo>
                    <a:pt x="24377904" y="0"/>
                  </a:lnTo>
                  <a:lnTo>
                    <a:pt x="24377904" y="2011680"/>
                  </a:lnTo>
                  <a:lnTo>
                    <a:pt x="0" y="2011680"/>
                  </a:lnTo>
                  <a:close/>
                </a:path>
              </a:pathLst>
            </a:custGeom>
            <a:blipFill>
              <a:blip r:embed="rId3">
                <a:alphaModFix amt="0"/>
              </a:blip>
              <a:stretch>
                <a:fillRect l="0" t="-186123" r="0" b="-186123"/>
              </a:stretch>
            </a:blipFill>
          </p:spPr>
        </p:sp>
        <p:sp>
          <p:nvSpPr>
            <p:cNvPr name="TextBox 8" id="8"/>
            <p:cNvSpPr txBox="true"/>
            <p:nvPr/>
          </p:nvSpPr>
          <p:spPr>
            <a:xfrm>
              <a:off x="0" y="-9525"/>
              <a:ext cx="24377904" cy="2021205"/>
            </a:xfrm>
            <a:prstGeom prst="rect">
              <a:avLst/>
            </a:prstGeom>
          </p:spPr>
          <p:txBody>
            <a:bodyPr anchor="ctr" rtlCol="false" tIns="0" lIns="0" bIns="0" rIns="0"/>
            <a:lstStyle/>
            <a:p>
              <a:pPr algn="ctr">
                <a:lnSpc>
                  <a:spcPts val="8640"/>
                </a:lnSpc>
              </a:pPr>
              <a:r>
                <a:rPr lang="en-US" sz="7200" b="true">
                  <a:solidFill>
                    <a:srgbClr val="FFFFFF"/>
                  </a:solidFill>
                  <a:latin typeface="Georgia Bold"/>
                  <a:ea typeface="Georgia Bold"/>
                  <a:cs typeface="Georgia Bold"/>
                  <a:sym typeface="Georgia Bold"/>
                </a:rPr>
                <a:t>Thank You</a:t>
              </a:r>
            </a:p>
          </p:txBody>
        </p:sp>
      </p:grpSp>
      <p:grpSp>
        <p:nvGrpSpPr>
          <p:cNvPr name="Group 9" id="9"/>
          <p:cNvGrpSpPr/>
          <p:nvPr/>
        </p:nvGrpSpPr>
        <p:grpSpPr>
          <a:xfrm rot="0">
            <a:off x="8032242" y="5261610"/>
            <a:ext cx="2232660" cy="38100"/>
            <a:chOff x="0" y="0"/>
            <a:chExt cx="2976880" cy="50800"/>
          </a:xfrm>
        </p:grpSpPr>
        <p:sp>
          <p:nvSpPr>
            <p:cNvPr name="Freeform 10" id="10"/>
            <p:cNvSpPr/>
            <p:nvPr/>
          </p:nvSpPr>
          <p:spPr>
            <a:xfrm flipH="false" flipV="false" rot="0">
              <a:off x="0" y="0"/>
              <a:ext cx="2976880" cy="50800"/>
            </a:xfrm>
            <a:custGeom>
              <a:avLst/>
              <a:gdLst/>
              <a:ahLst/>
              <a:cxnLst/>
              <a:rect r="r" b="b" t="t" l="l"/>
              <a:pathLst>
                <a:path h="50800" w="2976880">
                  <a:moveTo>
                    <a:pt x="0" y="0"/>
                  </a:moveTo>
                  <a:lnTo>
                    <a:pt x="2976880" y="50800"/>
                  </a:lnTo>
                </a:path>
              </a:pathLst>
            </a:custGeom>
            <a:blipFill>
              <a:blip r:embed="rId3">
                <a:alphaModFix amt="0"/>
              </a:blip>
              <a:stretch>
                <a:fillRect l="0" t="-1091823" r="0" b="-1091823"/>
              </a:stretch>
            </a:blipFill>
            <a:ln w="38100" cap="sq">
              <a:solidFill>
                <a:srgbClr val="E8A33D"/>
              </a:solidFill>
              <a:prstDash val="solid"/>
              <a:miter/>
            </a:ln>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DAHPuEBvgQo</dc:identifier>
  <dcterms:modified xsi:type="dcterms:W3CDTF">2011-08-01T06:04:30Z</dcterms:modified>
  <cp:revision>1</cp:revision>
  <dc:title>PrimeRx_CaseStudy_Template_1.pptx</dc:title>
</cp:coreProperties>
</file>